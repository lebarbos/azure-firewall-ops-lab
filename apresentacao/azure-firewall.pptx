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9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5" r:id="rId15"/>
    <p:sldId id="296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7" r:id="rId42"/>
    <p:sldId id="298" r:id="rId43"/>
    <p:sldId id="299" r:id="rId44"/>
    <p:sldId id="294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C6FD73A-9813-49D3-93D6-52CF2F2D0F23}">
          <p14:sldIdLst>
            <p14:sldId id="256"/>
            <p14:sldId id="295"/>
            <p14:sldId id="257"/>
            <p14:sldId id="258"/>
          </p14:sldIdLst>
        </p14:section>
        <p14:section name="SKUs" id="{77642FD8-9B29-4E15-AF2A-EA8D8431526D}">
          <p14:sldIdLst>
            <p14:sldId id="259"/>
            <p14:sldId id="260"/>
            <p14:sldId id="261"/>
          </p14:sldIdLst>
        </p14:section>
        <p14:section name="Arquitetura" id="{6E41BDBF-6BA3-4F1B-BED6-E6783BD61BF8}">
          <p14:sldIdLst>
            <p14:sldId id="262"/>
            <p14:sldId id="263"/>
            <p14:sldId id="264"/>
            <p14:sldId id="266"/>
            <p14:sldId id="267"/>
          </p14:sldIdLst>
        </p14:section>
        <p14:section name="Policies e ordem de processamento" id="{D26E5295-0568-45C3-9522-EA53C23B4E1F}">
          <p14:sldIdLst>
            <p14:sldId id="268"/>
            <p14:sldId id="265"/>
            <p14:sldId id="296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Proteção avançada" id="{60342985-D414-41C6-9CB8-5D4E394384ED}">
          <p14:sldIdLst>
            <p14:sldId id="287"/>
            <p14:sldId id="288"/>
            <p14:sldId id="289"/>
          </p14:sldIdLst>
        </p14:section>
        <p14:section name="Operação" id="{17A29108-A875-4B32-8878-DC43DBF5530F}">
          <p14:sldIdLst>
            <p14:sldId id="290"/>
            <p14:sldId id="291"/>
            <p14:sldId id="292"/>
            <p14:sldId id="293"/>
          </p14:sldIdLst>
        </p14:section>
        <p14:section name="Fechamento" id="{89C49A43-8526-42C1-86EF-AE7A81C85D54}">
          <p14:sldIdLst>
            <p14:sldId id="297"/>
            <p14:sldId id="298"/>
            <p14:sldId id="299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14" autoAdjust="0"/>
    <p:restoredTop sz="94675" autoAdjust="0"/>
  </p:normalViewPr>
  <p:slideViewPr>
    <p:cSldViewPr snapToGrid="0">
      <p:cViewPr varScale="1">
        <p:scale>
          <a:sx n="119" d="100"/>
          <a:sy n="119" d="100"/>
        </p:scale>
        <p:origin x="920" y="184"/>
      </p:cViewPr>
      <p:guideLst/>
    </p:cSldViewPr>
  </p:slideViewPr>
  <p:outlineViewPr>
    <p:cViewPr>
      <p:scale>
        <a:sx n="33" d="100"/>
        <a:sy n="33" d="100"/>
      </p:scale>
      <p:origin x="0" y="-172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BBC62D7-B25B-4DB5-B295-F9DD1FE84784}"/>
    <pc:docChg chg="addSld modSld addSection delSection modSection">
      <pc:chgData name="" userId="" providerId="" clId="Web-{BBBC62D7-B25B-4DB5-B295-F9DD1FE84784}" dt="2026-10-17T22:23:19.589" v="13" actId="34807"/>
      <pc:docMkLst>
        <pc:docMk/>
      </pc:docMkLst>
      <pc:sldChg chg="addSp delSp modSp modNotesTx">
        <pc:chgData name="" userId="" providerId="" clId="Web-{BBBC62D7-B25B-4DB5-B295-F9DD1FE84784}" dt="2026-10-17T22:14:51.543" v="6" actId="34807"/>
        <pc:sldMkLst>
          <pc:docMk/>
          <pc:sldMk cId="0" sldId="256"/>
        </pc:sldMkLst>
        <pc:spChg chg="add mod">
          <ac:chgData name="" userId="" providerId="" clId="Web-{BBBC62D7-B25B-4DB5-B295-F9DD1FE84784}" dt="2026-10-17T22:14:31.730" v="1" actId="34807"/>
          <ac:spMkLst>
            <pc:docMk/>
            <pc:sldMk cId="0" sldId="256"/>
            <ac:spMk id="117" creationId="{18ACFDA0-8E9F-D028-46E6-404316A3DE9A}"/>
          </ac:spMkLst>
        </pc:spChg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57"/>
        </pc:sldMkLst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58"/>
        </pc:sldMkLst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59"/>
        </pc:sldMkLst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60"/>
        </pc:sldMkLst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61"/>
        </pc:sldMkLst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62"/>
        </pc:sldMkLst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63"/>
        </pc:sldMkLst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64"/>
        </pc:sldMkLst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65"/>
        </pc:sldMkLst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66"/>
        </pc:sldMkLst>
      </pc:sldChg>
      <pc:sldChg chg="addSp delSp modSp modNotesTx">
        <pc:chgData name="" userId="" providerId="" clId="Web-{BBBC62D7-B25B-4DB5-B295-F9DD1FE84784}" dt="2026-10-17T22:14:51.543" v="6" actId="34807"/>
        <pc:sldMkLst>
          <pc:docMk/>
          <pc:sldMk cId="0" sldId="267"/>
        </pc:sldMkLst>
        <pc:spChg chg="add mod">
          <ac:chgData name="" userId="" providerId="" clId="Web-{BBBC62D7-B25B-4DB5-B295-F9DD1FE84784}" dt="2026-10-17T22:14:31.730" v="1" actId="34807"/>
          <ac:spMkLst>
            <pc:docMk/>
            <pc:sldMk cId="0" sldId="267"/>
            <ac:spMk id="182" creationId="{940E8D8F-14D8-4206-F333-4D1F4FD85FF3}"/>
          </ac:spMkLst>
        </pc:spChg>
      </pc:sldChg>
      <pc:sldChg chg="modNotesTx">
        <pc:chgData name="" userId="" providerId="" clId="Web-{BBBC62D7-B25B-4DB5-B295-F9DD1FE84784}" dt="2026-10-17T22:14:51.543" v="6" actId="34807"/>
        <pc:sldMkLst>
          <pc:docMk/>
          <pc:sldMk cId="0" sldId="268"/>
        </pc:sldMkLst>
      </pc:sldChg>
      <pc:sldChg chg="addSp delSp modSp modNotesTx">
        <pc:chgData name="" userId="" providerId="" clId="Web-{BBBC62D7-B25B-4DB5-B295-F9DD1FE84784}" dt="2026-10-17T22:23:19.589" v="13" actId="34807"/>
        <pc:sldMkLst>
          <pc:docMk/>
          <pc:sldMk cId="0" sldId="269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" userId="" providerId="" clId="Web-{BBBC62D7-B25B-4DB5-B295-F9DD1FE84784}" dt="2026-10-17T22:23:19.589" v="13" actId="34807"/>
          <ac:spMkLst>
            <pc:docMk/>
            <pc:sldMk cId="0" sldId="269"/>
            <ac:spMk id="29" creationId="{00000000-0000-0000-0000-000000000000}"/>
          </ac:spMkLst>
        </pc:spChg>
        <pc:spChg chg="mod">
          <ac:chgData name="" userId="" providerId="" clId="Web-{BBBC62D7-B25B-4DB5-B295-F9DD1FE84784}" dt="2026-10-17T22:23:19.589" v="13" actId="34807"/>
          <ac:spMkLst>
            <pc:docMk/>
            <pc:sldMk cId="0" sldId="269"/>
            <ac:spMk id="33" creationId="{00000000-0000-0000-0000-000000000000}"/>
          </ac:spMkLst>
        </pc:spChg>
        <pc:spChg chg="mod">
          <ac:chgData name="" userId="" providerId="" clId="Web-{BBBC62D7-B25B-4DB5-B295-F9DD1FE84784}" dt="2026-10-17T22:23:19.589" v="13" actId="34807"/>
          <ac:spMkLst>
            <pc:docMk/>
            <pc:sldMk cId="0" sldId="269"/>
            <ac:spMk id="44" creationId="{00000000-0000-0000-0000-000000000000}"/>
          </ac:spMkLst>
        </pc:spChg>
        <pc:spChg chg="add mod">
          <ac:chgData name="" userId="" providerId="" clId="Web-{BBBC62D7-B25B-4DB5-B295-F9DD1FE84784}" dt="2026-10-17T22:23:18.714" v="12" actId="34807"/>
          <ac:spMkLst>
            <pc:docMk/>
            <pc:sldMk cId="0" sldId="269"/>
            <ac:spMk id="1324" creationId="{5FFD8FE9-B285-4316-5408-E66F60784A48}"/>
          </ac:spMkLst>
        </pc:spChg>
        <pc:spChg chg="add mod">
          <ac:chgData name="" userId="" providerId="" clId="Web-{BBBC62D7-B25B-4DB5-B295-F9DD1FE84784}" dt="2026-10-17T22:23:18.714" v="12" actId="34807"/>
          <ac:spMkLst>
            <pc:docMk/>
            <pc:sldMk cId="0" sldId="269"/>
            <ac:spMk id="1326" creationId="{01CD3385-65AF-0732-EF37-FC41FA79D144}"/>
          </ac:spMkLst>
        </pc:spChg>
        <pc:spChg chg="add mod">
          <ac:chgData name="" userId="" providerId="" clId="Web-{BBBC62D7-B25B-4DB5-B295-F9DD1FE84784}" dt="2026-10-17T22:23:18.714" v="12" actId="34807"/>
          <ac:spMkLst>
            <pc:docMk/>
            <pc:sldMk cId="0" sldId="269"/>
            <ac:spMk id="1329" creationId="{01950C83-52C2-E3E8-34F3-5396A7FFAC33}"/>
          </ac:spMkLst>
        </pc:spChg>
        <pc:spChg chg="add mod">
          <ac:chgData name="" userId="" providerId="" clId="Web-{BBBC62D7-B25B-4DB5-B295-F9DD1FE84784}" dt="2026-10-17T22:23:18.714" v="12" actId="34807"/>
          <ac:spMkLst>
            <pc:docMk/>
            <pc:sldMk cId="0" sldId="269"/>
            <ac:spMk id="1333" creationId="{B49FEE1C-74D2-0B21-1EC9-6AEE5D401A36}"/>
          </ac:spMkLst>
        </pc:spChg>
        <pc:spChg chg="add mod">
          <ac:chgData name="" userId="" providerId="" clId="Web-{BBBC62D7-B25B-4DB5-B295-F9DD1FE84784}" dt="2026-10-17T22:23:18.714" v="12" actId="34807"/>
          <ac:spMkLst>
            <pc:docMk/>
            <pc:sldMk cId="0" sldId="269"/>
            <ac:spMk id="1351" creationId="{56728F22-064A-C6BE-B3D5-38B2EDD5299A}"/>
          </ac:spMkLst>
        </pc:spChg>
        <pc:spChg chg="add mod">
          <ac:chgData name="" userId="" providerId="" clId="Web-{BBBC62D7-B25B-4DB5-B295-F9DD1FE84784}" dt="2026-10-17T22:23:18.714" v="12" actId="34807"/>
          <ac:spMkLst>
            <pc:docMk/>
            <pc:sldMk cId="0" sldId="269"/>
            <ac:spMk id="1368" creationId="{31F069F8-8387-A3A9-BC72-283C96E582E9}"/>
          </ac:spMkLst>
        </pc:spChg>
        <pc:spChg chg="add mod">
          <ac:chgData name="" userId="" providerId="" clId="Web-{BBBC62D7-B25B-4DB5-B295-F9DD1FE84784}" dt="2026-10-17T22:23:18.714" v="12" actId="34807"/>
          <ac:spMkLst>
            <pc:docMk/>
            <pc:sldMk cId="0" sldId="269"/>
            <ac:spMk id="1378" creationId="{9B4327AC-D5CB-7CBE-584B-34A86BE4B14D}"/>
          </ac:spMkLst>
        </pc:spChg>
        <pc:spChg chg="add mod">
          <ac:chgData name="" userId="" providerId="" clId="Web-{BBBC62D7-B25B-4DB5-B295-F9DD1FE84784}" dt="2026-10-17T22:23:18.714" v="12" actId="34807"/>
          <ac:spMkLst>
            <pc:docMk/>
            <pc:sldMk cId="0" sldId="269"/>
            <ac:spMk id="1401" creationId="{9677BEF1-07F6-54C9-7762-C7461C9C19AD}"/>
          </ac:spMkLst>
        </pc:spChg>
        <pc:spChg chg="add mod">
          <ac:chgData name="" userId="" providerId="" clId="Web-{BBBC62D7-B25B-4DB5-B295-F9DD1FE84784}" dt="2026-10-17T22:23:18.714" v="12" actId="34807"/>
          <ac:spMkLst>
            <pc:docMk/>
            <pc:sldMk cId="0" sldId="269"/>
            <ac:spMk id="1414" creationId="{DD83F86D-5763-D9AD-C303-858E2F91383B}"/>
          </ac:spMkLst>
        </pc:spChg>
        <pc:spChg chg="add mod">
          <ac:chgData name="" userId="" providerId="" clId="Web-{BBBC62D7-B25B-4DB5-B295-F9DD1FE84784}" dt="2026-10-17T22:23:18.714" v="12" actId="34807"/>
          <ac:spMkLst>
            <pc:docMk/>
            <pc:sldMk cId="0" sldId="269"/>
            <ac:spMk id="1428" creationId="{6BB1A154-4D1B-719C-8D4B-C3975D859B38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70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70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71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71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72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72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73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73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74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74"/>
            <ac:spMk id="14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75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75"/>
            <ac:spMk id="40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76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76"/>
            <ac:spMk id="40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77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77"/>
            <ac:spMk id="40" creationId="{00000000-0000-0000-0000-000000000000}"/>
          </ac:spMkLst>
        </pc:spChg>
      </pc:sldChg>
      <pc:sldChg chg="addSp delSp modSp modNotesTx">
        <pc:chgData name="" userId="" providerId="" clId="Web-{BBBC62D7-B25B-4DB5-B295-F9DD1FE84784}" dt="2026-10-17T22:14:51.543" v="6" actId="34807"/>
        <pc:sldMkLst>
          <pc:docMk/>
          <pc:sldMk cId="0" sldId="278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78"/>
            <ac:spMk id="13" creationId="{00000000-0000-0000-0000-000000000000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0" sldId="278"/>
            <ac:spMk id="194" creationId="{D089F2D7-0512-7B14-9E8C-5C3F9C21591D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79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79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80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80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81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81"/>
            <ac:spMk id="40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82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82"/>
            <ac:spMk id="40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83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83"/>
            <ac:spMk id="92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84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84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85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85"/>
            <ac:spMk id="14" creationId="{00000000-0000-0000-0000-000000000000}"/>
          </ac:spMkLst>
        </pc:spChg>
      </pc:sldChg>
      <pc:sldChg chg="addSp delSp modSp modNotesTx">
        <pc:chgData name="" userId="" providerId="" clId="Web-{BBBC62D7-B25B-4DB5-B295-F9DD1FE84784}" dt="2026-10-17T22:14:51.543" v="6" actId="34807"/>
        <pc:sldMkLst>
          <pc:docMk/>
          <pc:sldMk cId="0" sldId="286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86"/>
            <ac:spMk id="13" creationId="{00000000-0000-0000-0000-000000000000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0" sldId="286"/>
            <ac:spMk id="207" creationId="{FEE21794-9C09-0E38-F29B-E1A66B207F61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87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87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88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88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89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89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90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90"/>
            <ac:spMk id="14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91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91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92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92"/>
            <ac:spMk id="13" creationId="{00000000-0000-0000-0000-000000000000}"/>
          </ac:spMkLst>
        </pc:spChg>
      </pc:sldChg>
      <pc:sldChg chg="modSp modNotesTx">
        <pc:chgData name="" userId="" providerId="" clId="Web-{BBBC62D7-B25B-4DB5-B295-F9DD1FE84784}" dt="2026-10-17T22:14:51.543" v="6" actId="34807"/>
        <pc:sldMkLst>
          <pc:docMk/>
          <pc:sldMk cId="0" sldId="293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93"/>
            <ac:spMk id="14" creationId="{00000000-0000-0000-0000-000000000000}"/>
          </ac:spMkLst>
        </pc:spChg>
      </pc:sldChg>
      <pc:sldChg chg="addSp delSp modSp modNotesTx">
        <pc:chgData name="" userId="" providerId="" clId="Web-{BBBC62D7-B25B-4DB5-B295-F9DD1FE84784}" dt="2026-10-17T22:14:51.543" v="6" actId="34807"/>
        <pc:sldMkLst>
          <pc:docMk/>
          <pc:sldMk cId="0" sldId="294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0" sldId="294"/>
            <ac:spMk id="15" creationId="{00000000-0000-0000-0000-000000000000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0" sldId="294"/>
            <ac:spMk id="221" creationId="{A9245D98-D972-2E63-165D-95D395C6D568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0" sldId="294"/>
            <ac:spMk id="236" creationId="{A532560F-7C2F-606F-7CF8-0210117F4326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0" sldId="294"/>
            <ac:spMk id="252" creationId="{7D4393B1-50BA-7417-0C7E-BFD2E64DAA0C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0" sldId="294"/>
            <ac:spMk id="269" creationId="{8C443666-CB99-6F7D-D776-5C77D6A7FD74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0" sldId="294"/>
            <ac:spMk id="287" creationId="{ED4C4C36-4C5C-E73F-F7C9-F06344D2E3F9}"/>
          </ac:spMkLst>
        </pc:spChg>
      </pc:sldChg>
      <pc:sldChg chg="addSp delSp modSp add modNotesTx">
        <pc:chgData name="" userId="" providerId="" clId="Web-{BBBC62D7-B25B-4DB5-B295-F9DD1FE84784}" dt="2026-10-17T22:19:01.847" v="11" actId="34807"/>
        <pc:sldMkLst>
          <pc:docMk/>
          <pc:sldMk cId="4262806255" sldId="295"/>
        </pc:sldMkLst>
        <pc:spChg chg="mod">
          <ac:chgData name="" userId="" providerId="" clId="Web-{BBBC62D7-B25B-4DB5-B295-F9DD1FE84784}" dt="2026-10-17T22:14:41.434" v="4" actId="34807"/>
          <ac:spMkLst>
            <pc:docMk/>
            <pc:sldMk cId="4262806255" sldId="295"/>
            <ac:spMk id="2" creationId="{00000000-0000-0000-0000-000000000000}"/>
          </ac:spMkLst>
        </pc:spChg>
        <pc:spChg chg="mod">
          <ac:chgData name="" userId="" providerId="" clId="Web-{BBBC62D7-B25B-4DB5-B295-F9DD1FE84784}" dt="2026-10-17T22:17:10.844" v="9" actId="34807"/>
          <ac:spMkLst>
            <pc:docMk/>
            <pc:sldMk cId="4262806255" sldId="295"/>
            <ac:spMk id="34" creationId="{00000000-0000-0000-0000-000000000000}"/>
          </ac:spMkLst>
        </pc:spChg>
        <pc:spChg chg="mod">
          <ac:chgData name="" userId="" providerId="" clId="Web-{BBBC62D7-B25B-4DB5-B295-F9DD1FE84784}" dt="2026-10-17T22:14:35.137" v="3" actId="34807"/>
          <ac:spMkLst>
            <pc:docMk/>
            <pc:sldMk cId="4262806255" sldId="295"/>
            <ac:spMk id="37" creationId="{00000000-0000-0000-0000-000000000000}"/>
          </ac:spMkLst>
        </pc:spChg>
        <pc:spChg chg="mod">
          <ac:chgData name="" userId="" providerId="" clId="Web-{BBBC62D7-B25B-4DB5-B295-F9DD1FE84784}" dt="2026-10-17T22:14:35.137" v="3" actId="34807"/>
          <ac:spMkLst>
            <pc:docMk/>
            <pc:sldMk cId="4262806255" sldId="295"/>
            <ac:spMk id="39" creationId="{00000000-0000-0000-0000-000000000000}"/>
          </ac:spMkLst>
        </pc:spChg>
        <pc:spChg chg="mod">
          <ac:chgData name="" userId="" providerId="" clId="Web-{BBBC62D7-B25B-4DB5-B295-F9DD1FE84784}" dt="2026-10-17T22:17:10.844" v="9" actId="34807"/>
          <ac:spMkLst>
            <pc:docMk/>
            <pc:sldMk cId="4262806255" sldId="295"/>
            <ac:spMk id="43" creationId="{00000000-0000-0000-0000-000000000000}"/>
          </ac:spMkLst>
        </pc:spChg>
        <pc:spChg chg="mod">
          <ac:chgData name="" userId="" providerId="" clId="Web-{BBBC62D7-B25B-4DB5-B295-F9DD1FE84784}" dt="2026-10-17T22:17:10.844" v="9" actId="34807"/>
          <ac:spMkLst>
            <pc:docMk/>
            <pc:sldMk cId="4262806255" sldId="295"/>
            <ac:spMk id="44" creationId="{00000000-0000-0000-0000-000000000000}"/>
          </ac:spMkLst>
        </pc:spChg>
        <pc:spChg chg="mod">
          <ac:chgData name="" userId="" providerId="" clId="Web-{BBBC62D7-B25B-4DB5-B295-F9DD1FE84784}" dt="2026-10-17T22:17:10.844" v="9" actId="34807"/>
          <ac:spMkLst>
            <pc:docMk/>
            <pc:sldMk cId="4262806255" sldId="295"/>
            <ac:spMk id="46" creationId="{00000000-0000-0000-0000-000000000000}"/>
          </ac:spMkLst>
        </pc:spChg>
        <pc:spChg chg="mod">
          <ac:chgData name="" userId="" providerId="" clId="Web-{BBBC62D7-B25B-4DB5-B295-F9DD1FE84784}" dt="2026-10-17T22:17:10.844" v="9" actId="34807"/>
          <ac:spMkLst>
            <pc:docMk/>
            <pc:sldMk cId="4262806255" sldId="295"/>
            <ac:spMk id="47" creationId="{00000000-0000-0000-0000-000000000000}"/>
          </ac:spMkLst>
        </pc:spChg>
        <pc:spChg chg="mod">
          <ac:chgData name="" userId="" providerId="" clId="Web-{BBBC62D7-B25B-4DB5-B295-F9DD1FE84784}" dt="2026-10-17T22:17:10.844" v="9" actId="34807"/>
          <ac:spMkLst>
            <pc:docMk/>
            <pc:sldMk cId="4262806255" sldId="295"/>
            <ac:spMk id="49" creationId="{00000000-0000-0000-0000-000000000000}"/>
          </ac:spMkLst>
        </pc:spChg>
        <pc:spChg chg="mod">
          <ac:chgData name="" userId="" providerId="" clId="Web-{BBBC62D7-B25B-4DB5-B295-F9DD1FE84784}" dt="2026-10-17T22:14:35.137" v="3" actId="34807"/>
          <ac:spMkLst>
            <pc:docMk/>
            <pc:sldMk cId="4262806255" sldId="295"/>
            <ac:spMk id="50" creationId="{00000000-0000-0000-0000-000000000000}"/>
          </ac:spMkLst>
        </pc:spChg>
        <pc:spChg chg="mod">
          <ac:chgData name="" userId="" providerId="" clId="Web-{BBBC62D7-B25B-4DB5-B295-F9DD1FE84784}" dt="2026-10-17T22:14:35.137" v="3" actId="34807"/>
          <ac:spMkLst>
            <pc:docMk/>
            <pc:sldMk cId="4262806255" sldId="295"/>
            <ac:spMk id="55" creationId="{00000000-0000-0000-0000-000000000000}"/>
          </ac:spMkLst>
        </pc:spChg>
        <pc:spChg chg="mod">
          <ac:chgData name="" userId="" providerId="" clId="Web-{BBBC62D7-B25B-4DB5-B295-F9DD1FE84784}" dt="2026-10-17T22:17:10.844" v="9" actId="34807"/>
          <ac:spMkLst>
            <pc:docMk/>
            <pc:sldMk cId="4262806255" sldId="295"/>
            <ac:spMk id="58" creationId="{00000000-0000-0000-0000-000000000000}"/>
          </ac:spMkLst>
        </pc:spChg>
        <pc:spChg chg="mod">
          <ac:chgData name="" userId="" providerId="" clId="Web-{BBBC62D7-B25B-4DB5-B295-F9DD1FE84784}" dt="2026-10-17T22:17:10.844" v="9" actId="34807"/>
          <ac:spMkLst>
            <pc:docMk/>
            <pc:sldMk cId="4262806255" sldId="295"/>
            <ac:spMk id="59" creationId="{00000000-0000-0000-0000-000000000000}"/>
          </ac:spMkLst>
        </pc:spChg>
        <pc:spChg chg="add mod">
          <ac:chgData name="" userId="" providerId="" clId="Web-{BBBC62D7-B25B-4DB5-B295-F9DD1FE84784}" dt="2026-10-17T22:19:01.847" v="11" actId="34807"/>
          <ac:spMkLst>
            <pc:docMk/>
            <pc:sldMk cId="4262806255" sldId="295"/>
            <ac:spMk id="122" creationId="{193E7AFE-DFB9-4718-3D05-7E89BAFF8E96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4262806255" sldId="295"/>
            <ac:spMk id="126" creationId="{678700DD-92DD-16B7-1A76-83665AEF4701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4262806255" sldId="295"/>
            <ac:spMk id="131" creationId="{2C8DFC78-0E8D-3C6C-3E30-9C2DEA195E61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4262806255" sldId="295"/>
            <ac:spMk id="137" creationId="{1992E541-EDB8-671F-51E6-1A1F943AB43D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4262806255" sldId="295"/>
            <ac:spMk id="144" creationId="{E2E5B157-4EED-673B-E3AB-6DF0116DFAF1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4262806255" sldId="295"/>
            <ac:spMk id="152" creationId="{5C152040-A97C-39A3-30F5-9A967501E42C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4262806255" sldId="295"/>
            <ac:spMk id="161" creationId="{C242993E-CC41-2E76-A17D-FA350964C14F}"/>
          </ac:spMkLst>
        </pc:spChg>
        <pc:spChg chg="add mod">
          <ac:chgData name="" userId="" providerId="" clId="Web-{BBBC62D7-B25B-4DB5-B295-F9DD1FE84784}" dt="2026-10-17T22:14:31.730" v="1" actId="34807"/>
          <ac:spMkLst>
            <pc:docMk/>
            <pc:sldMk cId="4262806255" sldId="295"/>
            <ac:spMk id="171" creationId="{8BB7F2A3-F00E-BEC4-058E-48FAD3C5B82A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4262806255" sldId="295"/>
            <ac:spMk id="1022" creationId="{C7736863-FC93-C845-2B97-8E27263B6EEA}"/>
          </ac:spMkLst>
        </pc:spChg>
        <pc:spChg chg="add mod">
          <ac:chgData name="" userId="" providerId="" clId="Web-{BBBC62D7-B25B-4DB5-B295-F9DD1FE84784}" dt="2026-10-17T22:19:01.847" v="11" actId="34807"/>
          <ac:spMkLst>
            <pc:docMk/>
            <pc:sldMk cId="4262806255" sldId="295"/>
            <ac:spMk id="1024" creationId="{8F872893-7B28-9608-CA32-433670824EED}"/>
          </ac:spMkLst>
        </pc:spChg>
      </pc:sldChg>
      <pc:sldChg chg="addSp delSp modSp add replId modNotesTx">
        <pc:chgData name="" userId="" providerId="" clId="Web-{BBBC62D7-B25B-4DB5-B295-F9DD1FE84784}" dt="2026-10-17T22:17:10.844" v="9" actId="34807"/>
        <pc:sldMkLst>
          <pc:docMk/>
          <pc:sldMk cId="1647763383" sldId="296"/>
        </pc:sldMkLst>
        <pc:spChg chg="mod">
          <ac:chgData name="" userId="" providerId="" clId="Web-{BBBC62D7-B25B-4DB5-B295-F9DD1FE84784}" dt="2026-10-17T22:14:35.137" v="3" actId="34807"/>
          <ac:spMkLst>
            <pc:docMk/>
            <pc:sldMk cId="1647763383" sldId="296"/>
            <ac:spMk id="2" creationId="{00000000-0000-0000-0000-000000000000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1647763383" sldId="296"/>
            <ac:spMk id="1027" creationId="{29534FB2-6D75-B3BF-6958-42559B647A53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1647763383" sldId="296"/>
            <ac:spMk id="1036" creationId="{48228E59-2C92-0450-E7C8-E7BC2F77DC10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1647763383" sldId="296"/>
            <ac:spMk id="1057" creationId="{4FC8C467-4D03-6BD4-D739-3CFCA3914E04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1647763383" sldId="296"/>
            <ac:spMk id="1066" creationId="{95699F57-43D5-75C9-B68D-8C16C418991B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1647763383" sldId="296"/>
            <ac:spMk id="1076" creationId="{4FE62150-24D3-093B-365B-06FE100E6F0D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1647763383" sldId="296"/>
            <ac:spMk id="1126" creationId="{2391975D-3CF1-A79D-7F64-B8310DB49CC1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1647763383" sldId="296"/>
            <ac:spMk id="1192" creationId="{811FC61E-CA7F-0D36-61ED-884618F5F495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1647763383" sldId="296"/>
            <ac:spMk id="1231" creationId="{6DDAD84D-90B7-14EA-7940-9EA7DF0C8F57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1647763383" sldId="296"/>
            <ac:spMk id="1274" creationId="{5965609B-2D82-C14D-734E-75F4295E2A3D}"/>
          </ac:spMkLst>
        </pc:spChg>
        <pc:spChg chg="add mod">
          <ac:chgData name="" userId="" providerId="" clId="Web-{BBBC62D7-B25B-4DB5-B295-F9DD1FE84784}" dt="2026-10-17T22:17:08.641" v="7" actId="34807"/>
          <ac:spMkLst>
            <pc:docMk/>
            <pc:sldMk cId="1647763383" sldId="296"/>
            <ac:spMk id="1321" creationId="{60D19D6E-FFBE-F32F-1E43-8454F9532543}"/>
          </ac:spMkLst>
        </pc:spChg>
        <pc:picChg chg="add">
          <ac:chgData name="" userId="" providerId="" clId="Web-{BBBC62D7-B25B-4DB5-B295-F9DD1FE84784}" dt="2026-10-17T22:17:09.860" v="8" actId="34807"/>
          <ac:picMkLst>
            <pc:docMk/>
            <pc:sldMk cId="1647763383" sldId="296"/>
            <ac:picMk id="1322" creationId="{6AFB3D0C-77CD-36B6-749A-93A45ED3722F}"/>
          </ac:picMkLst>
        </pc:picChg>
        <pc:picChg chg="add">
          <ac:chgData name="" userId="" providerId="" clId="Web-{BBBC62D7-B25B-4DB5-B295-F9DD1FE84784}" dt="2026-10-17T22:17:09.860" v="8" actId="34807"/>
          <ac:picMkLst>
            <pc:docMk/>
            <pc:sldMk cId="1647763383" sldId="296"/>
            <ac:picMk id="1323" creationId="{47AE022D-039E-2261-A0B8-A2B179BFC577}"/>
          </ac:picMkLst>
        </pc:picChg>
      </pc:sldChg>
    </pc:docChg>
  </pc:docChgLst>
  <pc:docChgLst>
    <pc:chgData name="Leandro Barbosa" userId="34d8c4a5-1b2b-4afc-98df-51f598faf470" providerId="ADAL" clId="{918C3A3C-0432-48A1-AD8A-9E373B52843B}"/>
    <pc:docChg chg="custSel modSld sldOrd">
      <pc:chgData name="Leandro Barbosa" userId="34d8c4a5-1b2b-4afc-98df-51f598faf470" providerId="ADAL" clId="{918C3A3C-0432-48A1-AD8A-9E373B52843B}" dt="2026-10-21T18:20:47.739" v="28" actId="729"/>
      <pc:docMkLst>
        <pc:docMk/>
      </pc:docMkLst>
      <pc:sldChg chg="delSp mod">
        <pc:chgData name="Leandro Barbosa" userId="34d8c4a5-1b2b-4afc-98df-51f598faf470" providerId="ADAL" clId="{918C3A3C-0432-48A1-AD8A-9E373B52843B}" dt="2026-10-17T22:46:52.272" v="1" actId="478"/>
        <pc:sldMkLst>
          <pc:docMk/>
          <pc:sldMk cId="0" sldId="256"/>
        </pc:sldMkLst>
      </pc:sldChg>
      <pc:sldChg chg="mod modShow">
        <pc:chgData name="Leandro Barbosa" userId="34d8c4a5-1b2b-4afc-98df-51f598faf470" providerId="ADAL" clId="{918C3A3C-0432-48A1-AD8A-9E373B52843B}" dt="2026-10-21T18:20:09.643" v="27" actId="729"/>
        <pc:sldMkLst>
          <pc:docMk/>
          <pc:sldMk cId="0" sldId="283"/>
        </pc:sldMkLst>
      </pc:sldChg>
      <pc:sldChg chg="mod modShow">
        <pc:chgData name="Leandro Barbosa" userId="34d8c4a5-1b2b-4afc-98df-51f598faf470" providerId="ADAL" clId="{918C3A3C-0432-48A1-AD8A-9E373B52843B}" dt="2026-10-21T18:20:47.739" v="28" actId="729"/>
        <pc:sldMkLst>
          <pc:docMk/>
          <pc:sldMk cId="0" sldId="286"/>
        </pc:sldMkLst>
      </pc:sldChg>
      <pc:sldChg chg="modSp mod">
        <pc:chgData name="Leandro Barbosa" userId="34d8c4a5-1b2b-4afc-98df-51f598faf470" providerId="ADAL" clId="{918C3A3C-0432-48A1-AD8A-9E373B52843B}" dt="2026-10-20T18:06:17.822" v="16" actId="20577"/>
        <pc:sldMkLst>
          <pc:docMk/>
          <pc:sldMk cId="1647763383" sldId="296"/>
        </pc:sldMkLst>
        <pc:spChg chg="mod">
          <ac:chgData name="Leandro Barbosa" userId="34d8c4a5-1b2b-4afc-98df-51f598faf470" providerId="ADAL" clId="{918C3A3C-0432-48A1-AD8A-9E373B52843B}" dt="2026-10-20T18:06:17.822" v="16" actId="20577"/>
          <ac:spMkLst>
            <pc:docMk/>
            <pc:sldMk cId="1647763383" sldId="296"/>
            <ac:spMk id="1157" creationId="{02DABEF2-19E9-5CEB-F0DF-6E874CCBCD4F}"/>
          </ac:spMkLst>
        </pc:spChg>
      </pc:sldChg>
      <pc:sldChg chg="delSp modSp mod ord">
        <pc:chgData name="Leandro Barbosa" userId="34d8c4a5-1b2b-4afc-98df-51f598faf470" providerId="ADAL" clId="{918C3A3C-0432-48A1-AD8A-9E373B52843B}" dt="2026-10-20T19:02:38.841" v="26" actId="14100"/>
        <pc:sldMkLst>
          <pc:docMk/>
          <pc:sldMk cId="0" sldId="297"/>
        </pc:sldMkLst>
        <pc:spChg chg="mod">
          <ac:chgData name="Leandro Barbosa" userId="34d8c4a5-1b2b-4afc-98df-51f598faf470" providerId="ADAL" clId="{918C3A3C-0432-48A1-AD8A-9E373B52843B}" dt="2026-10-20T19:02:38.841" v="26" actId="14100"/>
          <ac:spMkLst>
            <pc:docMk/>
            <pc:sldMk cId="0" sldId="297"/>
            <ac:spMk id="14" creationId="{00000000-0000-0000-0000-000000000000}"/>
          </ac:spMkLst>
        </pc:spChg>
        <pc:spChg chg="mod">
          <ac:chgData name="Leandro Barbosa" userId="34d8c4a5-1b2b-4afc-98df-51f598faf470" providerId="ADAL" clId="{918C3A3C-0432-48A1-AD8A-9E373B52843B}" dt="2026-10-20T18:01:00.232" v="4" actId="14100"/>
          <ac:spMkLst>
            <pc:docMk/>
            <pc:sldMk cId="0" sldId="297"/>
            <ac:spMk id="16" creationId="{00000000-0000-0000-0000-000000000000}"/>
          </ac:spMkLst>
        </pc:spChg>
        <pc:spChg chg="mod">
          <ac:chgData name="Leandro Barbosa" userId="34d8c4a5-1b2b-4afc-98df-51f598faf470" providerId="ADAL" clId="{918C3A3C-0432-48A1-AD8A-9E373B52843B}" dt="2026-10-20T18:02:07.590" v="15" actId="1076"/>
          <ac:spMkLst>
            <pc:docMk/>
            <pc:sldMk cId="0" sldId="297"/>
            <ac:spMk id="29" creationId="{00000000-0000-0000-0000-000000000000}"/>
          </ac:spMkLst>
        </pc:spChg>
        <pc:spChg chg="mod">
          <ac:chgData name="Leandro Barbosa" userId="34d8c4a5-1b2b-4afc-98df-51f598faf470" providerId="ADAL" clId="{918C3A3C-0432-48A1-AD8A-9E373B52843B}" dt="2026-10-20T19:02:17.159" v="23" actId="14100"/>
          <ac:spMkLst>
            <pc:docMk/>
            <pc:sldMk cId="0" sldId="297"/>
            <ac:spMk id="46" creationId="{00000000-0000-0000-0000-000000000000}"/>
          </ac:spMkLst>
        </pc:spChg>
        <pc:spChg chg="mod">
          <ac:chgData name="Leandro Barbosa" userId="34d8c4a5-1b2b-4afc-98df-51f598faf470" providerId="ADAL" clId="{918C3A3C-0432-48A1-AD8A-9E373B52843B}" dt="2026-10-20T19:02:26.812" v="25" actId="1076"/>
          <ac:spMkLst>
            <pc:docMk/>
            <pc:sldMk cId="0" sldId="297"/>
            <ac:spMk id="47" creationId="{00000000-0000-0000-0000-000000000000}"/>
          </ac:spMkLst>
        </pc:spChg>
      </pc:sldChg>
      <pc:sldChg chg="modSp mod ord">
        <pc:chgData name="Leandro Barbosa" userId="34d8c4a5-1b2b-4afc-98df-51f598faf470" providerId="ADAL" clId="{918C3A3C-0432-48A1-AD8A-9E373B52843B}" dt="2026-10-20T18:01:49.588" v="14" actId="1076"/>
        <pc:sldMkLst>
          <pc:docMk/>
          <pc:sldMk cId="0" sldId="298"/>
        </pc:sldMkLst>
        <pc:spChg chg="mod">
          <ac:chgData name="Leandro Barbosa" userId="34d8c4a5-1b2b-4afc-98df-51f598faf470" providerId="ADAL" clId="{918C3A3C-0432-48A1-AD8A-9E373B52843B}" dt="2026-10-20T18:01:49.588" v="14" actId="1076"/>
          <ac:spMkLst>
            <pc:docMk/>
            <pc:sldMk cId="0" sldId="298"/>
            <ac:spMk id="29" creationId="{00000000-0000-0000-0000-000000000000}"/>
          </ac:spMkLst>
        </pc:spChg>
      </pc:sldChg>
    </pc:docChg>
  </pc:docChgLst>
  <pc:docChgLst>
    <pc:chgData name="Leandro Barbosa" userId="S::lebarbos@microsoft.com::34d8c4a5-1b2b-4afc-98df-51f598faf470" providerId="AD" clId="Web-{AA4826D9-8DBC-45CD-9F8E-440296929CF6}"/>
    <pc:docChg chg="modSld">
      <pc:chgData name="Leandro Barbosa" userId="S::lebarbos@microsoft.com::34d8c4a5-1b2b-4afc-98df-51f598faf470" providerId="AD" clId="Web-{AA4826D9-8DBC-45CD-9F8E-440296929CF6}" dt="2026-10-17T23:40:40.612" v="10" actId="20577"/>
      <pc:docMkLst>
        <pc:docMk/>
      </pc:docMkLst>
      <pc:sldChg chg="modSp">
        <pc:chgData name="Leandro Barbosa" userId="S::lebarbos@microsoft.com::34d8c4a5-1b2b-4afc-98df-51f598faf470" providerId="AD" clId="Web-{AA4826D9-8DBC-45CD-9F8E-440296929CF6}" dt="2026-10-17T23:40:40.612" v="10" actId="20577"/>
        <pc:sldMkLst>
          <pc:docMk/>
          <pc:sldMk cId="0" sldId="283"/>
        </pc:sldMkLst>
        <pc:spChg chg="mod">
          <ac:chgData name="Leandro Barbosa" userId="S::lebarbos@microsoft.com::34d8c4a5-1b2b-4afc-98df-51f598faf470" providerId="AD" clId="Web-{AA4826D9-8DBC-45CD-9F8E-440296929CF6}" dt="2026-10-17T23:40:40.612" v="10" actId="20577"/>
          <ac:spMkLst>
            <pc:docMk/>
            <pc:sldMk cId="0" sldId="283"/>
            <ac:spMk id="2" creationId="{00000000-0000-0000-0000-000000000000}"/>
          </ac:spMkLst>
        </pc:spChg>
      </pc:sldChg>
    </pc:docChg>
  </pc:docChgLst>
  <pc:docChgLst>
    <pc:chgData name="Leandro Barbosa" userId="34d8c4a5-1b2b-4afc-98df-51f598faf470" providerId="ADAL" clId="{A6DBFFB4-E125-5C3A-8DAB-161DC73F88C1}"/>
    <pc:docChg chg="undo custSel sldOrd modSection">
      <pc:chgData name="Leandro Barbosa" userId="34d8c4a5-1b2b-4afc-98df-51f598faf470" providerId="ADAL" clId="{A6DBFFB4-E125-5C3A-8DAB-161DC73F88C1}" dt="2026-10-19T13:26:00.418" v="2" actId="20578"/>
      <pc:docMkLst>
        <pc:docMk/>
      </pc:docMkLst>
      <pc:sldChg chg="ord">
        <pc:chgData name="Leandro Barbosa" userId="34d8c4a5-1b2b-4afc-98df-51f598faf470" providerId="ADAL" clId="{A6DBFFB4-E125-5C3A-8DAB-161DC73F88C1}" dt="2026-10-19T13:26:00.418" v="2" actId="20578"/>
        <pc:sldMkLst>
          <pc:docMk/>
          <pc:sldMk cId="0" sldId="265"/>
        </pc:sldMkLst>
      </pc:sldChg>
    </pc:docChg>
  </pc:docChgLst>
  <pc:docChgLst>
    <pc:chgData name="Leandro Barbosa" userId="S::lebarbos@microsoft.com::34d8c4a5-1b2b-4afc-98df-51f598faf470" providerId="AD" clId="Web-{49182971-5F0B-449B-AE58-5A123CFFAF23}"/>
    <pc:docChg chg="modSld">
      <pc:chgData name="Leandro Barbosa" userId="S::lebarbos@microsoft.com::34d8c4a5-1b2b-4afc-98df-51f598faf470" providerId="AD" clId="Web-{49182971-5F0B-449B-AE58-5A123CFFAF23}" dt="2026-10-17T22:44:16.830" v="0" actId="1076"/>
      <pc:docMkLst>
        <pc:docMk/>
      </pc:docMkLst>
      <pc:sldChg chg="modSp">
        <pc:chgData name="Leandro Barbosa" userId="S::lebarbos@microsoft.com::34d8c4a5-1b2b-4afc-98df-51f598faf470" providerId="AD" clId="Web-{49182971-5F0B-449B-AE58-5A123CFFAF23}" dt="2026-10-17T22:44:16.830" v="0" actId="1076"/>
        <pc:sldMkLst>
          <pc:docMk/>
          <pc:sldMk cId="0" sldId="256"/>
        </pc:sldMkLst>
        <pc:picChg chg="mod">
          <ac:chgData name="Leandro Barbosa" userId="S::lebarbos@microsoft.com::34d8c4a5-1b2b-4afc-98df-51f598faf470" providerId="AD" clId="Web-{49182971-5F0B-449B-AE58-5A123CFFAF23}" dt="2026-10-17T22:44:16.830" v="0" actId="1076"/>
          <ac:picMkLst>
            <pc:docMk/>
            <pc:sldMk cId="0" sldId="256"/>
            <ac:picMk id="5" creationId="{00000000-0000-0000-0000-000000000000}"/>
          </ac:picMkLst>
        </pc:picChg>
      </pc:sldChg>
    </pc:docChg>
  </pc:docChgLst>
  <pc:docChgLst>
    <pc:chgData clId="Web-{89496EBA-B2C8-4C6F-8E0B-1B407DBD025F}"/>
    <pc:docChg chg="modSld">
      <pc:chgData name="" userId="" providerId="" clId="Web-{89496EBA-B2C8-4C6F-8E0B-1B407DBD025F}" dt="2026-10-17T23:56:27.113" v="4" actId="34807"/>
      <pc:docMkLst>
        <pc:docMk/>
      </pc:docMkLst>
      <pc:sldChg chg="modSp">
        <pc:chgData name="" userId="" providerId="" clId="Web-{89496EBA-B2C8-4C6F-8E0B-1B407DBD025F}" dt="2026-10-17T23:55:13.861" v="2" actId="34807"/>
        <pc:sldMkLst>
          <pc:docMk/>
          <pc:sldMk cId="0" sldId="256"/>
        </pc:sldMkLst>
        <pc:picChg chg="mod">
          <ac:chgData name="" userId="" providerId="" clId="Web-{89496EBA-B2C8-4C6F-8E0B-1B407DBD025F}" dt="2026-10-17T23:55:13.861" v="2" actId="34807"/>
          <ac:picMkLst>
            <pc:docMk/>
            <pc:sldMk cId="0" sldId="256"/>
            <ac:picMk id="5" creationId="{00000000-0000-0000-0000-000000000000}"/>
          </ac:picMkLst>
        </pc:picChg>
      </pc:sldChg>
      <pc:sldChg chg="addSp delSp modSp modNotesTx">
        <pc:chgData name="" userId="" providerId="" clId="Web-{89496EBA-B2C8-4C6F-8E0B-1B407DBD025F}" dt="2026-10-17T23:56:27.113" v="4" actId="34807"/>
        <pc:sldMkLst>
          <pc:docMk/>
          <pc:sldMk cId="0" sldId="285"/>
        </pc:sldMkLst>
        <pc:spChg chg="add mod">
          <ac:chgData name="" userId="" providerId="" clId="Web-{89496EBA-B2C8-4C6F-8E0B-1B407DBD025F}" dt="2026-10-17T23:55:11.580" v="0" actId="34807"/>
          <ac:spMkLst>
            <pc:docMk/>
            <pc:sldMk cId="0" sldId="285"/>
            <ac:spMk id="1483" creationId="{0E8BC5C2-34B2-7D56-17CC-659338C7BE5D}"/>
          </ac:spMkLst>
        </pc:spChg>
        <pc:spChg chg="add mod">
          <ac:chgData name="" userId="" providerId="" clId="Web-{89496EBA-B2C8-4C6F-8E0B-1B407DBD025F}" dt="2026-10-17T23:55:11.580" v="0" actId="34807"/>
          <ac:spMkLst>
            <pc:docMk/>
            <pc:sldMk cId="0" sldId="285"/>
            <ac:spMk id="1494" creationId="{A6987532-EA48-8621-1B8B-80A3D264E4A6}"/>
          </ac:spMkLst>
        </pc:spChg>
        <pc:spChg chg="add mod">
          <ac:chgData name="" userId="" providerId="" clId="Web-{89496EBA-B2C8-4C6F-8E0B-1B407DBD025F}" dt="2026-10-17T23:55:13.861" v="2" actId="34807"/>
          <ac:spMkLst>
            <pc:docMk/>
            <pc:sldMk cId="0" sldId="285"/>
            <ac:spMk id="1779" creationId="{C57ECF39-082A-77A7-CD1E-498D70B1C270}"/>
          </ac:spMkLst>
        </pc:spChg>
        <pc:spChg chg="add mod">
          <ac:chgData name="" userId="" providerId="" clId="Web-{89496EBA-B2C8-4C6F-8E0B-1B407DBD025F}" dt="2026-10-17T23:55:11.580" v="0" actId="34807"/>
          <ac:spMkLst>
            <pc:docMk/>
            <pc:sldMk cId="0" sldId="285"/>
            <ac:spMk id="1893" creationId="{327508A7-1CFC-6094-F54E-167226A29A40}"/>
          </ac:spMkLst>
        </pc:spChg>
        <pc:spChg chg="add mod">
          <ac:chgData name="" userId="" providerId="" clId="Web-{89496EBA-B2C8-4C6F-8E0B-1B407DBD025F}" dt="2026-10-17T23:55:11.580" v="0" actId="34807"/>
          <ac:spMkLst>
            <pc:docMk/>
            <pc:sldMk cId="0" sldId="285"/>
            <ac:spMk id="2131" creationId="{6AC4AD5E-0A2B-4EDA-ADC0-BA15E3363C85}"/>
          </ac:spMkLst>
        </pc:spChg>
        <pc:spChg chg="add mod">
          <ac:chgData name="" userId="" providerId="" clId="Web-{89496EBA-B2C8-4C6F-8E0B-1B407DBD025F}" dt="2026-10-17T23:55:11.580" v="0" actId="34807"/>
          <ac:spMkLst>
            <pc:docMk/>
            <pc:sldMk cId="0" sldId="285"/>
            <ac:spMk id="2208" creationId="{3BC6C6BD-B186-65B6-DE5F-40C67645C1B9}"/>
          </ac:spMkLst>
        </pc:spChg>
        <pc:spChg chg="add mod">
          <ac:chgData name="" userId="" providerId="" clId="Web-{89496EBA-B2C8-4C6F-8E0B-1B407DBD025F}" dt="2026-10-17T23:55:11.580" v="0" actId="34807"/>
          <ac:spMkLst>
            <pc:docMk/>
            <pc:sldMk cId="0" sldId="285"/>
            <ac:spMk id="2754" creationId="{A679B5EA-4322-642C-F24C-6DBB15E47C51}"/>
          </ac:spMkLst>
        </pc:spChg>
        <pc:spChg chg="add mod">
          <ac:chgData name="" userId="" providerId="" clId="Web-{89496EBA-B2C8-4C6F-8E0B-1B407DBD025F}" dt="2026-10-17T23:55:11.580" v="0" actId="34807"/>
          <ac:spMkLst>
            <pc:docMk/>
            <pc:sldMk cId="0" sldId="285"/>
            <ac:spMk id="2806" creationId="{EB302003-91BB-8845-FFA9-BB0368D0501A}"/>
          </ac:spMkLst>
        </pc:spChg>
        <pc:spChg chg="add mod">
          <ac:chgData name="" userId="" providerId="" clId="Web-{89496EBA-B2C8-4C6F-8E0B-1B407DBD025F}" dt="2026-10-17T23:56:26.113" v="3" actId="34807"/>
          <ac:spMkLst>
            <pc:docMk/>
            <pc:sldMk cId="0" sldId="285"/>
            <ac:spMk id="3640" creationId="{11D96C2A-38C4-DA72-F66B-0DABE29C9748}"/>
          </ac:spMkLst>
        </pc:spChg>
        <pc:spChg chg="add mod">
          <ac:chgData name="" userId="" providerId="" clId="Web-{89496EBA-B2C8-4C6F-8E0B-1B407DBD025F}" dt="2026-10-17T23:56:26.113" v="3" actId="34807"/>
          <ac:spMkLst>
            <pc:docMk/>
            <pc:sldMk cId="0" sldId="285"/>
            <ac:spMk id="3642" creationId="{5A5BCC7D-C7DB-80A5-F2A2-AFEAC04B859A}"/>
          </ac:spMkLst>
        </pc:spChg>
        <pc:spChg chg="add mod">
          <ac:chgData name="" userId="" providerId="" clId="Web-{89496EBA-B2C8-4C6F-8E0B-1B407DBD025F}" dt="2026-10-17T23:56:26.113" v="3" actId="34807"/>
          <ac:spMkLst>
            <pc:docMk/>
            <pc:sldMk cId="0" sldId="285"/>
            <ac:spMk id="3645" creationId="{E56DD1A3-2B56-99C4-9929-7D4A0FF69A66}"/>
          </ac:spMkLst>
        </pc:spChg>
        <pc:spChg chg="add mod">
          <ac:chgData name="" userId="" providerId="" clId="Web-{89496EBA-B2C8-4C6F-8E0B-1B407DBD025F}" dt="2026-10-17T23:56:26.113" v="3" actId="34807"/>
          <ac:spMkLst>
            <pc:docMk/>
            <pc:sldMk cId="0" sldId="285"/>
            <ac:spMk id="3649" creationId="{1660CAEE-8C45-7691-EEF0-131EBA260F11}"/>
          </ac:spMkLst>
        </pc:spChg>
        <pc:spChg chg="add mod">
          <ac:chgData name="" userId="" providerId="" clId="Web-{89496EBA-B2C8-4C6F-8E0B-1B407DBD025F}" dt="2026-10-17T23:56:26.113" v="3" actId="34807"/>
          <ac:spMkLst>
            <pc:docMk/>
            <pc:sldMk cId="0" sldId="285"/>
            <ac:spMk id="3654" creationId="{F3B71F2F-DCE1-2572-4FBE-33F16AFB5057}"/>
          </ac:spMkLst>
        </pc:spChg>
        <pc:spChg chg="add mod">
          <ac:chgData name="" userId="" providerId="" clId="Web-{89496EBA-B2C8-4C6F-8E0B-1B407DBD025F}" dt="2026-10-17T23:56:26.113" v="3" actId="34807"/>
          <ac:spMkLst>
            <pc:docMk/>
            <pc:sldMk cId="0" sldId="285"/>
            <ac:spMk id="3660" creationId="{3111459F-4734-34EE-FF8A-D3963208EFB5}"/>
          </ac:spMkLst>
        </pc:spChg>
        <pc:spChg chg="add mod">
          <ac:chgData name="" userId="" providerId="" clId="Web-{89496EBA-B2C8-4C6F-8E0B-1B407DBD025F}" dt="2026-10-17T23:56:26.113" v="3" actId="34807"/>
          <ac:spMkLst>
            <pc:docMk/>
            <pc:sldMk cId="0" sldId="285"/>
            <ac:spMk id="3667" creationId="{1D219667-0E09-42C6-DB07-DC6257914DEC}"/>
          </ac:spMkLst>
        </pc:spChg>
        <pc:spChg chg="add mod">
          <ac:chgData name="" userId="" providerId="" clId="Web-{89496EBA-B2C8-4C6F-8E0B-1B407DBD025F}" dt="2026-10-17T23:56:26.113" v="3" actId="34807"/>
          <ac:spMkLst>
            <pc:docMk/>
            <pc:sldMk cId="0" sldId="285"/>
            <ac:spMk id="3675" creationId="{28C51AC4-A1CB-939A-0265-FEC52611505F}"/>
          </ac:spMkLst>
        </pc:spChg>
      </pc:sldChg>
    </pc:docChg>
  </pc:docChgLst>
  <pc:docChgLst>
    <pc:chgData clId="Web-{6AB6564D-455C-4FCA-A658-B3ECCC01A6F5}"/>
    <pc:docChg chg="modSld">
      <pc:chgData name="" userId="" providerId="" clId="Web-{6AB6564D-455C-4FCA-A658-B3ECCC01A6F5}" dt="2026-10-17T22:42:44.368" v="3" actId="34807"/>
      <pc:docMkLst>
        <pc:docMk/>
      </pc:docMkLst>
      <pc:sldChg chg="delSp modSp">
        <pc:chgData name="" userId="" providerId="" clId="Web-{6AB6564D-455C-4FCA-A658-B3ECCC01A6F5}" dt="2026-10-17T22:42:44.368" v="3" actId="34807"/>
        <pc:sldMkLst>
          <pc:docMk/>
          <pc:sldMk cId="0" sldId="256"/>
        </pc:sldMkLst>
        <pc:spChg chg="mod">
          <ac:chgData name="" userId="" providerId="" clId="Web-{6AB6564D-455C-4FCA-A658-B3ECCC01A6F5}" dt="2026-10-17T22:42:40.774" v="2" actId="34807"/>
          <ac:spMkLst>
            <pc:docMk/>
            <pc:sldMk cId="0" sldId="256"/>
            <ac:spMk id="31" creationId="{00000000-0000-0000-0000-000000000000}"/>
          </ac:spMkLst>
        </pc:spChg>
        <pc:picChg chg="mod">
          <ac:chgData name="" userId="" providerId="" clId="Web-{6AB6564D-455C-4FCA-A658-B3ECCC01A6F5}" dt="2026-10-17T22:42:40.774" v="2" actId="34807"/>
          <ac:picMkLst>
            <pc:docMk/>
            <pc:sldMk cId="0" sldId="256"/>
            <ac:picMk id="5" creationId="{00000000-0000-0000-0000-000000000000}"/>
          </ac:picMkLst>
        </pc:picChg>
      </pc:sldChg>
      <pc:sldChg chg="addSp delSp modSp">
        <pc:chgData name="" userId="" providerId="" clId="Web-{6AB6564D-455C-4FCA-A658-B3ECCC01A6F5}" dt="2026-10-17T22:37:07.795" v="1" actId="34807"/>
        <pc:sldMkLst>
          <pc:docMk/>
          <pc:sldMk cId="4262806255" sldId="295"/>
        </pc:sldMkLst>
        <pc:spChg chg="add mod">
          <ac:chgData name="" userId="" providerId="" clId="Web-{6AB6564D-455C-4FCA-A658-B3ECCC01A6F5}" dt="2026-10-17T22:36:57.841" v="0" actId="34807"/>
          <ac:spMkLst>
            <pc:docMk/>
            <pc:sldMk cId="4262806255" sldId="295"/>
            <ac:spMk id="6" creationId="{352CD00C-4AB4-F5D0-2C00-0FA6854368DF}"/>
          </ac:spMkLst>
        </pc:spChg>
        <pc:spChg chg="add mod">
          <ac:chgData name="" userId="" providerId="" clId="Web-{6AB6564D-455C-4FCA-A658-B3ECCC01A6F5}" dt="2026-10-17T22:37:07.795" v="1" actId="34807"/>
          <ac:spMkLst>
            <pc:docMk/>
            <pc:sldMk cId="4262806255" sldId="295"/>
            <ac:spMk id="7" creationId="{C205609C-C9EA-53E4-059C-DCE2CA3E1B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B99BA-CBD2-4697-B8AB-48AB814C515C}" type="datetimeFigureOut">
              <a:t>22/10/26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64EF4-5E27-4EE1-BCD2-B26FE17191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67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Capa. A numeração começa em 0 aqui, para os números citados nos slides (ex.: slide 20, slides 21 a 28) continuarem valendo.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Três objetivos: onde o firewall entra (arquitetura e roteamento), qual regra vence (ordem de processamento) e como provar (logs e troubleshooting). O bloco 4 é o foco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 borda até a VM: cada serviço cuida de uma parte do caminho. O Azure Firewall vê todo tráfego que a rota leva até ele, nas camadas 3 a 7. WAF no Application Gateway ou no Front Door; dentro da mesma VNet, NSG.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Norte-sul: Internet e on-premises. Leste-oeste: entre redes no Azure. Premissa: on-premises tratado como norte-sul, como nos exemplos. Tudo é negado por padrão. Os próximos blocos detalham cada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Throughput 250 Mbps / 30 Gbps / 100 Gbps. Premium atende PCI DSS. Basic para dev/teste e pequenas empresas; Standard para produção; Premium para ambiente regulado.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Fat flow: 1 Gbps no Standard e 10 Gbps no Premium para uma conexão. Prescaling: 2 a 50 capacity units; mínimo igual ao máximo é capacidade fixa. Acompanhe pela métrica Observed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Standard ⇄ Premium pelo Change SKU, sem downtime, exige Firewall Policy. Basic → Premium só por stop/start; Basic → Standard não é suportado; para Basic só por PowerShell ou Terraform. Faça em janela de manutenção.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 visual com o próximo slide: mesmas spokes, muda o hub e de onde vêm as rotas. Aqui você mantém o hub, os peerings e uma UDR 0.0.0.0/0 em cada spoke apontando para o IP privado do firewall.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Sem UDR nas spokes: o Routing Intent anuncia as rotas. No máximo uma Internet Traffic policy e uma Private Traffic policy por hub. Quem pode associar UDR na spoke consegue desviar do firewall — restrinja routeTables/join/action ao time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firewall só inspeciona o tráfego que a rota leva até ele. No secured hub, o forced tunneling também usa Routing Intent (Private policy + 0.0.0.0/0 nos prefixos adicionais). Forced tunneling exige a Management NIC (AzureFirewallManagementSubnet /26); DNAT não é suportado com forced tunneling.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Zone-redundant é o padrão em regiões com zonas: pelo menos 2 instâncias, sem configurar nada, e o maior SLA. Zonal é exceção (uma zona, só por API). O firewall é regional: um por região, e o failover entre regiões é seu.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Sem DNS Proxy, a VM pode receber um IP diferente do que o firewall resolveu, e a regra com FQDN nega. Com DNS Proxy, os dois usam a mesma resposta. Em application rule o FQDN vem do SNI/Host — é a premissa do slide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Toda regra mora numa collection, dentro de um grupo (RCG), dentro da policy. A policy é associada ao firewall. Prioridades de 100 (primeiro) a 65.000.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Firewall Policy é um recurso global. Associar a 0 ou 1 firewall é grátis; mais de uma associação tem custo fixo. Pai e filha ficam para o bloco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RCG: agrupa collections, pode misturar tipos; primeira unidade ordenada (100 a 65.000, menor primeiro); organize por workload, VNet ou time; acesso por RCG com custom role. Collection: um tipo só (DNAT, Network ou Application), uma ação para todas as regras e prioridade dentro do RCG. Toda policy traz os RCGs padrão DNAT 100, Network 200 e Application 300, que não podem ser apagados nem ter a prioridade alterada. Fonte: Learn, Azure Firewall Policy rule sets e Configure Azure Firewall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 ordem de força: o tipo de regra (DNAT → Network → Application), o grupo de menor número, a collection de menor número. Regras são terminais: o primeiro match encerra. Sem match em nenhum tipo, deny padrão. Herança fica para o slide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intuição é ordenar tudo pelo número. O firewall faz uma passada por tipo; o número só ordena dentro da passada.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RC 900 no RCG 200 é avaliada antes de RC 100 no RCG 400: o número do grupo pesa mais que o número da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RCG 300, RC 200 (Allow) vem antes de RC 500 (Deny). O primeiro match encerra; a segunda só é avaliada se a primeira não bater.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Exemplo derivado das regras do Learn (não está no PDF). Três lições: o tipo vence o número; o grupo vence a collection; no mesmo grupo, a collection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Premissas: rota 0.0.0.0/0 para o firewall, DNS resolve e o FQDN é lido no SNI da conexão HTTPS. Teste na VM com Invoke-WebRequest.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Mostre as regras e pergunte "acessa?" antes de clicar. Clique 1: a avaliação. Clique 2: o resultado. Mesmo tipo: o RCG 200 é avaliado antes do 300; o Deny nunca é alcançado.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armadilha mais comum: um Network Allow amplo em 443 esconde todas as Application rules. A Application de menor número fica no RCG 200 de propósito. É o caso reproduzido na demo (slide 32) e o que o Policy Analytics ajuda a achar.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 match em network rules, as application rules não são avaliadas. O Network Deny decide antes; o Allow nunca é avaliado.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pai vence dentro do mesmo tipo: a ordem DNAT → Network → Application vale mais que a herança. Uma Network rule da filha é avaliada antes de uma Application rule do pai. NAT não é herdado; o modo de Threat Intelligence é herdado e a filha só endurece. Pai e filha na mesma região.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pai </a:t>
            </a:r>
            <a:r>
              <a:rPr lang="en-US" dirty="0" err="1"/>
              <a:t>vem</a:t>
            </a:r>
            <a:r>
              <a:rPr lang="en-US" dirty="0"/>
              <a:t> antes da </a:t>
            </a:r>
            <a:r>
              <a:rPr lang="en-US" dirty="0" err="1"/>
              <a:t>filha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do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: a </a:t>
            </a:r>
            <a:r>
              <a:rPr lang="en-US" dirty="0" err="1"/>
              <a:t>ordem</a:t>
            </a:r>
            <a:r>
              <a:rPr lang="en-US" dirty="0"/>
              <a:t> DNAT → Network → Application vale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herança</a:t>
            </a:r>
            <a:r>
              <a:rPr lang="en-US" dirty="0"/>
              <a:t>. NAT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herdado</a:t>
            </a:r>
            <a:r>
              <a:rPr lang="en-US" dirty="0"/>
              <a:t> (Learn: Azure Firewall Manager policy overview); o </a:t>
            </a:r>
            <a:r>
              <a:rPr lang="en-US" dirty="0" err="1"/>
              <a:t>exemplo</a:t>
            </a:r>
            <a:r>
              <a:rPr lang="en-US" dirty="0"/>
              <a:t> de Configure Azure Firewall rules </a:t>
            </a:r>
            <a:r>
              <a:rPr lang="en-US" dirty="0" err="1"/>
              <a:t>mostra</a:t>
            </a:r>
            <a:r>
              <a:rPr lang="en-US" dirty="0"/>
              <a:t> DNAT no pai — </a:t>
            </a:r>
            <a:r>
              <a:rPr lang="en-US" dirty="0" err="1"/>
              <a:t>ver</a:t>
            </a:r>
            <a:r>
              <a:rPr lang="en-US" dirty="0"/>
              <a:t> nota do slide 29.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números</a:t>
            </a:r>
            <a:r>
              <a:rPr lang="en-US" dirty="0"/>
              <a:t>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invertidos</a:t>
            </a:r>
            <a:r>
              <a:rPr lang="en-US" dirty="0"/>
              <a:t> de </a:t>
            </a:r>
            <a:r>
              <a:rPr lang="en-US" dirty="0" err="1"/>
              <a:t>propósito</a:t>
            </a:r>
            <a:r>
              <a:rPr lang="en-US" dirty="0"/>
              <a:t>: o pai </a:t>
            </a:r>
            <a:r>
              <a:rPr lang="en-US" dirty="0" err="1"/>
              <a:t>tem</a:t>
            </a:r>
            <a:r>
              <a:rPr lang="en-US" dirty="0"/>
              <a:t> RCG 300 e a </a:t>
            </a:r>
            <a:r>
              <a:rPr lang="en-US" dirty="0" err="1"/>
              <a:t>filha</a:t>
            </a:r>
            <a:r>
              <a:rPr lang="en-US" dirty="0"/>
              <a:t> RCG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pai vem antes, mesmo com RCG 300 contra RCG 100 da filha. O tipo continua mandando: todo Network, do pai e da filha, antes de qualquer Application (passos 2 e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Pergunte antes de clicar. O pai vem antes: o Deny da filha nunca é alcançado, mesmo com RCG 100. A filha não consegue bloquear o que o pai libera.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Pergunte antes de clicar. A filha não consegue liberar o que o pai bloqueia. Mensagem de produção: guardrails ficam no pai.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Uma passada por clique: DNAT, Network, Application e, por fim, as duas lições. Exemplo fiel à página Configure Azure Firewall rules. A nota de rodapé registra a contradição: a página Firewall Manager policy overview diz que DNAT não é herdado; o slide 25 segue essa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IP Groups você mantém; service tags e FQDN tags a Microsoft mantém. Um IP Group vale para vários firewalls e regiões (limite flexível de 50 firewalls por grupo).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Só analisa o tráfego depois de habilitar; precisa de Log Analytics com logs resource specific; dados em cerca de 60 minutos; cobrado pelo Firewall Manager. Ajuda a achar regra que nunca recebe tráfego, como a Application escondida no caso B (slide 22). Fontes: Learn — Azure Firewall Policy Analytics; Azure Blog — Optimize performance and strengthen security with Policy Analytics (exemplo DefendTheFlag).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demo reproduz o caso B (slide 22): o match aparece em AZFWNetworkRule. Pergunte "acessa ou não?" antes de mostrar o log. Plano B: capturas do teste e do log. Pendência: conferir no ambiente as colunas da KQL (Fqdn, Action, Policy, RuleCollectionGroup, RuleCollection, Rule).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Threat Intelligence: reputação, avaliada antes das suas regras, com allowlist; no Basic só Alert. IDPS: 67 mil+ assinaturas, só Premium; comece em Alert e depois bloqueie. Os dois têm os modos Alert e Alert and Deny.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Duas conexões TLS. A CA intermediária é lida como secret do Key Vault, por managed identity com Get/List. A VM confia na CA raiz que assinou a intermediária. Entrada: use Application Gateway (WAF).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Exemplo de exceção: Allow linkedin (100) antes de Deny Social networking (200) — retoma a ordem de processamento do bloco 4. Explicit proxy existe no Standard e no Premium.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Resource specific é o recomendado: até 80% menos custo de log e consultas mais simples. Sem diagnostic setting, não há evidência para investigar.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Os dois leem as mesmas tabelas resource specific. Pendência: rodar no ambiente a consulta (colunas Action e Fqdn de AZFWApplicationRule) antes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SNAT acima de 95%: esgotado, e o health state cai para Degraded. Explique o SNAT na hora. Picos de latência com ICMP são normais.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Packet capture grava em storage (SAS URL) e exige a Management NIC. Change tracking e a integração com o Security Copilot estão em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Limites</a:t>
            </a:r>
            <a:r>
              <a:rPr dirty="0"/>
              <a:t> de Firewall Policy, </a:t>
            </a:r>
            <a:r>
              <a:rPr dirty="0" err="1"/>
              <a:t>regras</a:t>
            </a:r>
            <a:r>
              <a:rPr dirty="0"/>
              <a:t> e IP Groups (</a:t>
            </a:r>
            <a:r>
              <a:rPr dirty="0" err="1"/>
              <a:t>itens</a:t>
            </a:r>
            <a:r>
              <a:rPr dirty="0"/>
              <a:t> 1 e 2): </a:t>
            </a:r>
            <a:r>
              <a:rPr dirty="0" err="1"/>
              <a:t>até</a:t>
            </a:r>
            <a:r>
              <a:rPr dirty="0"/>
              <a:t> 90 RCGs </a:t>
            </a:r>
            <a:r>
              <a:rPr dirty="0" err="1"/>
              <a:t>por</a:t>
            </a:r>
            <a:r>
              <a:rPr dirty="0"/>
              <a:t> policy e 2 MB de </a:t>
            </a:r>
            <a:r>
              <a:rPr dirty="0" err="1"/>
              <a:t>regras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RCG. </a:t>
            </a:r>
            <a:r>
              <a:rPr dirty="0" err="1"/>
              <a:t>Faixa</a:t>
            </a:r>
            <a:r>
              <a:rPr dirty="0"/>
              <a:t> de </a:t>
            </a:r>
            <a:r>
              <a:rPr dirty="0" err="1"/>
              <a:t>prioridades</a:t>
            </a:r>
            <a:r>
              <a:rPr dirty="0"/>
              <a:t> de 100 a 65.000. Soft limit de 20.000 </a:t>
            </a:r>
            <a:r>
              <a:rPr dirty="0" err="1"/>
              <a:t>combinações</a:t>
            </a:r>
            <a:r>
              <a:rPr dirty="0"/>
              <a:t> </a:t>
            </a:r>
            <a:r>
              <a:rPr dirty="0" err="1"/>
              <a:t>únicas</a:t>
            </a:r>
            <a:r>
              <a:rPr dirty="0"/>
              <a:t> </a:t>
            </a:r>
            <a:r>
              <a:rPr dirty="0" err="1"/>
              <a:t>origem-destino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Network Rules (</a:t>
            </a:r>
            <a:r>
              <a:rPr dirty="0" err="1"/>
              <a:t>fórmula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: </a:t>
            </a:r>
            <a:r>
              <a:rPr dirty="0" err="1"/>
              <a:t>protocolos</a:t>
            </a:r>
            <a:r>
              <a:rPr dirty="0"/>
              <a:t> IP × IPs </a:t>
            </a:r>
            <a:r>
              <a:rPr dirty="0" err="1"/>
              <a:t>origem</a:t>
            </a:r>
            <a:r>
              <a:rPr dirty="0"/>
              <a:t> × IPs </a:t>
            </a:r>
            <a:r>
              <a:rPr dirty="0" err="1"/>
              <a:t>destino</a:t>
            </a:r>
            <a:r>
              <a:rPr dirty="0"/>
              <a:t> × </a:t>
            </a:r>
            <a:r>
              <a:rPr dirty="0" err="1"/>
              <a:t>teto</a:t>
            </a:r>
            <a:r>
              <a:rPr dirty="0"/>
              <a:t>(</a:t>
            </a:r>
            <a:r>
              <a:rPr dirty="0" err="1"/>
              <a:t>portas</a:t>
            </a:r>
            <a:r>
              <a:rPr dirty="0"/>
              <a:t> </a:t>
            </a:r>
            <a:r>
              <a:rPr dirty="0" err="1"/>
              <a:t>destino</a:t>
            </a:r>
            <a:r>
              <a:rPr dirty="0"/>
              <a:t> / 14)), </a:t>
            </a:r>
            <a:r>
              <a:rPr dirty="0" err="1"/>
              <a:t>monitorado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Policy Analytics → Insights e pela </a:t>
            </a:r>
            <a:r>
              <a:rPr dirty="0" err="1"/>
              <a:t>métrica</a:t>
            </a:r>
            <a:r>
              <a:rPr dirty="0"/>
              <a:t> Firewall Latency Probe (≤ 20 </a:t>
            </a:r>
            <a:r>
              <a:rPr dirty="0" err="1"/>
              <a:t>ms</a:t>
            </a:r>
            <a:r>
              <a:rPr dirty="0"/>
              <a:t>). IP Groups: </a:t>
            </a:r>
            <a:r>
              <a:rPr dirty="0" err="1"/>
              <a:t>até</a:t>
            </a:r>
            <a:r>
              <a:rPr dirty="0"/>
              <a:t> 600 </a:t>
            </a:r>
            <a:r>
              <a:rPr dirty="0" err="1"/>
              <a:t>por</a:t>
            </a:r>
            <a:r>
              <a:rPr dirty="0"/>
              <a:t> policy, 5.000 IPs/</a:t>
            </a:r>
            <a:r>
              <a:rPr dirty="0" err="1"/>
              <a:t>prefixos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grupo</a:t>
            </a:r>
            <a:r>
              <a:rPr dirty="0"/>
              <a:t> e soft limit de 50 firewalls </a:t>
            </a:r>
            <a:r>
              <a:rPr dirty="0" err="1"/>
              <a:t>referenciando</a:t>
            </a:r>
            <a:r>
              <a:rPr dirty="0"/>
              <a:t> o mesmo IP Group.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Limites de rede, SNAT, performance, escala e recursos Premium (itens 3 a 6): AzureFirewallSubnet e Management Subnet mínimas /26; até 250 PIPs em VNet e 80 PIPs em Secured Virtual Hub (vWAN); 2.496 portas SNAT por PIP por instância (4.992 iniciais com 2 instâncias) ou 64.512/PIP com NAT Gateway em Hub VNet. Throughput: Basic 250 Mbps fixo; Standard 3 Gbps inicial até 30 Gbps; Premium 18 Gbps inicial até 100 Gbps (até 22 Gbps com TLS + IDPS em Alert and Deny). Fluxo único (fat flow): 1–1,5 Gbps no Standard, 9–10 Gbps no Premium (600 Mbps com IDPS Deny). VMSS escala de 2 a 20 instâncias (até 50 com Prescaling). TLS timeout 120 s (CA RSA ≥ 4096); IDPS com &gt;67.000 assinaturas (10.000 customizáveis); Top flows ≥ 1 Mbps (ciclo de 3 min) e Policy Analytics low utilization com janela de 30 dias.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Anuncie o laboratório prático: cada participante executa o lab no próprio ambiente, na ordem Ex0 a Ex6, pelo guia do aluno. Reforce o pré-requisito (assinatura própria com Owner), o custo por hora e o cleanup obrigatório no fim. Deixe o link no slide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Cada pilar aponta para os slides do deck. SNAT explicado na hora: 5 ou mais IPs públicos ou NAT Gateway. Resumo dos três objetivos e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47472"/>
            <a:ext cx="11183112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969264"/>
            <a:ext cx="1118311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600"/>
          </a:p>
        </p:txBody>
      </p:sp>
      <p:sp>
        <p:nvSpPr>
          <p:cNvPr id="4" name="Text 0"/>
          <p:cNvSpPr txBox="1"/>
          <p:nvPr/>
        </p:nvSpPr>
        <p:spPr>
          <a:xfrm>
            <a:off x="502920" y="6473952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tx2"/>
                </a:solidFill>
              </a:rPr>
              <a:t>Azure Firewall · arquitetura, ordem de processamento e operação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lebarbos.github.io/azure-firewall-ops-lab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pic>
        <p:nvPicPr>
          <p:cNvPr id="5" name="Picture"/>
          <p:cNvPicPr/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2103120"/>
            <a:ext cx="7498080" cy="109728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Firewall</a:t>
            </a:r>
            <a:endParaRPr lang="en-US" sz="66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3255264"/>
            <a:ext cx="7498080" cy="43891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2100">
                <a:solidFill>
                  <a:srgbClr val="C9D6EA"/>
                </a:solidFill>
                <a:latin typeface="Segoe UI"/>
              </a:rPr>
              <a:t>Arquitetura, ordem de processamento e operação</a:t>
            </a:r>
            <a:endParaRPr lang="en-US" sz="1600"/>
          </a:p>
        </p:txBody>
      </p:sp>
      <p:sp>
        <p:nvSpPr>
          <p:cNvPr id="31" name="Shape"/>
          <p:cNvSpPr/>
          <p:nvPr/>
        </p:nvSpPr>
        <p:spPr>
          <a:xfrm>
            <a:off x="9391320" y="1751320"/>
            <a:ext cx="1737360" cy="1737360"/>
          </a:xfrm>
          <a:prstGeom prst="ellipse">
            <a:avLst/>
          </a:prstGeom>
          <a:ln w="12700">
            <a:solidFill>
              <a:srgbClr val="58B7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8ACFDA0-8E9F-D028-46E6-404316A3DE9A}"/>
              </a:ext>
            </a:extLst>
          </p:cNvPr>
          <p:cNvSpPr/>
          <p:nvPr/>
        </p:nvSpPr>
        <p:spPr>
          <a:xfrm>
            <a:off x="594360" y="3931920"/>
            <a:ext cx="3657600" cy="4206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 spc="100">
                <a:solidFill>
                  <a:srgbClr val="50E6FF"/>
                </a:solidFill>
                <a:effectLst/>
                <a:latin typeface="Segoe UI" panose="020B0502040204020203" pitchFamily="34" charset="0"/>
              </a:rPr>
              <a:t>Workshop · 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pic>
        <p:nvPicPr>
          <p:cNvPr id="5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Objetivos e agenda</a:t>
            </a:r>
            <a:endParaRPr lang="en-US" sz="30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C9D6E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Sete blocos, com foco nas policies e na ordem de processamento</a:t>
            </a:r>
            <a:endParaRPr lang="en-US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"/>
          <p:cNvSpPr/>
          <p:nvPr/>
        </p:nvSpPr>
        <p:spPr>
          <a:xfrm>
            <a:off x="685800" y="2148840"/>
            <a:ext cx="3453384" cy="1115568"/>
          </a:xfrm>
          <a:prstGeom prst="rect">
            <a:avLst/>
          </a:prstGeom>
          <a:solidFill>
            <a:srgbClr val="132B58">
              <a:alpha val="78000"/>
            </a:srgbClr>
          </a:solidFill>
          <a:ln w="9525">
            <a:solidFill>
              <a:srgbClr val="2F4C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Box"/>
          <p:cNvSpPr txBox="1"/>
          <p:nvPr/>
        </p:nvSpPr>
        <p:spPr>
          <a:xfrm>
            <a:off x="960120" y="2276856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50E6FF"/>
                </a:solidFill>
                <a:latin typeface="Segoe UI"/>
              </a:rPr>
              <a:t>01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960120" y="2551176"/>
            <a:ext cx="2996184" cy="60350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Onde o firewall entra</a:t>
            </a:r>
          </a:p>
          <a:p>
            <a:pPr algn="l"/>
            <a:r>
              <a:rPr sz="1400" b="0">
                <a:solidFill>
                  <a:srgbClr val="C9D6EA"/>
                </a:solidFill>
                <a:latin typeface="Segoe UI"/>
              </a:rPr>
              <a:t>arquitetura e roteamento</a:t>
            </a:r>
          </a:p>
        </p:txBody>
      </p:sp>
      <p:sp>
        <p:nvSpPr>
          <p:cNvPr id="37" name="Shape"/>
          <p:cNvSpPr/>
          <p:nvPr/>
        </p:nvSpPr>
        <p:spPr>
          <a:xfrm>
            <a:off x="4367784" y="2148840"/>
            <a:ext cx="3453384" cy="1115568"/>
          </a:xfrm>
          <a:prstGeom prst="rect">
            <a:avLst/>
          </a:prstGeom>
          <a:solidFill>
            <a:srgbClr val="132B58">
              <a:alpha val="78000"/>
            </a:srgbClr>
          </a:solidFill>
          <a:ln w="9525">
            <a:solidFill>
              <a:srgbClr val="2F4C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TextBox"/>
          <p:cNvSpPr txBox="1"/>
          <p:nvPr/>
        </p:nvSpPr>
        <p:spPr>
          <a:xfrm>
            <a:off x="4642104" y="2276856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50E6FF"/>
                </a:solidFill>
                <a:latin typeface="Segoe UI"/>
              </a:rPr>
              <a:t>02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4642104" y="2551176"/>
            <a:ext cx="2996184" cy="60350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Qual regra vence</a:t>
            </a:r>
          </a:p>
          <a:p>
            <a:pPr algn="l"/>
            <a:r>
              <a:rPr sz="1400" b="0">
                <a:solidFill>
                  <a:srgbClr val="C9D6EA"/>
                </a:solidFill>
                <a:latin typeface="Segoe UI"/>
              </a:rPr>
              <a:t>ordem de processamento</a:t>
            </a:r>
          </a:p>
        </p:txBody>
      </p:sp>
      <p:sp>
        <p:nvSpPr>
          <p:cNvPr id="40" name="Shape"/>
          <p:cNvSpPr/>
          <p:nvPr/>
        </p:nvSpPr>
        <p:spPr>
          <a:xfrm>
            <a:off x="8049768" y="2148840"/>
            <a:ext cx="3453384" cy="1115568"/>
          </a:xfrm>
          <a:prstGeom prst="rect">
            <a:avLst/>
          </a:prstGeom>
          <a:solidFill>
            <a:srgbClr val="132B58">
              <a:alpha val="78000"/>
            </a:srgbClr>
          </a:solidFill>
          <a:ln w="9525">
            <a:solidFill>
              <a:srgbClr val="2F4C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Box"/>
          <p:cNvSpPr txBox="1"/>
          <p:nvPr/>
        </p:nvSpPr>
        <p:spPr>
          <a:xfrm>
            <a:off x="8324088" y="2276856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50E6FF"/>
                </a:solidFill>
                <a:latin typeface="Segoe UI"/>
              </a:rPr>
              <a:t>03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8324088" y="2551176"/>
            <a:ext cx="2996184" cy="60350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Como provar</a:t>
            </a:r>
          </a:p>
          <a:p>
            <a:pPr algn="l"/>
            <a:r>
              <a:rPr sz="1400" b="0">
                <a:solidFill>
                  <a:srgbClr val="C9D6EA"/>
                </a:solidFill>
                <a:latin typeface="Segoe UI"/>
              </a:rPr>
              <a:t>logs e troubleshooting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685800" y="4032504"/>
            <a:ext cx="2743200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4" name="Shape"/>
          <p:cNvSpPr/>
          <p:nvPr/>
        </p:nvSpPr>
        <p:spPr>
          <a:xfrm>
            <a:off x="1280160" y="4590288"/>
            <a:ext cx="9628632" cy="18288"/>
          </a:xfrm>
          <a:prstGeom prst="rect">
            <a:avLst/>
          </a:prstGeom>
          <a:solidFill>
            <a:srgbClr val="3B5687"/>
          </a:solidFill>
        </p:spPr>
        <p:txBody>
          <a:bodyPr/>
          <a:lstStyle/>
          <a:p>
            <a:endParaRPr/>
          </a:p>
        </p:txBody>
      </p:sp>
      <p:sp>
        <p:nvSpPr>
          <p:cNvPr id="45" name="Shape"/>
          <p:cNvSpPr/>
          <p:nvPr/>
        </p:nvSpPr>
        <p:spPr>
          <a:xfrm>
            <a:off x="1211580" y="4530852"/>
            <a:ext cx="137160" cy="137160"/>
          </a:xfrm>
          <a:prstGeom prst="ellipse">
            <a:avLst/>
          </a:prstGeom>
          <a:solidFill>
            <a:srgbClr val="8FB0DE"/>
          </a:solidFill>
        </p:spPr>
        <p:txBody>
          <a:bodyPr/>
          <a:lstStyle/>
          <a:p>
            <a:endParaRPr/>
          </a:p>
        </p:txBody>
      </p:sp>
      <p:sp>
        <p:nvSpPr>
          <p:cNvPr id="46" name="TextBox"/>
          <p:cNvSpPr txBox="1"/>
          <p:nvPr/>
        </p:nvSpPr>
        <p:spPr>
          <a:xfrm>
            <a:off x="496062" y="4800600"/>
            <a:ext cx="1568196" cy="493776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C9D6EA"/>
                </a:solidFill>
                <a:latin typeface="Segoe UI"/>
              </a:rPr>
              <a:t>1 · Abertura</a:t>
            </a:r>
          </a:p>
        </p:txBody>
      </p:sp>
      <p:sp>
        <p:nvSpPr>
          <p:cNvPr id="47" name="Shape"/>
          <p:cNvSpPr/>
          <p:nvPr/>
        </p:nvSpPr>
        <p:spPr>
          <a:xfrm>
            <a:off x="2816352" y="4530852"/>
            <a:ext cx="137160" cy="137160"/>
          </a:xfrm>
          <a:prstGeom prst="ellipse">
            <a:avLst/>
          </a:prstGeom>
          <a:solidFill>
            <a:srgbClr val="8FB0DE"/>
          </a:solidFill>
        </p:spPr>
        <p:txBody>
          <a:bodyPr/>
          <a:lstStyle/>
          <a:p>
            <a:endParaRPr/>
          </a:p>
        </p:txBody>
      </p:sp>
      <p:sp>
        <p:nvSpPr>
          <p:cNvPr id="48" name="TextBox"/>
          <p:cNvSpPr txBox="1"/>
          <p:nvPr/>
        </p:nvSpPr>
        <p:spPr>
          <a:xfrm>
            <a:off x="2100834" y="4800600"/>
            <a:ext cx="1568196" cy="493776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C9D6EA"/>
                </a:solidFill>
                <a:latin typeface="Segoe UI"/>
              </a:rPr>
              <a:t>2 · SKUs</a:t>
            </a:r>
          </a:p>
        </p:txBody>
      </p:sp>
      <p:sp>
        <p:nvSpPr>
          <p:cNvPr id="49" name="Shape"/>
          <p:cNvSpPr/>
          <p:nvPr/>
        </p:nvSpPr>
        <p:spPr>
          <a:xfrm>
            <a:off x="4421124" y="4530852"/>
            <a:ext cx="137160" cy="137160"/>
          </a:xfrm>
          <a:prstGeom prst="ellipse">
            <a:avLst/>
          </a:prstGeom>
          <a:solidFill>
            <a:srgbClr val="8FB0DE"/>
          </a:solidFill>
        </p:spPr>
        <p:txBody>
          <a:bodyPr/>
          <a:lstStyle/>
          <a:p>
            <a:endParaRPr/>
          </a:p>
        </p:txBody>
      </p:sp>
      <p:sp>
        <p:nvSpPr>
          <p:cNvPr id="50" name="TextBox"/>
          <p:cNvSpPr txBox="1"/>
          <p:nvPr/>
        </p:nvSpPr>
        <p:spPr>
          <a:xfrm>
            <a:off x="3705606" y="4800600"/>
            <a:ext cx="1568196" cy="493776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C9D6EA"/>
                </a:solidFill>
                <a:latin typeface="Segoe UI"/>
              </a:rPr>
              <a:t>3 · Arquitetura</a:t>
            </a:r>
          </a:p>
        </p:txBody>
      </p:sp>
      <p:sp>
        <p:nvSpPr>
          <p:cNvPr id="55" name="Shape"/>
          <p:cNvSpPr/>
          <p:nvPr/>
        </p:nvSpPr>
        <p:spPr>
          <a:xfrm>
            <a:off x="7630668" y="4530852"/>
            <a:ext cx="137160" cy="137160"/>
          </a:xfrm>
          <a:prstGeom prst="ellipse">
            <a:avLst/>
          </a:prstGeom>
          <a:solidFill>
            <a:srgbClr val="8FB0DE"/>
          </a:solidFill>
        </p:spPr>
        <p:txBody>
          <a:bodyPr/>
          <a:lstStyle/>
          <a:p>
            <a:endParaRPr/>
          </a:p>
        </p:txBody>
      </p:sp>
      <p:sp>
        <p:nvSpPr>
          <p:cNvPr id="56" name="TextBox"/>
          <p:cNvSpPr txBox="1"/>
          <p:nvPr/>
        </p:nvSpPr>
        <p:spPr>
          <a:xfrm>
            <a:off x="6915150" y="4800600"/>
            <a:ext cx="1568196" cy="493776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C9D6EA"/>
                </a:solidFill>
                <a:latin typeface="Segoe UI"/>
              </a:rPr>
              <a:t>5 · Proteção avançada</a:t>
            </a:r>
          </a:p>
        </p:txBody>
      </p:sp>
      <p:sp>
        <p:nvSpPr>
          <p:cNvPr id="57" name="Shape"/>
          <p:cNvSpPr/>
          <p:nvPr/>
        </p:nvSpPr>
        <p:spPr>
          <a:xfrm>
            <a:off x="9235440" y="4530852"/>
            <a:ext cx="137160" cy="137160"/>
          </a:xfrm>
          <a:prstGeom prst="ellipse">
            <a:avLst/>
          </a:prstGeom>
          <a:solidFill>
            <a:srgbClr val="8FB0DE"/>
          </a:solidFill>
        </p:spPr>
        <p:txBody>
          <a:bodyPr/>
          <a:lstStyle/>
          <a:p>
            <a:endParaRPr/>
          </a:p>
        </p:txBody>
      </p:sp>
      <p:sp>
        <p:nvSpPr>
          <p:cNvPr id="58" name="TextBox"/>
          <p:cNvSpPr txBox="1"/>
          <p:nvPr/>
        </p:nvSpPr>
        <p:spPr>
          <a:xfrm>
            <a:off x="8519922" y="4800600"/>
            <a:ext cx="1568196" cy="493776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C9D6EA"/>
                </a:solidFill>
                <a:latin typeface="Segoe UI"/>
              </a:rPr>
              <a:t>6 · Operação</a:t>
            </a:r>
          </a:p>
        </p:txBody>
      </p:sp>
      <p:sp>
        <p:nvSpPr>
          <p:cNvPr id="59" name="Shape"/>
          <p:cNvSpPr/>
          <p:nvPr/>
        </p:nvSpPr>
        <p:spPr>
          <a:xfrm>
            <a:off x="10840212" y="4530852"/>
            <a:ext cx="137160" cy="137160"/>
          </a:xfrm>
          <a:prstGeom prst="ellipse">
            <a:avLst/>
          </a:prstGeom>
          <a:solidFill>
            <a:srgbClr val="8FB0DE"/>
          </a:solidFill>
        </p:spPr>
        <p:txBody>
          <a:bodyPr/>
          <a:lstStyle/>
          <a:p>
            <a:endParaRPr/>
          </a:p>
        </p:txBody>
      </p:sp>
      <p:sp>
        <p:nvSpPr>
          <p:cNvPr id="60" name="TextBox"/>
          <p:cNvSpPr txBox="1"/>
          <p:nvPr/>
        </p:nvSpPr>
        <p:spPr>
          <a:xfrm>
            <a:off x="10124694" y="4800600"/>
            <a:ext cx="1568196" cy="493776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C9D6EA"/>
                </a:solidFill>
                <a:latin typeface="Segoe UI"/>
              </a:rPr>
              <a:t>7 · Fechamento</a:t>
            </a:r>
          </a:p>
        </p:txBody>
      </p:sp>
      <p:sp>
        <p:nvSpPr>
          <p:cNvPr id="61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AFC0DA"/>
                </a:solidFill>
                <a:latin typeface="Segoe UI"/>
              </a:rPr>
              <a:t>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93E7AFE-DFB9-4718-3D05-7E89BAFF8E96}"/>
              </a:ext>
            </a:extLst>
          </p:cNvPr>
          <p:cNvSpPr/>
          <p:nvPr/>
        </p:nvSpPr>
        <p:spPr>
          <a:xfrm>
            <a:off x="950976" y="229972"/>
            <a:ext cx="5486400" cy="436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50E6FF"/>
                </a:solidFill>
                <a:effectLst/>
                <a:latin typeface="Segoe UI" panose="020B0502040204020203" pitchFamily="34" charset="0"/>
              </a:rPr>
              <a:t>ABERTURA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78700DD-92DD-16B7-1A76-83665AEF4701}"/>
              </a:ext>
            </a:extLst>
          </p:cNvPr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50E6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C8DFC78-0E8D-3C6C-3E30-9C2DEA195E61}"/>
              </a:ext>
            </a:extLst>
          </p:cNvPr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2A3D66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992E541-EDB8-671F-51E6-1A1F943AB43D}"/>
              </a:ext>
            </a:extLst>
          </p:cNvPr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2A3D66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2E5B157-4EED-673B-E3AB-6DF0116DFAF1}"/>
              </a:ext>
            </a:extLst>
          </p:cNvPr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2A3D66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C152040-A97C-39A3-30F5-9A967501E42C}"/>
              </a:ext>
            </a:extLst>
          </p:cNvPr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2A3D66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242993E-CC41-2E76-A17D-FA350964C14F}"/>
              </a:ext>
            </a:extLst>
          </p:cNvPr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2A3D66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BB7F2A3-F00E-BEC4-058E-48FAD3C5B82A}"/>
              </a:ext>
            </a:extLst>
          </p:cNvPr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2A3D66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2" name="Rectangle: Rounded Corners 1021">
            <a:extLst>
              <a:ext uri="{FF2B5EF4-FFF2-40B4-BE49-F238E27FC236}">
                <a16:creationId xmlns:a16="http://schemas.microsoft.com/office/drawing/2014/main" id="{C7736863-FC93-C845-2B97-8E27263B6EEA}"/>
              </a:ext>
            </a:extLst>
          </p:cNvPr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50E6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8F872893-7B28-9608-CA32-433670824EED}"/>
              </a:ext>
            </a:extLst>
          </p:cNvPr>
          <p:cNvSpPr/>
          <p:nvPr/>
        </p:nvSpPr>
        <p:spPr>
          <a:xfrm>
            <a:off x="457200" y="229972"/>
            <a:ext cx="585216" cy="436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7B8498"/>
                </a:solidFill>
                <a:effectLst/>
                <a:latin typeface="Segoe UI" panose="020B0502040204020203" pitchFamily="34" charset="0"/>
              </a:rPr>
              <a:t>01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352CD00C-4AB4-F5D0-2C00-0FA6854368DF}"/>
              </a:ext>
            </a:extLst>
          </p:cNvPr>
          <p:cNvSpPr/>
          <p:nvPr/>
        </p:nvSpPr>
        <p:spPr>
          <a:xfrm>
            <a:off x="6025896" y="4530852"/>
            <a:ext cx="137160" cy="137160"/>
          </a:xfrm>
          <a:prstGeom prst="ellipse">
            <a:avLst/>
          </a:prstGeom>
          <a:solidFill>
            <a:srgbClr val="8FB0DE"/>
          </a:solidFill>
        </p:spPr>
        <p:txBody>
          <a:bodyPr/>
          <a:lstStyle/>
          <a:p>
            <a:endParaRPr/>
          </a:p>
        </p:txBody>
      </p:sp>
      <p:sp>
        <p:nvSpPr>
          <p:cNvPr id="7" name="TextBox">
            <a:extLst>
              <a:ext uri="{FF2B5EF4-FFF2-40B4-BE49-F238E27FC236}">
                <a16:creationId xmlns:a16="http://schemas.microsoft.com/office/drawing/2014/main" id="{C205609C-C9EA-53E4-059C-DCE2CA3E1B7F}"/>
              </a:ext>
            </a:extLst>
          </p:cNvPr>
          <p:cNvSpPr txBox="1"/>
          <p:nvPr/>
        </p:nvSpPr>
        <p:spPr>
          <a:xfrm>
            <a:off x="5310378" y="4800600"/>
            <a:ext cx="1568196" cy="493776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400" b="0">
                <a:solidFill>
                  <a:srgbClr val="C9D6EA"/>
                </a:solidFill>
                <a:latin typeface="Segoe UI"/>
              </a:rPr>
              <a:t>4 · Policies e regras</a:t>
            </a:r>
            <a:endParaRPr sz="1400" b="0">
              <a:solidFill>
                <a:srgbClr val="C9D6EA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62806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Segurança de rede no Azure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O Azure Firewall ao lado de DDoS Protection, WAF e NSG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2</a:t>
            </a: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Defesa em camadas: cada serviço cuida de uma parte do caminho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WAF no Application Gateway ou no Front Door · para tráfego dentro da mesma VNet, use NSG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548640" y="1645920"/>
            <a:ext cx="2175361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0F6CBD"/>
                </a:solidFill>
                <a:latin typeface="Segoe UI"/>
              </a:rPr>
              <a:t>Da borda até a VM</a:t>
            </a:r>
          </a:p>
        </p:txBody>
      </p:sp>
      <p:sp>
        <p:nvSpPr>
          <p:cNvPr id="18" name="Shape"/>
          <p:cNvSpPr/>
          <p:nvPr/>
        </p:nvSpPr>
        <p:spPr>
          <a:xfrm>
            <a:off x="2815441" y="1780794"/>
            <a:ext cx="8699598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9" name="Shape"/>
          <p:cNvSpPr/>
          <p:nvPr/>
        </p:nvSpPr>
        <p:spPr>
          <a:xfrm rot="5400000">
            <a:off x="11460175" y="1723644"/>
            <a:ext cx="137160" cy="137160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0" name="Shape"/>
          <p:cNvSpPr/>
          <p:nvPr/>
        </p:nvSpPr>
        <p:spPr>
          <a:xfrm>
            <a:off x="548640" y="2148840"/>
            <a:ext cx="2567864" cy="30632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Shape"/>
          <p:cNvSpPr/>
          <p:nvPr/>
        </p:nvSpPr>
        <p:spPr>
          <a:xfrm>
            <a:off x="1384516" y="2450592"/>
            <a:ext cx="896112" cy="8961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1554777" y="2620853"/>
            <a:ext cx="555589" cy="555589"/>
          </a:xfrm>
          <a:prstGeom prst="rect">
            <a:avLst/>
          </a:prstGeom>
        </p:spPr>
      </p:pic>
      <p:sp>
        <p:nvSpPr>
          <p:cNvPr id="23" name="TextBox"/>
          <p:cNvSpPr txBox="1"/>
          <p:nvPr/>
        </p:nvSpPr>
        <p:spPr>
          <a:xfrm>
            <a:off x="640080" y="3584448"/>
            <a:ext cx="2384984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0B1B3F"/>
                </a:solidFill>
                <a:latin typeface="Segoe UI"/>
              </a:rPr>
              <a:t>DDoS Protection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640080" y="3986784"/>
            <a:ext cx="2384984" cy="530352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IPs públicos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ataques volumétricos</a:t>
            </a:r>
          </a:p>
        </p:txBody>
      </p:sp>
      <p:sp>
        <p:nvSpPr>
          <p:cNvPr id="25" name="Shape"/>
          <p:cNvSpPr/>
          <p:nvPr/>
        </p:nvSpPr>
        <p:spPr>
          <a:xfrm>
            <a:off x="1226005" y="4681728"/>
            <a:ext cx="1213134" cy="329184"/>
          </a:xfrm>
          <a:prstGeom prst="roundRect">
            <a:avLst/>
          </a:prstGeom>
          <a:solidFill>
            <a:srgbClr val="DEECF9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005A9E"/>
                </a:solidFill>
                <a:latin typeface="Segoe UI"/>
              </a:rPr>
              <a:t>na borda</a:t>
            </a:r>
          </a:p>
        </p:txBody>
      </p:sp>
      <p:sp>
        <p:nvSpPr>
          <p:cNvPr id="26" name="Shape"/>
          <p:cNvSpPr/>
          <p:nvPr/>
        </p:nvSpPr>
        <p:spPr>
          <a:xfrm>
            <a:off x="3153080" y="3670402"/>
            <a:ext cx="140818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 rot="5400000">
            <a:off x="3253664" y="3630168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>
            <a:off x="3390824" y="2148840"/>
            <a:ext cx="2567864" cy="30632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Shape"/>
          <p:cNvSpPr/>
          <p:nvPr/>
        </p:nvSpPr>
        <p:spPr>
          <a:xfrm>
            <a:off x="4226700" y="2450592"/>
            <a:ext cx="896112" cy="8961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0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4396961" y="2620853"/>
            <a:ext cx="555589" cy="555589"/>
          </a:xfrm>
          <a:prstGeom prst="rect">
            <a:avLst/>
          </a:prstGeom>
        </p:spPr>
      </p:pic>
      <p:sp>
        <p:nvSpPr>
          <p:cNvPr id="31" name="TextBox"/>
          <p:cNvSpPr txBox="1"/>
          <p:nvPr/>
        </p:nvSpPr>
        <p:spPr>
          <a:xfrm>
            <a:off x="3482264" y="3584448"/>
            <a:ext cx="2384984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0B1B3F"/>
                </a:solidFill>
                <a:latin typeface="Segoe UI"/>
              </a:rPr>
              <a:t>Web App Firewall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3482264" y="3986784"/>
            <a:ext cx="2384984" cy="530352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aplicações web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SQL injection, XSS</a:t>
            </a:r>
          </a:p>
        </p:txBody>
      </p:sp>
      <p:sp>
        <p:nvSpPr>
          <p:cNvPr id="33" name="Shape"/>
          <p:cNvSpPr/>
          <p:nvPr/>
        </p:nvSpPr>
        <p:spPr>
          <a:xfrm>
            <a:off x="3567530" y="4681728"/>
            <a:ext cx="2214452" cy="329184"/>
          </a:xfrm>
          <a:prstGeom prst="roundRect">
            <a:avLst/>
          </a:prstGeom>
          <a:solidFill>
            <a:srgbClr val="DEECF9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005A9E"/>
                </a:solidFill>
                <a:latin typeface="Segoe UI"/>
              </a:rPr>
              <a:t>camada 7 · HTTP(S)</a:t>
            </a:r>
          </a:p>
        </p:txBody>
      </p:sp>
      <p:sp>
        <p:nvSpPr>
          <p:cNvPr id="34" name="Shape"/>
          <p:cNvSpPr/>
          <p:nvPr/>
        </p:nvSpPr>
        <p:spPr>
          <a:xfrm>
            <a:off x="5995264" y="3670402"/>
            <a:ext cx="140818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5" name="Shape"/>
          <p:cNvSpPr/>
          <p:nvPr/>
        </p:nvSpPr>
        <p:spPr>
          <a:xfrm rot="5400000">
            <a:off x="6095848" y="3630168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6" name="Shape"/>
          <p:cNvSpPr/>
          <p:nvPr/>
        </p:nvSpPr>
        <p:spPr>
          <a:xfrm>
            <a:off x="6233008" y="2148840"/>
            <a:ext cx="2567864" cy="3063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>
            <a:off x="6817972" y="2199681"/>
            <a:ext cx="1397935" cy="1397935"/>
          </a:xfrm>
          <a:prstGeom prst="ellipse">
            <a:avLst/>
          </a:prstGeom>
          <a:solidFill>
            <a:srgbClr val="0078D4">
              <a:alpha val="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6943428" y="2325136"/>
            <a:ext cx="1147023" cy="1147023"/>
          </a:xfrm>
          <a:prstGeom prst="ellipse">
            <a:avLst/>
          </a:prstGeom>
          <a:solidFill>
            <a:srgbClr val="0078D4">
              <a:alpha val="1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" name="Shape"/>
          <p:cNvSpPr/>
          <p:nvPr/>
        </p:nvSpPr>
        <p:spPr>
          <a:xfrm>
            <a:off x="7068884" y="2450592"/>
            <a:ext cx="896112" cy="8961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0" name="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7248106" y="2629814"/>
            <a:ext cx="537667" cy="537667"/>
          </a:xfrm>
          <a:prstGeom prst="rect">
            <a:avLst/>
          </a:prstGeom>
        </p:spPr>
      </p:pic>
      <p:sp>
        <p:nvSpPr>
          <p:cNvPr id="41" name="TextBox"/>
          <p:cNvSpPr txBox="1"/>
          <p:nvPr/>
        </p:nvSpPr>
        <p:spPr>
          <a:xfrm>
            <a:off x="6324448" y="3584448"/>
            <a:ext cx="2384984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0B1B3F"/>
                </a:solidFill>
                <a:latin typeface="Segoe UI"/>
              </a:rPr>
              <a:t>Azure Firewall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6324448" y="3986784"/>
            <a:ext cx="2384984" cy="530352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todo tráfego roteado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camadas 3 a 7</a:t>
            </a:r>
          </a:p>
        </p:txBody>
      </p:sp>
      <p:sp>
        <p:nvSpPr>
          <p:cNvPr id="43" name="Shape"/>
          <p:cNvSpPr/>
          <p:nvPr/>
        </p:nvSpPr>
        <p:spPr>
          <a:xfrm>
            <a:off x="6287643" y="4681728"/>
            <a:ext cx="2458594" cy="329184"/>
          </a:xfrm>
          <a:prstGeom prst="roundRect">
            <a:avLst/>
          </a:prstGeom>
          <a:solidFill>
            <a:srgbClr val="DEECF9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005A9E"/>
                </a:solidFill>
                <a:latin typeface="Segoe UI"/>
              </a:rPr>
              <a:t>VNets, on-prem, saída</a:t>
            </a:r>
          </a:p>
        </p:txBody>
      </p:sp>
      <p:sp>
        <p:nvSpPr>
          <p:cNvPr id="44" name="Shape"/>
          <p:cNvSpPr/>
          <p:nvPr/>
        </p:nvSpPr>
        <p:spPr>
          <a:xfrm>
            <a:off x="8837447" y="3670402"/>
            <a:ext cx="140818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5" name="Shape"/>
          <p:cNvSpPr/>
          <p:nvPr/>
        </p:nvSpPr>
        <p:spPr>
          <a:xfrm rot="5400000">
            <a:off x="8938031" y="3630168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6" name="Shape"/>
          <p:cNvSpPr/>
          <p:nvPr/>
        </p:nvSpPr>
        <p:spPr>
          <a:xfrm>
            <a:off x="9075191" y="2148840"/>
            <a:ext cx="2567864" cy="30632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Shape"/>
          <p:cNvSpPr/>
          <p:nvPr/>
        </p:nvSpPr>
        <p:spPr>
          <a:xfrm>
            <a:off x="9911067" y="2450592"/>
            <a:ext cx="896112" cy="8961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8" name="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10081329" y="2620853"/>
            <a:ext cx="555589" cy="555589"/>
          </a:xfrm>
          <a:prstGeom prst="rect">
            <a:avLst/>
          </a:prstGeom>
        </p:spPr>
      </p:pic>
      <p:sp>
        <p:nvSpPr>
          <p:cNvPr id="49" name="TextBox"/>
          <p:cNvSpPr txBox="1"/>
          <p:nvPr/>
        </p:nvSpPr>
        <p:spPr>
          <a:xfrm>
            <a:off x="9166631" y="3584448"/>
            <a:ext cx="2384984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0B1B3F"/>
                </a:solidFill>
                <a:latin typeface="Segoe UI"/>
              </a:rPr>
              <a:t>NSG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9166631" y="3986784"/>
            <a:ext cx="2384984" cy="530352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subnet ou NIC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allow/deny por porta</a:t>
            </a:r>
          </a:p>
        </p:txBody>
      </p:sp>
      <p:sp>
        <p:nvSpPr>
          <p:cNvPr id="51" name="Shape"/>
          <p:cNvSpPr/>
          <p:nvPr/>
        </p:nvSpPr>
        <p:spPr>
          <a:xfrm>
            <a:off x="9455654" y="4681728"/>
            <a:ext cx="1806939" cy="329184"/>
          </a:xfrm>
          <a:prstGeom prst="roundRect">
            <a:avLst/>
          </a:prstGeom>
          <a:solidFill>
            <a:srgbClr val="DEECF9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005A9E"/>
                </a:solidFill>
                <a:latin typeface="Segoe UI"/>
              </a:rPr>
              <a:t>dentro da VNet</a:t>
            </a:r>
          </a:p>
        </p:txBody>
      </p:sp>
      <p:sp>
        <p:nvSpPr>
          <p:cNvPr id="52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ABERTURA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Visão geral do Azure Firewall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O que é, onde fica na arquitetura e o que faz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3</a:t>
            </a: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Visão geral: os próximos blocos detalham cada parte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Norte-sul: Internet e on-premises · Leste-oeste: entre redes no Azure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3310128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Box"/>
          <p:cNvSpPr txBox="1"/>
          <p:nvPr/>
        </p:nvSpPr>
        <p:spPr>
          <a:xfrm>
            <a:off x="804672" y="1810512"/>
            <a:ext cx="285292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O que é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04672" y="2267712"/>
            <a:ext cx="3008376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1">
                <a:solidFill>
                  <a:srgbClr val="1B2333"/>
                </a:solidFill>
                <a:latin typeface="Segoe UI"/>
              </a:rPr>
              <a:t>Firewall como serviço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stateful e gerenciado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804672" y="2852928"/>
            <a:ext cx="3008376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1">
                <a:solidFill>
                  <a:srgbClr val="1B2333"/>
                </a:solidFill>
                <a:latin typeface="Segoe UI"/>
              </a:rPr>
              <a:t>Alta disponibilidade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zonas, sem configurar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804672" y="3438144"/>
            <a:ext cx="3008376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1">
                <a:solidFill>
                  <a:srgbClr val="1B2333"/>
                </a:solidFill>
                <a:latin typeface="Segoe UI"/>
              </a:rPr>
              <a:t>Autoscale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cresce com o tráfego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804672" y="4023360"/>
            <a:ext cx="3008376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1">
                <a:solidFill>
                  <a:srgbClr val="1B2333"/>
                </a:solidFill>
                <a:latin typeface="Segoe UI"/>
              </a:rPr>
              <a:t>Camadas 3 a 7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rede e aplicação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804672" y="4608576"/>
            <a:ext cx="3008376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1">
                <a:solidFill>
                  <a:srgbClr val="1B2333"/>
                </a:solidFill>
                <a:latin typeface="Segoe UI"/>
              </a:rPr>
              <a:t>Automação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Portal, CLI, Bicep, Terraform</a:t>
            </a:r>
          </a:p>
        </p:txBody>
      </p:sp>
      <p:sp>
        <p:nvSpPr>
          <p:cNvPr id="24" name="Shape"/>
          <p:cNvSpPr/>
          <p:nvPr/>
        </p:nvSpPr>
        <p:spPr>
          <a:xfrm>
            <a:off x="8332927" y="1645920"/>
            <a:ext cx="3310128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Box"/>
          <p:cNvSpPr txBox="1"/>
          <p:nvPr/>
        </p:nvSpPr>
        <p:spPr>
          <a:xfrm>
            <a:off x="8588959" y="1810512"/>
            <a:ext cx="285292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O que faz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8588959" y="2267712"/>
            <a:ext cx="3008376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1">
                <a:solidFill>
                  <a:srgbClr val="1B2333"/>
                </a:solidFill>
                <a:latin typeface="Segoe UI"/>
              </a:rPr>
              <a:t>Filtra IP, porta, FQDN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regras Network e Application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8588959" y="2852928"/>
            <a:ext cx="3008376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1">
                <a:solidFill>
                  <a:srgbClr val="1B2333"/>
                </a:solidFill>
                <a:latin typeface="Segoe UI"/>
              </a:rPr>
              <a:t>Publica e traduz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DNAT entrada · SNAT saída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8588959" y="3438144"/>
            <a:ext cx="3008376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1">
                <a:solidFill>
                  <a:srgbClr val="1B2333"/>
                </a:solidFill>
                <a:latin typeface="Segoe UI"/>
              </a:rPr>
              <a:t>Threat Intelligence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feed da Microsoft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8588959" y="4023360"/>
            <a:ext cx="3008376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1">
                <a:solidFill>
                  <a:srgbClr val="1B2333"/>
                </a:solidFill>
                <a:latin typeface="Segoe UI"/>
              </a:rPr>
              <a:t>Premium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IDPS, TLS e URL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8588959" y="4608576"/>
            <a:ext cx="3008376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1">
                <a:solidFill>
                  <a:srgbClr val="1B2333"/>
                </a:solidFill>
                <a:latin typeface="Segoe UI"/>
              </a:rPr>
              <a:t>Logs e métricas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Log Analytics e Monitor</a:t>
            </a:r>
          </a:p>
        </p:txBody>
      </p:sp>
      <p:sp>
        <p:nvSpPr>
          <p:cNvPr id="31" name="Shape"/>
          <p:cNvSpPr/>
          <p:nvPr/>
        </p:nvSpPr>
        <p:spPr>
          <a:xfrm>
            <a:off x="5364785" y="1664208"/>
            <a:ext cx="14630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Internet</a:t>
            </a:r>
          </a:p>
        </p:txBody>
      </p:sp>
      <p:sp>
        <p:nvSpPr>
          <p:cNvPr id="32" name="Shape"/>
          <p:cNvSpPr/>
          <p:nvPr/>
        </p:nvSpPr>
        <p:spPr>
          <a:xfrm>
            <a:off x="5227625" y="4498848"/>
            <a:ext cx="17373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On-premises</a:t>
            </a:r>
          </a:p>
        </p:txBody>
      </p:sp>
      <p:sp>
        <p:nvSpPr>
          <p:cNvPr id="33" name="Shape"/>
          <p:cNvSpPr/>
          <p:nvPr/>
        </p:nvSpPr>
        <p:spPr>
          <a:xfrm>
            <a:off x="5346497" y="2615184"/>
            <a:ext cx="1499616" cy="12435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4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5794553" y="2697480"/>
            <a:ext cx="603504" cy="603504"/>
          </a:xfrm>
          <a:prstGeom prst="rect">
            <a:avLst/>
          </a:prstGeom>
        </p:spPr>
      </p:pic>
      <p:sp>
        <p:nvSpPr>
          <p:cNvPr id="35" name="TextBox"/>
          <p:cNvSpPr txBox="1"/>
          <p:nvPr/>
        </p:nvSpPr>
        <p:spPr>
          <a:xfrm>
            <a:off x="5364785" y="3383280"/>
            <a:ext cx="14630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0B1B3F"/>
                </a:solidFill>
                <a:latin typeface="Segoe UI"/>
              </a:rPr>
              <a:t>Azure Firewall</a:t>
            </a:r>
          </a:p>
        </p:txBody>
      </p:sp>
      <p:sp>
        <p:nvSpPr>
          <p:cNvPr id="36" name="Shape"/>
          <p:cNvSpPr/>
          <p:nvPr/>
        </p:nvSpPr>
        <p:spPr>
          <a:xfrm>
            <a:off x="5930798" y="2057400"/>
            <a:ext cx="20117" cy="473659"/>
          </a:xfrm>
          <a:prstGeom prst="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 rot="10800000">
            <a:off x="5885993" y="2487168"/>
            <a:ext cx="109728" cy="109728"/>
          </a:xfrm>
          <a:prstGeom prst="triangle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6241694" y="2123237"/>
            <a:ext cx="20117" cy="473659"/>
          </a:xfrm>
          <a:prstGeom prst="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39" name="Shape"/>
          <p:cNvSpPr/>
          <p:nvPr/>
        </p:nvSpPr>
        <p:spPr>
          <a:xfrm>
            <a:off x="6196889" y="2057400"/>
            <a:ext cx="109728" cy="109728"/>
          </a:xfrm>
          <a:prstGeom prst="triangle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40" name="Shape"/>
          <p:cNvSpPr/>
          <p:nvPr/>
        </p:nvSpPr>
        <p:spPr>
          <a:xfrm>
            <a:off x="5930798" y="3877056"/>
            <a:ext cx="20117" cy="537667"/>
          </a:xfrm>
          <a:prstGeom prst="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41" name="Shape"/>
          <p:cNvSpPr/>
          <p:nvPr/>
        </p:nvSpPr>
        <p:spPr>
          <a:xfrm rot="10800000">
            <a:off x="5885993" y="4370832"/>
            <a:ext cx="109728" cy="109728"/>
          </a:xfrm>
          <a:prstGeom prst="triangle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42" name="Shape"/>
          <p:cNvSpPr/>
          <p:nvPr/>
        </p:nvSpPr>
        <p:spPr>
          <a:xfrm>
            <a:off x="6241694" y="3942893"/>
            <a:ext cx="20117" cy="537667"/>
          </a:xfrm>
          <a:prstGeom prst="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43" name="Shape"/>
          <p:cNvSpPr/>
          <p:nvPr/>
        </p:nvSpPr>
        <p:spPr>
          <a:xfrm>
            <a:off x="6196889" y="3877056"/>
            <a:ext cx="109728" cy="109728"/>
          </a:xfrm>
          <a:prstGeom prst="triangle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44" name="TextBox"/>
          <p:cNvSpPr txBox="1"/>
          <p:nvPr/>
        </p:nvSpPr>
        <p:spPr>
          <a:xfrm>
            <a:off x="6416345" y="2176272"/>
            <a:ext cx="1097280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00" b="1">
                <a:solidFill>
                  <a:srgbClr val="0B1B3F"/>
                </a:solidFill>
                <a:latin typeface="Segoe UI"/>
              </a:rPr>
              <a:t>norte-sul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6416345" y="4032504"/>
            <a:ext cx="1097280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00" b="1">
                <a:solidFill>
                  <a:srgbClr val="0B1B3F"/>
                </a:solidFill>
                <a:latin typeface="Segoe UI"/>
              </a:rPr>
              <a:t>norte-sul</a:t>
            </a:r>
          </a:p>
        </p:txBody>
      </p:sp>
      <p:sp>
        <p:nvSpPr>
          <p:cNvPr id="46" name="Shape"/>
          <p:cNvSpPr/>
          <p:nvPr/>
        </p:nvSpPr>
        <p:spPr>
          <a:xfrm>
            <a:off x="4041648" y="2697480"/>
            <a:ext cx="960120" cy="107899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7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4293108" y="2779776"/>
            <a:ext cx="457200" cy="457200"/>
          </a:xfrm>
          <a:prstGeom prst="rect">
            <a:avLst/>
          </a:prstGeom>
        </p:spPr>
      </p:pic>
      <p:sp>
        <p:nvSpPr>
          <p:cNvPr id="48" name="TextBox"/>
          <p:cNvSpPr txBox="1"/>
          <p:nvPr/>
        </p:nvSpPr>
        <p:spPr>
          <a:xfrm>
            <a:off x="4041648" y="3310128"/>
            <a:ext cx="96012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0B1B3F"/>
                </a:solidFill>
                <a:latin typeface="Segoe UI"/>
              </a:rPr>
              <a:t>Spoke A</a:t>
            </a:r>
          </a:p>
        </p:txBody>
      </p:sp>
      <p:sp>
        <p:nvSpPr>
          <p:cNvPr id="49" name="Shape"/>
          <p:cNvSpPr/>
          <p:nvPr/>
        </p:nvSpPr>
        <p:spPr>
          <a:xfrm>
            <a:off x="7191756" y="2697480"/>
            <a:ext cx="960120" cy="107899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50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7443216" y="2779776"/>
            <a:ext cx="457200" cy="457200"/>
          </a:xfrm>
          <a:prstGeom prst="rect">
            <a:avLst/>
          </a:prstGeom>
        </p:spPr>
      </p:pic>
      <p:sp>
        <p:nvSpPr>
          <p:cNvPr id="51" name="TextBox"/>
          <p:cNvSpPr txBox="1"/>
          <p:nvPr/>
        </p:nvSpPr>
        <p:spPr>
          <a:xfrm>
            <a:off x="7191756" y="3310128"/>
            <a:ext cx="96012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0B1B3F"/>
                </a:solidFill>
                <a:latin typeface="Segoe UI"/>
              </a:rPr>
              <a:t>Spoke B</a:t>
            </a:r>
          </a:p>
        </p:txBody>
      </p:sp>
      <p:sp>
        <p:nvSpPr>
          <p:cNvPr id="52" name="Shape"/>
          <p:cNvSpPr/>
          <p:nvPr/>
        </p:nvSpPr>
        <p:spPr>
          <a:xfrm>
            <a:off x="5020056" y="3236062"/>
            <a:ext cx="242316" cy="20117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53" name="Shape"/>
          <p:cNvSpPr/>
          <p:nvPr/>
        </p:nvSpPr>
        <p:spPr>
          <a:xfrm rot="5400000">
            <a:off x="5218481" y="3191256"/>
            <a:ext cx="109728" cy="109728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54" name="Shape"/>
          <p:cNvSpPr/>
          <p:nvPr/>
        </p:nvSpPr>
        <p:spPr>
          <a:xfrm>
            <a:off x="6864401" y="3236062"/>
            <a:ext cx="238658" cy="20117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55" name="Shape"/>
          <p:cNvSpPr/>
          <p:nvPr/>
        </p:nvSpPr>
        <p:spPr>
          <a:xfrm rot="5400000">
            <a:off x="7059168" y="3191256"/>
            <a:ext cx="109728" cy="109728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56" name="TextBox"/>
          <p:cNvSpPr txBox="1"/>
          <p:nvPr/>
        </p:nvSpPr>
        <p:spPr>
          <a:xfrm>
            <a:off x="3840480" y="3877056"/>
            <a:ext cx="137160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0F6CBD"/>
                </a:solidFill>
                <a:latin typeface="Segoe UI"/>
              </a:rPr>
              <a:t>leste-oeste</a:t>
            </a:r>
          </a:p>
        </p:txBody>
      </p:sp>
      <p:sp>
        <p:nvSpPr>
          <p:cNvPr id="57" name="Shape"/>
          <p:cNvSpPr/>
          <p:nvPr/>
        </p:nvSpPr>
        <p:spPr>
          <a:xfrm>
            <a:off x="4676661" y="4965192"/>
            <a:ext cx="2839288" cy="310896"/>
          </a:xfrm>
          <a:prstGeom prst="roundRect">
            <a:avLst/>
          </a:prstGeom>
          <a:solidFill>
            <a:srgbClr val="FCECEA"/>
          </a:solidFill>
          <a:ln w="12700">
            <a:solidFill>
              <a:srgbClr val="C42B1C"/>
            </a:solidFill>
          </a:ln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A32418"/>
                </a:solidFill>
                <a:latin typeface="Segoe UI"/>
              </a:rPr>
              <a:t>tudo é negado por padrão</a:t>
            </a:r>
          </a:p>
        </p:txBody>
      </p:sp>
      <p:sp>
        <p:nvSpPr>
          <p:cNvPr id="58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ABERTURA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Basic, Standard e Premium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Escolha pelo requisito, não pelo nome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4</a:t>
            </a: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Escolha pelo requisito, não pelo nome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Basic: dev/teste e pequenas empresas · Standard: produção · Premium: ambiente regulado (PCI DSS)</a:t>
            </a:r>
          </a:p>
        </p:txBody>
      </p:sp>
      <p:sp>
        <p:nvSpPr>
          <p:cNvPr id="17" name="Shape"/>
          <p:cNvSpPr/>
          <p:nvPr/>
        </p:nvSpPr>
        <p:spPr>
          <a:xfrm>
            <a:off x="9366199" y="1645920"/>
            <a:ext cx="2221992" cy="3657600"/>
          </a:xfrm>
          <a:prstGeom prst="rect">
            <a:avLst/>
          </a:prstGeom>
          <a:solidFill>
            <a:srgbClr val="EFF6FC"/>
          </a:solidFill>
          <a:ln w="1905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Shape"/>
          <p:cNvSpPr/>
          <p:nvPr/>
        </p:nvSpPr>
        <p:spPr>
          <a:xfrm>
            <a:off x="548640" y="2633472"/>
            <a:ext cx="11094415" cy="329184"/>
          </a:xfrm>
          <a:prstGeom prst="rect">
            <a:avLst/>
          </a:prstGeom>
          <a:solidFill>
            <a:srgbClr val="0B1B3F">
              <a:alpha val="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Shape"/>
          <p:cNvSpPr/>
          <p:nvPr/>
        </p:nvSpPr>
        <p:spPr>
          <a:xfrm>
            <a:off x="548640" y="3291840"/>
            <a:ext cx="11094415" cy="329184"/>
          </a:xfrm>
          <a:prstGeom prst="rect">
            <a:avLst/>
          </a:prstGeom>
          <a:solidFill>
            <a:srgbClr val="0B1B3F">
              <a:alpha val="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Shape"/>
          <p:cNvSpPr/>
          <p:nvPr/>
        </p:nvSpPr>
        <p:spPr>
          <a:xfrm>
            <a:off x="548640" y="3950208"/>
            <a:ext cx="11094415" cy="329184"/>
          </a:xfrm>
          <a:prstGeom prst="rect">
            <a:avLst/>
          </a:prstGeom>
          <a:solidFill>
            <a:srgbClr val="0B1B3F">
              <a:alpha val="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Shape"/>
          <p:cNvSpPr/>
          <p:nvPr/>
        </p:nvSpPr>
        <p:spPr>
          <a:xfrm>
            <a:off x="548640" y="4608576"/>
            <a:ext cx="11094415" cy="329184"/>
          </a:xfrm>
          <a:prstGeom prst="rect">
            <a:avLst/>
          </a:prstGeom>
          <a:solidFill>
            <a:srgbClr val="0B1B3F">
              <a:alpha val="400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22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5621731" y="1709928"/>
            <a:ext cx="384048" cy="384048"/>
          </a:xfrm>
          <a:prstGeom prst="rect">
            <a:avLst/>
          </a:prstGeom>
        </p:spPr>
      </p:pic>
      <p:sp>
        <p:nvSpPr>
          <p:cNvPr id="23" name="TextBox"/>
          <p:cNvSpPr txBox="1"/>
          <p:nvPr/>
        </p:nvSpPr>
        <p:spPr>
          <a:xfrm>
            <a:off x="4739335" y="2103120"/>
            <a:ext cx="2148840" cy="475488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600" b="1">
                <a:solidFill>
                  <a:srgbClr val="0B1B3F"/>
                </a:solidFill>
                <a:latin typeface="Segoe UI"/>
              </a:rPr>
              <a:t>Basic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até 250 Mbps</a:t>
            </a:r>
          </a:p>
        </p:txBody>
      </p:sp>
      <p:pic>
        <p:nvPicPr>
          <p:cNvPr id="24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953451" y="1709928"/>
            <a:ext cx="384048" cy="384048"/>
          </a:xfrm>
          <a:prstGeom prst="rect">
            <a:avLst/>
          </a:prstGeom>
        </p:spPr>
      </p:pic>
      <p:sp>
        <p:nvSpPr>
          <p:cNvPr id="25" name="TextBox"/>
          <p:cNvSpPr txBox="1"/>
          <p:nvPr/>
        </p:nvSpPr>
        <p:spPr>
          <a:xfrm>
            <a:off x="7071055" y="2103120"/>
            <a:ext cx="2148840" cy="475488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600" b="1">
                <a:solidFill>
                  <a:srgbClr val="0B1B3F"/>
                </a:solidFill>
                <a:latin typeface="Segoe UI"/>
              </a:rPr>
              <a:t>Standard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até 30 Gbps</a:t>
            </a:r>
          </a:p>
        </p:txBody>
      </p:sp>
      <p:pic>
        <p:nvPicPr>
          <p:cNvPr id="26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10285171" y="1709928"/>
            <a:ext cx="384048" cy="384048"/>
          </a:xfrm>
          <a:prstGeom prst="rect">
            <a:avLst/>
          </a:prstGeom>
        </p:spPr>
      </p:pic>
      <p:sp>
        <p:nvSpPr>
          <p:cNvPr id="27" name="TextBox"/>
          <p:cNvSpPr txBox="1"/>
          <p:nvPr/>
        </p:nvSpPr>
        <p:spPr>
          <a:xfrm>
            <a:off x="9402775" y="2103120"/>
            <a:ext cx="2148840" cy="475488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600" b="1">
                <a:solidFill>
                  <a:srgbClr val="0F6CBD"/>
                </a:solidFill>
                <a:latin typeface="Segoe UI"/>
              </a:rPr>
              <a:t>Premium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até 100 Gbps</a:t>
            </a:r>
          </a:p>
        </p:txBody>
      </p:sp>
      <p:sp>
        <p:nvSpPr>
          <p:cNvPr id="28" name="Shape"/>
          <p:cNvSpPr/>
          <p:nvPr/>
        </p:nvSpPr>
        <p:spPr>
          <a:xfrm>
            <a:off x="548640" y="2599639"/>
            <a:ext cx="11094415" cy="12802"/>
          </a:xfrm>
          <a:prstGeom prst="rect">
            <a:avLst/>
          </a:prstGeom>
          <a:solidFill>
            <a:srgbClr val="D5DDE8"/>
          </a:solidFill>
        </p:spPr>
        <p:txBody>
          <a:bodyPr/>
          <a:lstStyle/>
          <a:p>
            <a:endParaRPr/>
          </a:p>
        </p:txBody>
      </p:sp>
      <p:sp>
        <p:nvSpPr>
          <p:cNvPr id="29" name="TextBox"/>
          <p:cNvSpPr txBox="1"/>
          <p:nvPr/>
        </p:nvSpPr>
        <p:spPr>
          <a:xfrm>
            <a:off x="731520" y="2633472"/>
            <a:ext cx="3824935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Threat Intelligence</a:t>
            </a:r>
          </a:p>
        </p:txBody>
      </p:sp>
      <p:sp>
        <p:nvSpPr>
          <p:cNvPr id="30" name="Shape"/>
          <p:cNvSpPr/>
          <p:nvPr/>
        </p:nvSpPr>
        <p:spPr>
          <a:xfrm>
            <a:off x="5246827" y="2674620"/>
            <a:ext cx="1133856" cy="246888"/>
          </a:xfrm>
          <a:prstGeom prst="roundRect">
            <a:avLst/>
          </a:prstGeom>
          <a:solidFill>
            <a:srgbClr val="FDF2E4"/>
          </a:solidFill>
          <a:ln w="12700">
            <a:solidFill>
              <a:srgbClr val="B45309"/>
            </a:solidFill>
          </a:ln>
        </p:spPr>
        <p:txBody>
          <a:bodyPr lIns="0" tIns="0" rIns="0" bIns="0" anchor="ctr"/>
          <a:lstStyle/>
          <a:p>
            <a:pPr algn="ctr"/>
            <a:r>
              <a:rPr sz="1250" b="1">
                <a:solidFill>
                  <a:srgbClr val="9A4507"/>
                </a:solidFill>
                <a:latin typeface="Segoe UI"/>
              </a:rPr>
              <a:t>só Alert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7779715" y="2633472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0111435" y="2633472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731520" y="2962656"/>
            <a:ext cx="3824935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FQDN em network rules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5447995" y="2962656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5C6B7F"/>
                </a:solidFill>
                <a:latin typeface="Segoe UI"/>
              </a:rPr>
              <a:t>—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7779715" y="2962656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0111435" y="2962656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731520" y="3291840"/>
            <a:ext cx="3824935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DNS Proxy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5447995" y="3291840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5C6B7F"/>
                </a:solidFill>
                <a:latin typeface="Segoe UI"/>
              </a:rPr>
              <a:t>—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7779715" y="3291840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10111435" y="3291840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731520" y="3621024"/>
            <a:ext cx="3824935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Web categories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5447995" y="3621024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5C6B7F"/>
                </a:solidFill>
                <a:latin typeface="Segoe UI"/>
              </a:rPr>
              <a:t>—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7779715" y="3621024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10111435" y="3621024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731520" y="3950208"/>
            <a:ext cx="3824935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Explicit proxy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5447995" y="3950208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5C6B7F"/>
                </a:solidFill>
                <a:latin typeface="Segoe UI"/>
              </a:rPr>
              <a:t>—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7779715" y="3950208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0111435" y="3950208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731520" y="4279392"/>
            <a:ext cx="3824935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IDPS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5447995" y="4279392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5C6B7F"/>
                </a:solidFill>
                <a:latin typeface="Segoe UI"/>
              </a:rPr>
              <a:t>—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7779715" y="4279392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5C6B7F"/>
                </a:solidFill>
                <a:latin typeface="Segoe UI"/>
              </a:rPr>
              <a:t>—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0111435" y="4279392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731520" y="4608576"/>
            <a:ext cx="3824935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TLS inspection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5447995" y="4608576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5C6B7F"/>
                </a:solidFill>
                <a:latin typeface="Segoe UI"/>
              </a:rPr>
              <a:t>—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7779715" y="4608576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5C6B7F"/>
                </a:solidFill>
                <a:latin typeface="Segoe UI"/>
              </a:rPr>
              <a:t>—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10111435" y="4608576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731520" y="4937760"/>
            <a:ext cx="3824935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URL filtering</a:t>
            </a:r>
          </a:p>
        </p:txBody>
      </p:sp>
      <p:sp>
        <p:nvSpPr>
          <p:cNvPr id="58" name="TextBox"/>
          <p:cNvSpPr txBox="1"/>
          <p:nvPr/>
        </p:nvSpPr>
        <p:spPr>
          <a:xfrm>
            <a:off x="5447995" y="4937760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5C6B7F"/>
                </a:solidFill>
                <a:latin typeface="Segoe UI"/>
              </a:rPr>
              <a:t>—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7779715" y="4937760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5C6B7F"/>
                </a:solidFill>
                <a:latin typeface="Segoe UI"/>
              </a:rPr>
              <a:t>—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10111435" y="4937760"/>
            <a:ext cx="73152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107C10"/>
                </a:solidFill>
                <a:latin typeface="Segoe UI"/>
              </a:rPr>
              <a:t>✓</a:t>
            </a:r>
          </a:p>
        </p:txBody>
      </p:sp>
      <p:sp>
        <p:nvSpPr>
          <p:cNvPr id="61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62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SKUS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Escala: throughput, fat flow e prescaling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Quanto o firewall aguenta e como ele cresce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5</a:t>
            </a: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Throughput agregado não é throughput de uma conexão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Prescaling para picos previsíveis; acompanhe pela métrica Observed Capacity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5432908" cy="157276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Box"/>
          <p:cNvSpPr txBox="1"/>
          <p:nvPr/>
        </p:nvSpPr>
        <p:spPr>
          <a:xfrm>
            <a:off x="822960" y="1792224"/>
            <a:ext cx="488426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Throughput agregado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22960" y="2212848"/>
            <a:ext cx="4884268" cy="86868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Basic: até 250 Mbps</a:t>
            </a:r>
          </a:p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Standard: até 30 Gbps</a:t>
            </a:r>
          </a:p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Premium: até 100 Gbps</a:t>
            </a:r>
          </a:p>
        </p:txBody>
      </p:sp>
      <p:sp>
        <p:nvSpPr>
          <p:cNvPr id="20" name="Shape"/>
          <p:cNvSpPr/>
          <p:nvPr/>
        </p:nvSpPr>
        <p:spPr>
          <a:xfrm>
            <a:off x="6210148" y="1645920"/>
            <a:ext cx="5432908" cy="157276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Box"/>
          <p:cNvSpPr txBox="1"/>
          <p:nvPr/>
        </p:nvSpPr>
        <p:spPr>
          <a:xfrm>
            <a:off x="6484468" y="1792224"/>
            <a:ext cx="488426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Fat flow · uma conexão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6484468" y="2212848"/>
            <a:ext cx="4884268" cy="86868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Basic: não se aplica</a:t>
            </a:r>
          </a:p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Standard: até 1 Gbps</a:t>
            </a:r>
          </a:p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Premium: até 10 Gbps</a:t>
            </a:r>
          </a:p>
        </p:txBody>
      </p:sp>
      <p:sp>
        <p:nvSpPr>
          <p:cNvPr id="23" name="Shape"/>
          <p:cNvSpPr/>
          <p:nvPr/>
        </p:nvSpPr>
        <p:spPr>
          <a:xfrm>
            <a:off x="548640" y="3401568"/>
            <a:ext cx="11094415" cy="190195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Box"/>
          <p:cNvSpPr txBox="1"/>
          <p:nvPr/>
        </p:nvSpPr>
        <p:spPr>
          <a:xfrm>
            <a:off x="822960" y="3529584"/>
            <a:ext cx="73152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Prescaling: capacidade mínima e máxima</a:t>
            </a:r>
          </a:p>
        </p:txBody>
      </p:sp>
      <p:sp>
        <p:nvSpPr>
          <p:cNvPr id="25" name="Shape"/>
          <p:cNvSpPr/>
          <p:nvPr/>
        </p:nvSpPr>
        <p:spPr>
          <a:xfrm>
            <a:off x="1325880" y="4416552"/>
            <a:ext cx="9537192" cy="91440"/>
          </a:xfrm>
          <a:prstGeom prst="rect">
            <a:avLst/>
          </a:prstGeom>
          <a:solidFill>
            <a:srgbClr val="D3DCE8"/>
          </a:solidFill>
        </p:spPr>
        <p:txBody>
          <a:bodyPr/>
          <a:lstStyle/>
          <a:p>
            <a:endParaRPr/>
          </a:p>
        </p:txBody>
      </p:sp>
      <p:sp>
        <p:nvSpPr>
          <p:cNvPr id="26" name="Shape"/>
          <p:cNvSpPr/>
          <p:nvPr/>
        </p:nvSpPr>
        <p:spPr>
          <a:xfrm>
            <a:off x="4187038" y="4416552"/>
            <a:ext cx="3814877" cy="9144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>
            <a:off x="1314907" y="4352544"/>
            <a:ext cx="21946" cy="219456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>
            <a:off x="10852099" y="4352544"/>
            <a:ext cx="21946" cy="219456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9" name="Shape"/>
          <p:cNvSpPr/>
          <p:nvPr/>
        </p:nvSpPr>
        <p:spPr>
          <a:xfrm>
            <a:off x="3620110" y="3931920"/>
            <a:ext cx="1133856" cy="329184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mínimo</a:t>
            </a:r>
          </a:p>
        </p:txBody>
      </p:sp>
      <p:sp>
        <p:nvSpPr>
          <p:cNvPr id="30" name="Shape"/>
          <p:cNvSpPr/>
          <p:nvPr/>
        </p:nvSpPr>
        <p:spPr>
          <a:xfrm>
            <a:off x="4177894" y="4261104"/>
            <a:ext cx="18288" cy="155448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1" name="Shape"/>
          <p:cNvSpPr/>
          <p:nvPr/>
        </p:nvSpPr>
        <p:spPr>
          <a:xfrm>
            <a:off x="7434986" y="3931920"/>
            <a:ext cx="1133856" cy="329184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máximo</a:t>
            </a:r>
          </a:p>
        </p:txBody>
      </p:sp>
      <p:sp>
        <p:nvSpPr>
          <p:cNvPr id="32" name="Shape"/>
          <p:cNvSpPr/>
          <p:nvPr/>
        </p:nvSpPr>
        <p:spPr>
          <a:xfrm>
            <a:off x="7992770" y="4261104"/>
            <a:ext cx="18288" cy="155448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3" name="TextBox"/>
          <p:cNvSpPr txBox="1"/>
          <p:nvPr/>
        </p:nvSpPr>
        <p:spPr>
          <a:xfrm>
            <a:off x="960120" y="4608576"/>
            <a:ext cx="73152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3B4A5E"/>
                </a:solidFill>
                <a:latin typeface="Segoe UI"/>
              </a:rPr>
              <a:t>2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0497312" y="4608576"/>
            <a:ext cx="73152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3B4A5E"/>
                </a:solidFill>
                <a:latin typeface="Segoe UI"/>
              </a:rPr>
              <a:t>50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4187038" y="4608576"/>
            <a:ext cx="3814877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0F6CBD"/>
                </a:solidFill>
                <a:latin typeface="Segoe UI"/>
              </a:rPr>
              <a:t>o autoscale trabalha entre os dois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822960" y="4937760"/>
            <a:ext cx="10545775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capacity units de 2 a 50 · mínimo igual ao máximo = capacidade fixa</a:t>
            </a:r>
          </a:p>
        </p:txBody>
      </p:sp>
      <p:sp>
        <p:nvSpPr>
          <p:cNvPr id="37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SKUS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Mudança de SKU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Upgrade e downgrade, e o caso especial do Basic</a:t>
            </a:r>
            <a:endParaRPr lang="en-US" sz="1600"/>
          </a:p>
        </p:txBody>
      </p:sp>
      <p:sp>
        <p:nvSpPr>
          <p:cNvPr id="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SKUS</a:t>
            </a:r>
          </a:p>
        </p:txBody>
      </p:sp>
      <p:sp>
        <p:nvSpPr>
          <p:cNvPr id="6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6</a:t>
            </a:r>
          </a:p>
        </p:txBody>
      </p:sp>
      <p:sp>
        <p:nvSpPr>
          <p:cNvPr id="15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6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7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Standard ⇄ Premium é simples; o Basic é o caso especial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Faça em janela de manutenção e teste antes fora de produção</a:t>
            </a:r>
          </a:p>
        </p:txBody>
      </p:sp>
      <p:sp>
        <p:nvSpPr>
          <p:cNvPr id="18" name="Shape"/>
          <p:cNvSpPr/>
          <p:nvPr/>
        </p:nvSpPr>
        <p:spPr>
          <a:xfrm>
            <a:off x="548640" y="1645920"/>
            <a:ext cx="2514600" cy="9144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9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04672" y="1828800"/>
            <a:ext cx="548640" cy="548640"/>
          </a:xfrm>
          <a:prstGeom prst="rect">
            <a:avLst/>
          </a:prstGeom>
        </p:spPr>
      </p:pic>
      <p:sp>
        <p:nvSpPr>
          <p:cNvPr id="20" name="TextBox"/>
          <p:cNvSpPr txBox="1"/>
          <p:nvPr/>
        </p:nvSpPr>
        <p:spPr>
          <a:xfrm>
            <a:off x="1508760" y="1828800"/>
            <a:ext cx="1463040" cy="548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Basic</a:t>
            </a:r>
          </a:p>
        </p:txBody>
      </p:sp>
      <p:sp>
        <p:nvSpPr>
          <p:cNvPr id="21" name="Shape"/>
          <p:cNvSpPr/>
          <p:nvPr/>
        </p:nvSpPr>
        <p:spPr>
          <a:xfrm>
            <a:off x="4663440" y="1645920"/>
            <a:ext cx="2514600" cy="9144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4919472" y="1828800"/>
            <a:ext cx="548640" cy="548640"/>
          </a:xfrm>
          <a:prstGeom prst="rect">
            <a:avLst/>
          </a:prstGeom>
        </p:spPr>
      </p:pic>
      <p:sp>
        <p:nvSpPr>
          <p:cNvPr id="23" name="TextBox"/>
          <p:cNvSpPr txBox="1"/>
          <p:nvPr/>
        </p:nvSpPr>
        <p:spPr>
          <a:xfrm>
            <a:off x="5623560" y="1828800"/>
            <a:ext cx="1463040" cy="548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Standard</a:t>
            </a:r>
          </a:p>
        </p:txBody>
      </p:sp>
      <p:sp>
        <p:nvSpPr>
          <p:cNvPr id="24" name="Shape"/>
          <p:cNvSpPr/>
          <p:nvPr/>
        </p:nvSpPr>
        <p:spPr>
          <a:xfrm>
            <a:off x="9128455" y="1645920"/>
            <a:ext cx="2514600" cy="9144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5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9384487" y="1828800"/>
            <a:ext cx="548640" cy="548640"/>
          </a:xfrm>
          <a:prstGeom prst="rect">
            <a:avLst/>
          </a:prstGeom>
        </p:spPr>
      </p:pic>
      <p:sp>
        <p:nvSpPr>
          <p:cNvPr id="26" name="TextBox"/>
          <p:cNvSpPr txBox="1"/>
          <p:nvPr/>
        </p:nvSpPr>
        <p:spPr>
          <a:xfrm>
            <a:off x="10088575" y="1828800"/>
            <a:ext cx="1463040" cy="548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Premium</a:t>
            </a:r>
          </a:p>
        </p:txBody>
      </p:sp>
      <p:sp>
        <p:nvSpPr>
          <p:cNvPr id="27" name="Shape"/>
          <p:cNvSpPr/>
          <p:nvPr/>
        </p:nvSpPr>
        <p:spPr>
          <a:xfrm>
            <a:off x="7251192" y="1799082"/>
            <a:ext cx="1732788" cy="22860"/>
          </a:xfrm>
          <a:prstGeom prst="rect">
            <a:avLst/>
          </a:prstGeom>
          <a:solidFill>
            <a:srgbClr val="107C10"/>
          </a:solidFill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 rot="5400000">
            <a:off x="8936431" y="1751076"/>
            <a:ext cx="118872" cy="118872"/>
          </a:xfrm>
          <a:prstGeom prst="triangle">
            <a:avLst/>
          </a:prstGeom>
          <a:solidFill>
            <a:srgbClr val="107C10"/>
          </a:solidFill>
        </p:spPr>
        <p:txBody>
          <a:bodyPr/>
          <a:lstStyle/>
          <a:p>
            <a:endParaRPr/>
          </a:p>
        </p:txBody>
      </p:sp>
      <p:sp>
        <p:nvSpPr>
          <p:cNvPr id="29" name="Shape"/>
          <p:cNvSpPr/>
          <p:nvPr/>
        </p:nvSpPr>
        <p:spPr>
          <a:xfrm>
            <a:off x="7322515" y="2384298"/>
            <a:ext cx="1732788" cy="22860"/>
          </a:xfrm>
          <a:prstGeom prst="rect">
            <a:avLst/>
          </a:prstGeom>
          <a:solidFill>
            <a:srgbClr val="107C10"/>
          </a:solidFill>
        </p:spPr>
        <p:txBody>
          <a:bodyPr/>
          <a:lstStyle/>
          <a:p>
            <a:endParaRPr/>
          </a:p>
        </p:txBody>
      </p:sp>
      <p:sp>
        <p:nvSpPr>
          <p:cNvPr id="30" name="Shape"/>
          <p:cNvSpPr/>
          <p:nvPr/>
        </p:nvSpPr>
        <p:spPr>
          <a:xfrm rot="16200000">
            <a:off x="7251192" y="2336292"/>
            <a:ext cx="118872" cy="118872"/>
          </a:xfrm>
          <a:prstGeom prst="triangle">
            <a:avLst/>
          </a:prstGeom>
          <a:solidFill>
            <a:srgbClr val="107C10"/>
          </a:solidFill>
        </p:spPr>
        <p:txBody>
          <a:bodyPr/>
          <a:lstStyle/>
          <a:p>
            <a:endParaRPr/>
          </a:p>
        </p:txBody>
      </p:sp>
      <p:sp>
        <p:nvSpPr>
          <p:cNvPr id="31" name="TextBox"/>
          <p:cNvSpPr txBox="1"/>
          <p:nvPr/>
        </p:nvSpPr>
        <p:spPr>
          <a:xfrm>
            <a:off x="7251192" y="1956816"/>
            <a:ext cx="1804111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0E6A0E"/>
                </a:solidFill>
                <a:latin typeface="Segoe UI"/>
              </a:rPr>
              <a:t>Change SKU</a:t>
            </a:r>
          </a:p>
        </p:txBody>
      </p:sp>
      <p:sp>
        <p:nvSpPr>
          <p:cNvPr id="32" name="Shape"/>
          <p:cNvSpPr/>
          <p:nvPr/>
        </p:nvSpPr>
        <p:spPr>
          <a:xfrm>
            <a:off x="548640" y="2816352"/>
            <a:ext cx="5432908" cy="786384"/>
          </a:xfrm>
          <a:prstGeom prst="rect">
            <a:avLst/>
          </a:prstGeom>
          <a:solidFill>
            <a:srgbClr val="E9F4E9"/>
          </a:solidFill>
          <a:ln w="15875">
            <a:solidFill>
              <a:srgbClr val="107C1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731520" y="2980944"/>
            <a:ext cx="457200" cy="457200"/>
          </a:xfrm>
          <a:prstGeom prst="ellipse">
            <a:avLst/>
          </a:prstGeom>
          <a:solidFill>
            <a:srgbClr val="107C10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325880" y="2871216"/>
            <a:ext cx="4518508" cy="6766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E6A0E"/>
                </a:solidFill>
                <a:latin typeface="Segoe UI"/>
              </a:rPr>
              <a:t>Standard ⇄ Premium</a:t>
            </a:r>
          </a:p>
          <a:p>
            <a:pPr algn="l"/>
            <a:r>
              <a:rPr sz="1400" b="0">
                <a:solidFill>
                  <a:srgbClr val="1B2333"/>
                </a:solidFill>
                <a:latin typeface="Segoe UI"/>
              </a:rPr>
              <a:t>Change SKU sem downtime; exige Firewall Policy</a:t>
            </a:r>
          </a:p>
        </p:txBody>
      </p:sp>
      <p:sp>
        <p:nvSpPr>
          <p:cNvPr id="35" name="Shape"/>
          <p:cNvSpPr/>
          <p:nvPr/>
        </p:nvSpPr>
        <p:spPr>
          <a:xfrm>
            <a:off x="6210148" y="2816352"/>
            <a:ext cx="5432908" cy="786384"/>
          </a:xfrm>
          <a:prstGeom prst="rect">
            <a:avLst/>
          </a:prstGeom>
          <a:solidFill>
            <a:srgbClr val="FDF2E4"/>
          </a:solidFill>
          <a:ln w="15875">
            <a:solidFill>
              <a:srgbClr val="B4530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Shape"/>
          <p:cNvSpPr/>
          <p:nvPr/>
        </p:nvSpPr>
        <p:spPr>
          <a:xfrm>
            <a:off x="6393028" y="2980944"/>
            <a:ext cx="457200" cy="457200"/>
          </a:xfrm>
          <a:prstGeom prst="ellipse">
            <a:avLst/>
          </a:prstGeom>
          <a:solidFill>
            <a:srgbClr val="B45309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6987388" y="2871216"/>
            <a:ext cx="4518508" cy="6766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9A4507"/>
                </a:solidFill>
                <a:latin typeface="Segoe UI"/>
              </a:rPr>
              <a:t>Basic → Premium</a:t>
            </a:r>
          </a:p>
          <a:p>
            <a:pPr algn="l"/>
            <a:r>
              <a:rPr sz="1400" b="0">
                <a:solidFill>
                  <a:srgbClr val="1B2333"/>
                </a:solidFill>
                <a:latin typeface="Segoe UI"/>
              </a:rPr>
              <a:t>só pelo fluxo de stop/start</a:t>
            </a:r>
          </a:p>
        </p:txBody>
      </p:sp>
      <p:sp>
        <p:nvSpPr>
          <p:cNvPr id="38" name="Shape"/>
          <p:cNvSpPr/>
          <p:nvPr/>
        </p:nvSpPr>
        <p:spPr>
          <a:xfrm>
            <a:off x="548640" y="3749040"/>
            <a:ext cx="5432908" cy="786384"/>
          </a:xfrm>
          <a:prstGeom prst="rect">
            <a:avLst/>
          </a:prstGeom>
          <a:solidFill>
            <a:srgbClr val="FCECEA"/>
          </a:solidFill>
          <a:ln w="15875">
            <a:solidFill>
              <a:srgbClr val="C42B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Shape"/>
          <p:cNvSpPr/>
          <p:nvPr/>
        </p:nvSpPr>
        <p:spPr>
          <a:xfrm>
            <a:off x="731520" y="3913632"/>
            <a:ext cx="457200" cy="457200"/>
          </a:xfrm>
          <a:prstGeom prst="ellipse">
            <a:avLst/>
          </a:prstGeom>
          <a:solidFill>
            <a:srgbClr val="C42B1C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1325880" y="3803904"/>
            <a:ext cx="4518508" cy="6766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A32418"/>
                </a:solidFill>
                <a:latin typeface="Segoe UI"/>
              </a:rPr>
              <a:t>Basic → Standard</a:t>
            </a:r>
          </a:p>
          <a:p>
            <a:pPr algn="l"/>
            <a:r>
              <a:rPr sz="1400" b="0">
                <a:solidFill>
                  <a:srgbClr val="1B2333"/>
                </a:solidFill>
                <a:latin typeface="Segoe UI"/>
              </a:rPr>
              <a:t>não suportado</a:t>
            </a:r>
          </a:p>
        </p:txBody>
      </p:sp>
      <p:sp>
        <p:nvSpPr>
          <p:cNvPr id="41" name="Shape"/>
          <p:cNvSpPr/>
          <p:nvPr/>
        </p:nvSpPr>
        <p:spPr>
          <a:xfrm>
            <a:off x="6210148" y="3749040"/>
            <a:ext cx="5432908" cy="786384"/>
          </a:xfrm>
          <a:prstGeom prst="rect">
            <a:avLst/>
          </a:prstGeom>
          <a:solidFill>
            <a:srgbClr val="FDF2E4"/>
          </a:solidFill>
          <a:ln w="15875">
            <a:solidFill>
              <a:srgbClr val="B4530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Shape"/>
          <p:cNvSpPr/>
          <p:nvPr/>
        </p:nvSpPr>
        <p:spPr>
          <a:xfrm>
            <a:off x="6393028" y="3913632"/>
            <a:ext cx="457200" cy="457200"/>
          </a:xfrm>
          <a:prstGeom prst="ellipse">
            <a:avLst/>
          </a:prstGeom>
          <a:solidFill>
            <a:srgbClr val="B45309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6987388" y="3803904"/>
            <a:ext cx="4518508" cy="6766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9A4507"/>
                </a:solidFill>
                <a:latin typeface="Segoe UI"/>
              </a:rPr>
              <a:t>Standard ou Premium → Basic</a:t>
            </a:r>
          </a:p>
          <a:p>
            <a:pPr algn="l"/>
            <a:r>
              <a:rPr sz="1400" b="0">
                <a:solidFill>
                  <a:srgbClr val="1B2333"/>
                </a:solidFill>
                <a:latin typeface="Segoe UI"/>
              </a:rPr>
              <a:t>só por PowerShell ou Terraform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548640" y="4754880"/>
            <a:ext cx="11094415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Downgrade: a policy precisa ser compatível com o SKU de destino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Hub-spoke em VNet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O Azure Firewall no hub que você gerencia</a:t>
            </a:r>
            <a:endParaRPr lang="en-US" sz="1600"/>
          </a:p>
        </p:txBody>
      </p:sp>
      <p:sp>
        <p:nvSpPr>
          <p:cNvPr id="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ARQUITETURA</a:t>
            </a:r>
          </a:p>
        </p:txBody>
      </p:sp>
      <p:sp>
        <p:nvSpPr>
          <p:cNvPr id="6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7</a:t>
            </a:r>
          </a:p>
        </p:txBody>
      </p:sp>
      <p:sp>
        <p:nvSpPr>
          <p:cNvPr id="15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6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7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Você mantém o hub, os peerings e a UDR de cada spoke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Sem UDR, o tráfego não passa pelo firewall</a:t>
            </a:r>
          </a:p>
        </p:txBody>
      </p:sp>
      <p:sp>
        <p:nvSpPr>
          <p:cNvPr id="18" name="Shape"/>
          <p:cNvSpPr/>
          <p:nvPr/>
        </p:nvSpPr>
        <p:spPr>
          <a:xfrm>
            <a:off x="5623560" y="1645920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Internet</a:t>
            </a:r>
          </a:p>
        </p:txBody>
      </p:sp>
      <p:sp>
        <p:nvSpPr>
          <p:cNvPr id="19" name="Shape"/>
          <p:cNvSpPr/>
          <p:nvPr/>
        </p:nvSpPr>
        <p:spPr>
          <a:xfrm>
            <a:off x="548640" y="2304288"/>
            <a:ext cx="2880360" cy="20116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49808" y="2468880"/>
            <a:ext cx="329184" cy="329184"/>
          </a:xfrm>
          <a:prstGeom prst="rect">
            <a:avLst/>
          </a:prstGeom>
        </p:spPr>
      </p:pic>
      <p:sp>
        <p:nvSpPr>
          <p:cNvPr id="21" name="TextBox"/>
          <p:cNvSpPr txBox="1"/>
          <p:nvPr/>
        </p:nvSpPr>
        <p:spPr>
          <a:xfrm>
            <a:off x="1170432" y="2450592"/>
            <a:ext cx="18288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Spoke A</a:t>
            </a:r>
          </a:p>
        </p:txBody>
      </p:sp>
      <p:sp>
        <p:nvSpPr>
          <p:cNvPr id="22" name="Shape"/>
          <p:cNvSpPr/>
          <p:nvPr/>
        </p:nvSpPr>
        <p:spPr>
          <a:xfrm>
            <a:off x="1613916" y="2825496"/>
            <a:ext cx="749808" cy="7498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1756380" y="2967960"/>
            <a:ext cx="464881" cy="464881"/>
          </a:xfrm>
          <a:prstGeom prst="rect">
            <a:avLst/>
          </a:prstGeom>
        </p:spPr>
      </p:pic>
      <p:sp>
        <p:nvSpPr>
          <p:cNvPr id="24" name="TextBox"/>
          <p:cNvSpPr txBox="1"/>
          <p:nvPr/>
        </p:nvSpPr>
        <p:spPr>
          <a:xfrm>
            <a:off x="731520" y="3639312"/>
            <a:ext cx="251460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VM-A</a:t>
            </a:r>
          </a:p>
        </p:txBody>
      </p:sp>
      <p:sp>
        <p:nvSpPr>
          <p:cNvPr id="25" name="Shape"/>
          <p:cNvSpPr/>
          <p:nvPr/>
        </p:nvSpPr>
        <p:spPr>
          <a:xfrm>
            <a:off x="8762695" y="2304288"/>
            <a:ext cx="2880360" cy="20116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6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963863" y="2468880"/>
            <a:ext cx="329184" cy="329184"/>
          </a:xfrm>
          <a:prstGeom prst="rect">
            <a:avLst/>
          </a:prstGeom>
        </p:spPr>
      </p:pic>
      <p:sp>
        <p:nvSpPr>
          <p:cNvPr id="27" name="TextBox"/>
          <p:cNvSpPr txBox="1"/>
          <p:nvPr/>
        </p:nvSpPr>
        <p:spPr>
          <a:xfrm>
            <a:off x="9384487" y="2450592"/>
            <a:ext cx="18288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Spoke B</a:t>
            </a:r>
          </a:p>
        </p:txBody>
      </p:sp>
      <p:sp>
        <p:nvSpPr>
          <p:cNvPr id="28" name="Shape"/>
          <p:cNvSpPr/>
          <p:nvPr/>
        </p:nvSpPr>
        <p:spPr>
          <a:xfrm>
            <a:off x="9827971" y="2825496"/>
            <a:ext cx="749808" cy="7498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9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9970435" y="2967960"/>
            <a:ext cx="464881" cy="464881"/>
          </a:xfrm>
          <a:prstGeom prst="rect">
            <a:avLst/>
          </a:prstGeom>
        </p:spPr>
      </p:pic>
      <p:sp>
        <p:nvSpPr>
          <p:cNvPr id="30" name="TextBox"/>
          <p:cNvSpPr txBox="1"/>
          <p:nvPr/>
        </p:nvSpPr>
        <p:spPr>
          <a:xfrm>
            <a:off x="8945575" y="3639312"/>
            <a:ext cx="251460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VM-B</a:t>
            </a:r>
          </a:p>
        </p:txBody>
      </p:sp>
      <p:sp>
        <p:nvSpPr>
          <p:cNvPr id="31" name="Shape"/>
          <p:cNvSpPr/>
          <p:nvPr/>
        </p:nvSpPr>
        <p:spPr>
          <a:xfrm>
            <a:off x="3840480" y="2304288"/>
            <a:ext cx="4510735" cy="2011680"/>
          </a:xfrm>
          <a:prstGeom prst="rect">
            <a:avLst/>
          </a:prstGeom>
          <a:solidFill>
            <a:srgbClr val="EFF6FC"/>
          </a:solidFill>
          <a:ln w="12700">
            <a:solidFill>
              <a:srgbClr val="9CC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"/>
          <p:cNvSpPr/>
          <p:nvPr/>
        </p:nvSpPr>
        <p:spPr>
          <a:xfrm>
            <a:off x="5833140" y="2587020"/>
            <a:ext cx="1226759" cy="1226759"/>
          </a:xfrm>
          <a:prstGeom prst="ellipse">
            <a:avLst/>
          </a:prstGeom>
          <a:solidFill>
            <a:srgbClr val="0078D4">
              <a:alpha val="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5943234" y="2697114"/>
            <a:ext cx="1006572" cy="1006572"/>
          </a:xfrm>
          <a:prstGeom prst="ellipse">
            <a:avLst/>
          </a:prstGeom>
          <a:solidFill>
            <a:srgbClr val="0078D4">
              <a:alpha val="1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6053328" y="2807208"/>
            <a:ext cx="786384" cy="78638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5" name="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6210605" y="2964485"/>
            <a:ext cx="471830" cy="471830"/>
          </a:xfrm>
          <a:prstGeom prst="rect">
            <a:avLst/>
          </a:prstGeom>
        </p:spPr>
      </p:pic>
      <p:pic>
        <p:nvPicPr>
          <p:cNvPr id="36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4041648" y="2468880"/>
            <a:ext cx="365760" cy="365760"/>
          </a:xfrm>
          <a:prstGeom prst="rect">
            <a:avLst/>
          </a:prstGeom>
        </p:spPr>
      </p:pic>
      <p:sp>
        <p:nvSpPr>
          <p:cNvPr id="37" name="TextBox"/>
          <p:cNvSpPr txBox="1"/>
          <p:nvPr/>
        </p:nvSpPr>
        <p:spPr>
          <a:xfrm>
            <a:off x="4498848" y="2414016"/>
            <a:ext cx="1920240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Hub VNet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você gerencia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5349240" y="3675888"/>
            <a:ext cx="2194560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Azure Firewall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IP privado no hub</a:t>
            </a:r>
          </a:p>
        </p:txBody>
      </p:sp>
      <p:sp>
        <p:nvSpPr>
          <p:cNvPr id="39" name="Shape"/>
          <p:cNvSpPr/>
          <p:nvPr/>
        </p:nvSpPr>
        <p:spPr>
          <a:xfrm>
            <a:off x="6435090" y="2110435"/>
            <a:ext cx="22860" cy="678485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0" name="Shape"/>
          <p:cNvSpPr/>
          <p:nvPr/>
        </p:nvSpPr>
        <p:spPr>
          <a:xfrm>
            <a:off x="6387084" y="2039112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1" name="Shape"/>
          <p:cNvSpPr/>
          <p:nvPr/>
        </p:nvSpPr>
        <p:spPr>
          <a:xfrm>
            <a:off x="2391156" y="3188970"/>
            <a:ext cx="3554273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2" name="Shape"/>
          <p:cNvSpPr/>
          <p:nvPr/>
        </p:nvSpPr>
        <p:spPr>
          <a:xfrm rot="5400000">
            <a:off x="5897880" y="3140964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3" name="Shape"/>
          <p:cNvSpPr/>
          <p:nvPr/>
        </p:nvSpPr>
        <p:spPr>
          <a:xfrm>
            <a:off x="6876288" y="3188970"/>
            <a:ext cx="2852928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4" name="Shape"/>
          <p:cNvSpPr/>
          <p:nvPr/>
        </p:nvSpPr>
        <p:spPr>
          <a:xfrm rot="5400000">
            <a:off x="9681667" y="3140964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5" name="Shape"/>
          <p:cNvSpPr/>
          <p:nvPr/>
        </p:nvSpPr>
        <p:spPr>
          <a:xfrm>
            <a:off x="1978762" y="4334256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6" name="Shape"/>
          <p:cNvSpPr/>
          <p:nvPr/>
        </p:nvSpPr>
        <p:spPr>
          <a:xfrm>
            <a:off x="1978762" y="4443984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7" name="Shape"/>
          <p:cNvSpPr/>
          <p:nvPr/>
        </p:nvSpPr>
        <p:spPr>
          <a:xfrm>
            <a:off x="548640" y="4553712"/>
            <a:ext cx="28803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8" name="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768096" y="4690872"/>
            <a:ext cx="457200" cy="457200"/>
          </a:xfrm>
          <a:prstGeom prst="rect">
            <a:avLst/>
          </a:prstGeom>
        </p:spPr>
      </p:pic>
      <p:sp>
        <p:nvSpPr>
          <p:cNvPr id="49" name="TextBox"/>
          <p:cNvSpPr txBox="1"/>
          <p:nvPr/>
        </p:nvSpPr>
        <p:spPr>
          <a:xfrm>
            <a:off x="1389888" y="4608576"/>
            <a:ext cx="1920240" cy="62179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0B1B3F"/>
                </a:solidFill>
                <a:latin typeface="Consolas"/>
              </a:rPr>
              <a:t>UDR 0.0.0.0/0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→ IP do firewall</a:t>
            </a:r>
          </a:p>
        </p:txBody>
      </p:sp>
      <p:sp>
        <p:nvSpPr>
          <p:cNvPr id="50" name="Shape"/>
          <p:cNvSpPr/>
          <p:nvPr/>
        </p:nvSpPr>
        <p:spPr>
          <a:xfrm>
            <a:off x="10192817" y="4334256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1" name="Shape"/>
          <p:cNvSpPr/>
          <p:nvPr/>
        </p:nvSpPr>
        <p:spPr>
          <a:xfrm>
            <a:off x="10192817" y="4443984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2" name="Shape"/>
          <p:cNvSpPr/>
          <p:nvPr/>
        </p:nvSpPr>
        <p:spPr>
          <a:xfrm>
            <a:off x="8762695" y="4553712"/>
            <a:ext cx="28803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53" name="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8982151" y="4690872"/>
            <a:ext cx="457200" cy="457200"/>
          </a:xfrm>
          <a:prstGeom prst="rect">
            <a:avLst/>
          </a:prstGeom>
        </p:spPr>
      </p:pic>
      <p:sp>
        <p:nvSpPr>
          <p:cNvPr id="54" name="TextBox"/>
          <p:cNvSpPr txBox="1"/>
          <p:nvPr/>
        </p:nvSpPr>
        <p:spPr>
          <a:xfrm>
            <a:off x="9603943" y="4608576"/>
            <a:ext cx="1920240" cy="62179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0B1B3F"/>
                </a:solidFill>
                <a:latin typeface="Consolas"/>
              </a:rPr>
              <a:t>UDR 0.0.0.0/0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→ IP do firewall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Secured Virtual Hub (Virtual WAN)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O firewall dentro do hub gerenciado</a:t>
            </a:r>
            <a:endParaRPr lang="en-US" sz="1600"/>
          </a:p>
        </p:txBody>
      </p:sp>
      <p:sp>
        <p:nvSpPr>
          <p:cNvPr id="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ARQUITETURA</a:t>
            </a:r>
          </a:p>
        </p:txBody>
      </p:sp>
      <p:sp>
        <p:nvSpPr>
          <p:cNvPr id="6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8</a:t>
            </a:r>
          </a:p>
        </p:txBody>
      </p:sp>
      <p:sp>
        <p:nvSpPr>
          <p:cNvPr id="15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6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7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A Microsoft mantém o hub; você declara a intenção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O Routing Intent anuncia as rotas para as spokes, sem UDR</a:t>
            </a:r>
          </a:p>
        </p:txBody>
      </p:sp>
      <p:sp>
        <p:nvSpPr>
          <p:cNvPr id="18" name="Shape"/>
          <p:cNvSpPr/>
          <p:nvPr/>
        </p:nvSpPr>
        <p:spPr>
          <a:xfrm>
            <a:off x="5623560" y="1645920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Internet</a:t>
            </a:r>
          </a:p>
        </p:txBody>
      </p:sp>
      <p:sp>
        <p:nvSpPr>
          <p:cNvPr id="19" name="Shape"/>
          <p:cNvSpPr/>
          <p:nvPr/>
        </p:nvSpPr>
        <p:spPr>
          <a:xfrm>
            <a:off x="548640" y="2304288"/>
            <a:ext cx="2880360" cy="20116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49808" y="2468880"/>
            <a:ext cx="329184" cy="329184"/>
          </a:xfrm>
          <a:prstGeom prst="rect">
            <a:avLst/>
          </a:prstGeom>
        </p:spPr>
      </p:pic>
      <p:sp>
        <p:nvSpPr>
          <p:cNvPr id="21" name="TextBox"/>
          <p:cNvSpPr txBox="1"/>
          <p:nvPr/>
        </p:nvSpPr>
        <p:spPr>
          <a:xfrm>
            <a:off x="1170432" y="2450592"/>
            <a:ext cx="18288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Spoke A</a:t>
            </a:r>
          </a:p>
        </p:txBody>
      </p:sp>
      <p:sp>
        <p:nvSpPr>
          <p:cNvPr id="22" name="Shape"/>
          <p:cNvSpPr/>
          <p:nvPr/>
        </p:nvSpPr>
        <p:spPr>
          <a:xfrm>
            <a:off x="1613916" y="2825496"/>
            <a:ext cx="749808" cy="7498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1756380" y="2967960"/>
            <a:ext cx="464881" cy="464881"/>
          </a:xfrm>
          <a:prstGeom prst="rect">
            <a:avLst/>
          </a:prstGeom>
        </p:spPr>
      </p:pic>
      <p:sp>
        <p:nvSpPr>
          <p:cNvPr id="24" name="TextBox"/>
          <p:cNvSpPr txBox="1"/>
          <p:nvPr/>
        </p:nvSpPr>
        <p:spPr>
          <a:xfrm>
            <a:off x="731520" y="3639312"/>
            <a:ext cx="251460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VM-A</a:t>
            </a:r>
          </a:p>
        </p:txBody>
      </p:sp>
      <p:sp>
        <p:nvSpPr>
          <p:cNvPr id="25" name="Shape"/>
          <p:cNvSpPr/>
          <p:nvPr/>
        </p:nvSpPr>
        <p:spPr>
          <a:xfrm>
            <a:off x="8762695" y="2304288"/>
            <a:ext cx="2880360" cy="20116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6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963863" y="2468880"/>
            <a:ext cx="329184" cy="329184"/>
          </a:xfrm>
          <a:prstGeom prst="rect">
            <a:avLst/>
          </a:prstGeom>
        </p:spPr>
      </p:pic>
      <p:sp>
        <p:nvSpPr>
          <p:cNvPr id="27" name="TextBox"/>
          <p:cNvSpPr txBox="1"/>
          <p:nvPr/>
        </p:nvSpPr>
        <p:spPr>
          <a:xfrm>
            <a:off x="9384487" y="2450592"/>
            <a:ext cx="18288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Spoke B</a:t>
            </a:r>
          </a:p>
        </p:txBody>
      </p:sp>
      <p:sp>
        <p:nvSpPr>
          <p:cNvPr id="28" name="Shape"/>
          <p:cNvSpPr/>
          <p:nvPr/>
        </p:nvSpPr>
        <p:spPr>
          <a:xfrm>
            <a:off x="9827971" y="2825496"/>
            <a:ext cx="749808" cy="7498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9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9970435" y="2967960"/>
            <a:ext cx="464881" cy="464881"/>
          </a:xfrm>
          <a:prstGeom prst="rect">
            <a:avLst/>
          </a:prstGeom>
        </p:spPr>
      </p:pic>
      <p:sp>
        <p:nvSpPr>
          <p:cNvPr id="30" name="TextBox"/>
          <p:cNvSpPr txBox="1"/>
          <p:nvPr/>
        </p:nvSpPr>
        <p:spPr>
          <a:xfrm>
            <a:off x="8945575" y="3639312"/>
            <a:ext cx="251460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VM-B</a:t>
            </a:r>
          </a:p>
        </p:txBody>
      </p:sp>
      <p:sp>
        <p:nvSpPr>
          <p:cNvPr id="31" name="Shape"/>
          <p:cNvSpPr/>
          <p:nvPr/>
        </p:nvSpPr>
        <p:spPr>
          <a:xfrm>
            <a:off x="3840480" y="2304288"/>
            <a:ext cx="4510735" cy="2011680"/>
          </a:xfrm>
          <a:prstGeom prst="rect">
            <a:avLst/>
          </a:prstGeom>
          <a:solidFill>
            <a:srgbClr val="EFF6FC"/>
          </a:solidFill>
          <a:ln w="12700">
            <a:solidFill>
              <a:srgbClr val="9CC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"/>
          <p:cNvSpPr/>
          <p:nvPr/>
        </p:nvSpPr>
        <p:spPr>
          <a:xfrm>
            <a:off x="5833140" y="2587020"/>
            <a:ext cx="1226759" cy="1226759"/>
          </a:xfrm>
          <a:prstGeom prst="ellipse">
            <a:avLst/>
          </a:prstGeom>
          <a:solidFill>
            <a:srgbClr val="0078D4">
              <a:alpha val="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5943234" y="2697114"/>
            <a:ext cx="1006572" cy="1006572"/>
          </a:xfrm>
          <a:prstGeom prst="ellipse">
            <a:avLst/>
          </a:prstGeom>
          <a:solidFill>
            <a:srgbClr val="0078D4">
              <a:alpha val="1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6053328" y="2807208"/>
            <a:ext cx="786384" cy="78638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5" name="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6210605" y="2964485"/>
            <a:ext cx="471830" cy="471830"/>
          </a:xfrm>
          <a:prstGeom prst="rect">
            <a:avLst/>
          </a:prstGeom>
        </p:spPr>
      </p:pic>
      <p:pic>
        <p:nvPicPr>
          <p:cNvPr id="36" name="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4041648" y="2468880"/>
            <a:ext cx="365760" cy="365760"/>
          </a:xfrm>
          <a:prstGeom prst="rect">
            <a:avLst/>
          </a:prstGeom>
        </p:spPr>
      </p:pic>
      <p:sp>
        <p:nvSpPr>
          <p:cNvPr id="37" name="TextBox"/>
          <p:cNvSpPr txBox="1"/>
          <p:nvPr/>
        </p:nvSpPr>
        <p:spPr>
          <a:xfrm>
            <a:off x="4498848" y="2414016"/>
            <a:ext cx="1920240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Virtual WAN hub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gerenciado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5349240" y="3675888"/>
            <a:ext cx="2194560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Azure Firewall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dentro do hub</a:t>
            </a:r>
          </a:p>
        </p:txBody>
      </p:sp>
      <p:sp>
        <p:nvSpPr>
          <p:cNvPr id="39" name="Shape"/>
          <p:cNvSpPr/>
          <p:nvPr/>
        </p:nvSpPr>
        <p:spPr>
          <a:xfrm>
            <a:off x="6435090" y="2110435"/>
            <a:ext cx="22860" cy="678485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0" name="Shape"/>
          <p:cNvSpPr/>
          <p:nvPr/>
        </p:nvSpPr>
        <p:spPr>
          <a:xfrm>
            <a:off x="6387084" y="2039112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1" name="Shape"/>
          <p:cNvSpPr/>
          <p:nvPr/>
        </p:nvSpPr>
        <p:spPr>
          <a:xfrm>
            <a:off x="2391156" y="3188970"/>
            <a:ext cx="3554273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2" name="Shape"/>
          <p:cNvSpPr/>
          <p:nvPr/>
        </p:nvSpPr>
        <p:spPr>
          <a:xfrm rot="5400000">
            <a:off x="5897880" y="3140964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3" name="Shape"/>
          <p:cNvSpPr/>
          <p:nvPr/>
        </p:nvSpPr>
        <p:spPr>
          <a:xfrm>
            <a:off x="6876288" y="3188970"/>
            <a:ext cx="2852928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4" name="Shape"/>
          <p:cNvSpPr/>
          <p:nvPr/>
        </p:nvSpPr>
        <p:spPr>
          <a:xfrm rot="5400000">
            <a:off x="9681667" y="3140964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5" name="Shape"/>
          <p:cNvSpPr/>
          <p:nvPr/>
        </p:nvSpPr>
        <p:spPr>
          <a:xfrm>
            <a:off x="1978762" y="4334256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6" name="Shape"/>
          <p:cNvSpPr/>
          <p:nvPr/>
        </p:nvSpPr>
        <p:spPr>
          <a:xfrm>
            <a:off x="1978762" y="4443984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7" name="Shape"/>
          <p:cNvSpPr/>
          <p:nvPr/>
        </p:nvSpPr>
        <p:spPr>
          <a:xfrm>
            <a:off x="548640" y="4553712"/>
            <a:ext cx="2880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7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"/>
          <p:cNvSpPr txBox="1"/>
          <p:nvPr/>
        </p:nvSpPr>
        <p:spPr>
          <a:xfrm>
            <a:off x="777240" y="4590288"/>
            <a:ext cx="2423160" cy="65836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3B4A5E"/>
                </a:solidFill>
                <a:latin typeface="Segoe UI"/>
              </a:rPr>
              <a:t>sem UDR</a:t>
            </a:r>
          </a:p>
          <a:p>
            <a:pPr algn="ctr"/>
            <a:r>
              <a:rPr sz="1350" b="0">
                <a:solidFill>
                  <a:srgbClr val="3B4A5E"/>
                </a:solidFill>
                <a:latin typeface="Segoe UI"/>
              </a:rPr>
              <a:t>rotas vêm do hub</a:t>
            </a:r>
          </a:p>
        </p:txBody>
      </p:sp>
      <p:sp>
        <p:nvSpPr>
          <p:cNvPr id="49" name="Shape"/>
          <p:cNvSpPr/>
          <p:nvPr/>
        </p:nvSpPr>
        <p:spPr>
          <a:xfrm>
            <a:off x="10192817" y="4334256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0" name="Shape"/>
          <p:cNvSpPr/>
          <p:nvPr/>
        </p:nvSpPr>
        <p:spPr>
          <a:xfrm>
            <a:off x="10192817" y="4443984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1" name="Shape"/>
          <p:cNvSpPr/>
          <p:nvPr/>
        </p:nvSpPr>
        <p:spPr>
          <a:xfrm>
            <a:off x="8762695" y="4553712"/>
            <a:ext cx="2880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7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TextBox"/>
          <p:cNvSpPr txBox="1"/>
          <p:nvPr/>
        </p:nvSpPr>
        <p:spPr>
          <a:xfrm>
            <a:off x="8991295" y="4590288"/>
            <a:ext cx="2423160" cy="65836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3B4A5E"/>
                </a:solidFill>
                <a:latin typeface="Segoe UI"/>
              </a:rPr>
              <a:t>sem UDR</a:t>
            </a:r>
          </a:p>
          <a:p>
            <a:pPr algn="ctr"/>
            <a:r>
              <a:rPr sz="1350" b="0">
                <a:solidFill>
                  <a:srgbClr val="3B4A5E"/>
                </a:solidFill>
                <a:latin typeface="Segoe UI"/>
              </a:rPr>
              <a:t>rotas vêm do hub</a:t>
            </a:r>
          </a:p>
        </p:txBody>
      </p:sp>
      <p:sp>
        <p:nvSpPr>
          <p:cNvPr id="53" name="Shape"/>
          <p:cNvSpPr/>
          <p:nvPr/>
        </p:nvSpPr>
        <p:spPr>
          <a:xfrm>
            <a:off x="6086246" y="4334256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4" name="Shape"/>
          <p:cNvSpPr/>
          <p:nvPr/>
        </p:nvSpPr>
        <p:spPr>
          <a:xfrm>
            <a:off x="6086246" y="4443984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5" name="Shape"/>
          <p:cNvSpPr/>
          <p:nvPr/>
        </p:nvSpPr>
        <p:spPr>
          <a:xfrm>
            <a:off x="4496105" y="4553712"/>
            <a:ext cx="3200400" cy="731520"/>
          </a:xfrm>
          <a:prstGeom prst="rect">
            <a:avLst/>
          </a:prstGeom>
          <a:solidFill>
            <a:srgbClr val="005A9E"/>
          </a:solidFill>
        </p:spPr>
        <p:txBody>
          <a:bodyPr/>
          <a:lstStyle/>
          <a:p>
            <a:endParaRPr/>
          </a:p>
        </p:txBody>
      </p:sp>
      <p:sp>
        <p:nvSpPr>
          <p:cNvPr id="56" name="TextBox"/>
          <p:cNvSpPr txBox="1"/>
          <p:nvPr/>
        </p:nvSpPr>
        <p:spPr>
          <a:xfrm>
            <a:off x="4724705" y="4590288"/>
            <a:ext cx="2743200" cy="65836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Routing Intent</a:t>
            </a:r>
          </a:p>
          <a:p>
            <a:pPr algn="ctr"/>
            <a:r>
              <a:rPr sz="1350" b="0">
                <a:solidFill>
                  <a:srgbClr val="FFFFFF"/>
                </a:solidFill>
                <a:latin typeface="Segoe UI"/>
              </a:rPr>
              <a:t>Private + Internet → firewall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Roteamento até o firewall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UDR, Routing Intent, forced tunneling e Management NIC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9</a:t>
            </a: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O firewall só inspeciona o tráfego que a rota leva até ele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Basic e secured hub já vêm com a Management NIC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5432908" cy="184708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77240" y="1792224"/>
            <a:ext cx="310896" cy="310896"/>
          </a:xfrm>
          <a:prstGeom prst="rect">
            <a:avLst/>
          </a:prstGeom>
        </p:spPr>
      </p:pic>
      <p:sp>
        <p:nvSpPr>
          <p:cNvPr id="19" name="TextBox"/>
          <p:cNvSpPr txBox="1"/>
          <p:nvPr/>
        </p:nvSpPr>
        <p:spPr>
          <a:xfrm>
            <a:off x="1188720" y="1764792"/>
            <a:ext cx="36576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Hub VNet · UDR</a:t>
            </a:r>
          </a:p>
        </p:txBody>
      </p:sp>
      <p:sp>
        <p:nvSpPr>
          <p:cNvPr id="20" name="Shape"/>
          <p:cNvSpPr/>
          <p:nvPr/>
        </p:nvSpPr>
        <p:spPr>
          <a:xfrm>
            <a:off x="950976" y="2258568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692" y="2366284"/>
            <a:ext cx="351495" cy="351495"/>
          </a:xfrm>
          <a:prstGeom prst="rect">
            <a:avLst/>
          </a:prstGeom>
        </p:spPr>
      </p:pic>
      <p:sp>
        <p:nvSpPr>
          <p:cNvPr id="22" name="TextBox"/>
          <p:cNvSpPr txBox="1"/>
          <p:nvPr/>
        </p:nvSpPr>
        <p:spPr>
          <a:xfrm>
            <a:off x="868680" y="2852928"/>
            <a:ext cx="731520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spoke</a:t>
            </a:r>
          </a:p>
        </p:txBody>
      </p:sp>
      <p:sp>
        <p:nvSpPr>
          <p:cNvPr id="23" name="Shape"/>
          <p:cNvSpPr/>
          <p:nvPr/>
        </p:nvSpPr>
        <p:spPr>
          <a:xfrm>
            <a:off x="2029968" y="2212848"/>
            <a:ext cx="2240280" cy="658368"/>
          </a:xfrm>
          <a:prstGeom prst="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Box"/>
          <p:cNvSpPr txBox="1"/>
          <p:nvPr/>
        </p:nvSpPr>
        <p:spPr>
          <a:xfrm>
            <a:off x="2258568" y="2249424"/>
            <a:ext cx="1783080" cy="58521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0B1B3F"/>
                </a:solidFill>
                <a:latin typeface="Consolas"/>
              </a:rPr>
              <a:t>0.0.0.0/0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UDR</a:t>
            </a:r>
          </a:p>
        </p:txBody>
      </p:sp>
      <p:sp>
        <p:nvSpPr>
          <p:cNvPr id="25" name="Shape"/>
          <p:cNvSpPr/>
          <p:nvPr/>
        </p:nvSpPr>
        <p:spPr>
          <a:xfrm>
            <a:off x="1554480" y="2531974"/>
            <a:ext cx="367589" cy="20117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6" name="Shape"/>
          <p:cNvSpPr/>
          <p:nvPr/>
        </p:nvSpPr>
        <p:spPr>
          <a:xfrm rot="5400000">
            <a:off x="1874520" y="2482596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>
            <a:off x="4306824" y="2531974"/>
            <a:ext cx="559613" cy="20117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 rot="5400000">
            <a:off x="4818888" y="2482596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9" name="Shape"/>
          <p:cNvSpPr/>
          <p:nvPr/>
        </p:nvSpPr>
        <p:spPr>
          <a:xfrm>
            <a:off x="5020056" y="2258568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0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5133442" y="2371954"/>
            <a:ext cx="340157" cy="340157"/>
          </a:xfrm>
          <a:prstGeom prst="rect">
            <a:avLst/>
          </a:prstGeom>
        </p:spPr>
      </p:pic>
      <p:sp>
        <p:nvSpPr>
          <p:cNvPr id="31" name="TextBox"/>
          <p:cNvSpPr txBox="1"/>
          <p:nvPr/>
        </p:nvSpPr>
        <p:spPr>
          <a:xfrm>
            <a:off x="4846320" y="2852928"/>
            <a:ext cx="914400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Firewall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777240" y="3172968"/>
            <a:ext cx="4975708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50" b="0">
                <a:solidFill>
                  <a:srgbClr val="3B4A5E"/>
                </a:solidFill>
                <a:latin typeface="Segoe UI"/>
              </a:rPr>
              <a:t>uma UDR em cada spoke</a:t>
            </a:r>
          </a:p>
        </p:txBody>
      </p:sp>
      <p:sp>
        <p:nvSpPr>
          <p:cNvPr id="33" name="Shape"/>
          <p:cNvSpPr/>
          <p:nvPr/>
        </p:nvSpPr>
        <p:spPr>
          <a:xfrm>
            <a:off x="6210148" y="1645920"/>
            <a:ext cx="5432908" cy="184708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4" name="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6438748" y="1783080"/>
            <a:ext cx="329184" cy="329184"/>
          </a:xfrm>
          <a:prstGeom prst="rect">
            <a:avLst/>
          </a:prstGeom>
        </p:spPr>
      </p:pic>
      <p:sp>
        <p:nvSpPr>
          <p:cNvPr id="35" name="TextBox"/>
          <p:cNvSpPr txBox="1"/>
          <p:nvPr/>
        </p:nvSpPr>
        <p:spPr>
          <a:xfrm>
            <a:off x="6850228" y="1764792"/>
            <a:ext cx="41148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vWAN hub · Routing Intent</a:t>
            </a:r>
          </a:p>
        </p:txBody>
      </p:sp>
      <p:sp>
        <p:nvSpPr>
          <p:cNvPr id="36" name="Shape"/>
          <p:cNvSpPr/>
          <p:nvPr/>
        </p:nvSpPr>
        <p:spPr>
          <a:xfrm>
            <a:off x="6438748" y="2121408"/>
            <a:ext cx="3063240" cy="521208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Box"/>
          <p:cNvSpPr txBox="1"/>
          <p:nvPr/>
        </p:nvSpPr>
        <p:spPr>
          <a:xfrm>
            <a:off x="6603340" y="2157984"/>
            <a:ext cx="2734056" cy="4480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50" b="1">
                <a:solidFill>
                  <a:srgbClr val="0B1B3F"/>
                </a:solidFill>
                <a:latin typeface="Segoe UI"/>
              </a:rPr>
              <a:t>Internet policy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anuncia 0.0.0.0/0 às spokes</a:t>
            </a:r>
          </a:p>
        </p:txBody>
      </p:sp>
      <p:sp>
        <p:nvSpPr>
          <p:cNvPr id="38" name="Shape"/>
          <p:cNvSpPr/>
          <p:nvPr/>
        </p:nvSpPr>
        <p:spPr>
          <a:xfrm>
            <a:off x="6438748" y="2697480"/>
            <a:ext cx="3063240" cy="521208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Box"/>
          <p:cNvSpPr txBox="1"/>
          <p:nvPr/>
        </p:nvSpPr>
        <p:spPr>
          <a:xfrm>
            <a:off x="6603340" y="2734056"/>
            <a:ext cx="2734056" cy="4480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50" b="1">
                <a:solidFill>
                  <a:srgbClr val="0B1B3F"/>
                </a:solidFill>
                <a:latin typeface="Segoe UI"/>
              </a:rPr>
              <a:t>Private policy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VNet, branch e inter-hub</a:t>
            </a:r>
          </a:p>
        </p:txBody>
      </p:sp>
      <p:sp>
        <p:nvSpPr>
          <p:cNvPr id="40" name="Shape"/>
          <p:cNvSpPr/>
          <p:nvPr/>
        </p:nvSpPr>
        <p:spPr>
          <a:xfrm rot="832592">
            <a:off x="9544539" y="2486845"/>
            <a:ext cx="843722" cy="20117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1" name="Shape"/>
          <p:cNvSpPr/>
          <p:nvPr/>
        </p:nvSpPr>
        <p:spPr>
          <a:xfrm rot="6232592">
            <a:off x="10328054" y="2541493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2" name="Shape"/>
          <p:cNvSpPr/>
          <p:nvPr/>
        </p:nvSpPr>
        <p:spPr>
          <a:xfrm rot="-832592">
            <a:off x="9544539" y="2833134"/>
            <a:ext cx="843722" cy="20117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3" name="Shape"/>
          <p:cNvSpPr/>
          <p:nvPr/>
        </p:nvSpPr>
        <p:spPr>
          <a:xfrm rot="4567407">
            <a:off x="10328054" y="2679731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4" name="Shape"/>
          <p:cNvSpPr/>
          <p:nvPr/>
        </p:nvSpPr>
        <p:spPr>
          <a:xfrm>
            <a:off x="10490911" y="2386584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5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10604297" y="2499970"/>
            <a:ext cx="340157" cy="340157"/>
          </a:xfrm>
          <a:prstGeom prst="rect">
            <a:avLst/>
          </a:prstGeom>
        </p:spPr>
      </p:pic>
      <p:sp>
        <p:nvSpPr>
          <p:cNvPr id="46" name="TextBox"/>
          <p:cNvSpPr txBox="1"/>
          <p:nvPr/>
        </p:nvSpPr>
        <p:spPr>
          <a:xfrm>
            <a:off x="10225735" y="2980944"/>
            <a:ext cx="1097280" cy="2377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Firewall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6438748" y="3246120"/>
            <a:ext cx="4975708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50" b="0">
                <a:solidFill>
                  <a:srgbClr val="3B4A5E"/>
                </a:solidFill>
                <a:latin typeface="Segoe UI"/>
              </a:rPr>
              <a:t>no máximo uma de cada por hub</a:t>
            </a:r>
          </a:p>
        </p:txBody>
      </p:sp>
      <p:sp>
        <p:nvSpPr>
          <p:cNvPr id="48" name="Shape"/>
          <p:cNvSpPr/>
          <p:nvPr/>
        </p:nvSpPr>
        <p:spPr>
          <a:xfrm>
            <a:off x="548640" y="3657600"/>
            <a:ext cx="11094415" cy="164592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TextBox"/>
          <p:cNvSpPr txBox="1"/>
          <p:nvPr/>
        </p:nvSpPr>
        <p:spPr>
          <a:xfrm>
            <a:off x="777240" y="3767328"/>
            <a:ext cx="548640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Forced tunneling e Management NIC</a:t>
            </a:r>
          </a:p>
        </p:txBody>
      </p:sp>
      <p:sp>
        <p:nvSpPr>
          <p:cNvPr id="50" name="Shape"/>
          <p:cNvSpPr/>
          <p:nvPr/>
        </p:nvSpPr>
        <p:spPr>
          <a:xfrm>
            <a:off x="859536" y="4206240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51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961949" y="4308653"/>
            <a:ext cx="307238" cy="307238"/>
          </a:xfrm>
          <a:prstGeom prst="rect">
            <a:avLst/>
          </a:prstGeom>
        </p:spPr>
      </p:pic>
      <p:sp>
        <p:nvSpPr>
          <p:cNvPr id="52" name="TextBox"/>
          <p:cNvSpPr txBox="1"/>
          <p:nvPr/>
        </p:nvSpPr>
        <p:spPr>
          <a:xfrm>
            <a:off x="1463040" y="4297680"/>
            <a:ext cx="146304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Azure Firewall</a:t>
            </a:r>
          </a:p>
        </p:txBody>
      </p:sp>
      <p:sp>
        <p:nvSpPr>
          <p:cNvPr id="53" name="Shape"/>
          <p:cNvSpPr/>
          <p:nvPr/>
        </p:nvSpPr>
        <p:spPr>
          <a:xfrm>
            <a:off x="2944368" y="4452214"/>
            <a:ext cx="477317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4" name="Shape"/>
          <p:cNvSpPr/>
          <p:nvPr/>
        </p:nvSpPr>
        <p:spPr>
          <a:xfrm rot="5400000">
            <a:off x="3374136" y="4402836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5" name="Shape"/>
          <p:cNvSpPr/>
          <p:nvPr/>
        </p:nvSpPr>
        <p:spPr>
          <a:xfrm>
            <a:off x="3547872" y="4187952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Box"/>
          <p:cNvSpPr txBox="1"/>
          <p:nvPr/>
        </p:nvSpPr>
        <p:spPr>
          <a:xfrm>
            <a:off x="3639312" y="4224528"/>
            <a:ext cx="2057400" cy="4754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0B1B3F"/>
                </a:solidFill>
                <a:latin typeface="Segoe UI"/>
              </a:rPr>
              <a:t>Próximo salto</a:t>
            </a:r>
          </a:p>
          <a:p>
            <a:pPr algn="ctr"/>
            <a:r>
              <a:rPr sz="1250" b="0">
                <a:solidFill>
                  <a:srgbClr val="3B4A5E"/>
                </a:solidFill>
                <a:latin typeface="Segoe UI"/>
              </a:rPr>
              <a:t>on-premises ou NVA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777240" y="4846320"/>
            <a:ext cx="5486400" cy="47548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1B2333"/>
                </a:solidFill>
                <a:latin typeface="Segoe UI"/>
              </a:rPr>
              <a:t>Forced tunneling exige a Management NIC</a:t>
            </a:r>
          </a:p>
          <a:p>
            <a:pPr algn="l"/>
            <a:r>
              <a:rPr sz="1400" b="0">
                <a:solidFill>
                  <a:srgbClr val="1B2333"/>
                </a:solidFill>
                <a:latin typeface="Segoe UI"/>
              </a:rPr>
              <a:t>DNAT não é suportado com forced tunneling</a:t>
            </a:r>
          </a:p>
        </p:txBody>
      </p:sp>
      <p:sp>
        <p:nvSpPr>
          <p:cNvPr id="58" name="Shape"/>
          <p:cNvSpPr/>
          <p:nvPr/>
        </p:nvSpPr>
        <p:spPr>
          <a:xfrm>
            <a:off x="6400800" y="3840480"/>
            <a:ext cx="5013655" cy="128016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TextBox"/>
          <p:cNvSpPr txBox="1"/>
          <p:nvPr/>
        </p:nvSpPr>
        <p:spPr>
          <a:xfrm>
            <a:off x="6629400" y="3895344"/>
            <a:ext cx="4647895" cy="11704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Management NIC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1B2333"/>
                </a:solidFill>
                <a:latin typeface="Consolas"/>
              </a:rPr>
              <a:t>AzureFirewallManagementSubnet · /26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3B4A5E"/>
                </a:solidFill>
                <a:latin typeface="Segoe UI"/>
              </a:rPr>
              <a:t>IP público só para a plataforma</a:t>
            </a:r>
          </a:p>
        </p:txBody>
      </p:sp>
      <p:sp>
        <p:nvSpPr>
          <p:cNvPr id="60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61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ARQUITETURA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Disponibilidade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Zonas de disponibilidade e resiliência regional</a:t>
            </a:r>
            <a:endParaRPr lang="en-US" sz="1600"/>
          </a:p>
        </p:txBody>
      </p:sp>
      <p:sp>
        <p:nvSpPr>
          <p:cNvPr id="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ARQUITETURA</a:t>
            </a:r>
          </a:p>
        </p:txBody>
      </p:sp>
      <p:sp>
        <p:nvSpPr>
          <p:cNvPr id="6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11</a:t>
            </a:r>
          </a:p>
        </p:txBody>
      </p:sp>
      <p:sp>
        <p:nvSpPr>
          <p:cNvPr id="15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6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7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Zone-redundant é o padrão em regiões com zonas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Pelo menos 2 instâncias, sem configurar nada; o maior SLA</a:t>
            </a:r>
          </a:p>
        </p:txBody>
      </p:sp>
      <p:sp>
        <p:nvSpPr>
          <p:cNvPr id="18" name="Shape"/>
          <p:cNvSpPr/>
          <p:nvPr/>
        </p:nvSpPr>
        <p:spPr>
          <a:xfrm>
            <a:off x="548640" y="1645920"/>
            <a:ext cx="7269480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extBox"/>
          <p:cNvSpPr txBox="1"/>
          <p:nvPr/>
        </p:nvSpPr>
        <p:spPr>
          <a:xfrm>
            <a:off x="777240" y="1773936"/>
            <a:ext cx="594360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Região com zonas de disponibilidade</a:t>
            </a:r>
          </a:p>
        </p:txBody>
      </p:sp>
      <p:sp>
        <p:nvSpPr>
          <p:cNvPr id="20" name="Shape"/>
          <p:cNvSpPr/>
          <p:nvPr/>
        </p:nvSpPr>
        <p:spPr>
          <a:xfrm>
            <a:off x="777240" y="2212848"/>
            <a:ext cx="213664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Box"/>
          <p:cNvSpPr txBox="1"/>
          <p:nvPr/>
        </p:nvSpPr>
        <p:spPr>
          <a:xfrm>
            <a:off x="868680" y="2304288"/>
            <a:ext cx="195376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0B1B3F"/>
                </a:solidFill>
                <a:latin typeface="Segoe UI"/>
              </a:rPr>
              <a:t>Zona 1</a:t>
            </a:r>
          </a:p>
        </p:txBody>
      </p:sp>
      <p:sp>
        <p:nvSpPr>
          <p:cNvPr id="22" name="Shape"/>
          <p:cNvSpPr/>
          <p:nvPr/>
        </p:nvSpPr>
        <p:spPr>
          <a:xfrm>
            <a:off x="1479804" y="2834640"/>
            <a:ext cx="731520" cy="7315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1626108" y="2980944"/>
            <a:ext cx="438912" cy="438912"/>
          </a:xfrm>
          <a:prstGeom prst="rect">
            <a:avLst/>
          </a:prstGeom>
        </p:spPr>
      </p:pic>
      <p:sp>
        <p:nvSpPr>
          <p:cNvPr id="24" name="TextBox"/>
          <p:cNvSpPr txBox="1"/>
          <p:nvPr/>
        </p:nvSpPr>
        <p:spPr>
          <a:xfrm>
            <a:off x="868680" y="3694176"/>
            <a:ext cx="1953768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instância</a:t>
            </a:r>
          </a:p>
        </p:txBody>
      </p:sp>
      <p:sp>
        <p:nvSpPr>
          <p:cNvPr id="25" name="Shape"/>
          <p:cNvSpPr/>
          <p:nvPr/>
        </p:nvSpPr>
        <p:spPr>
          <a:xfrm>
            <a:off x="3115056" y="2212848"/>
            <a:ext cx="213664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Box"/>
          <p:cNvSpPr txBox="1"/>
          <p:nvPr/>
        </p:nvSpPr>
        <p:spPr>
          <a:xfrm>
            <a:off x="3206496" y="2304288"/>
            <a:ext cx="195376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0B1B3F"/>
                </a:solidFill>
                <a:latin typeface="Segoe UI"/>
              </a:rPr>
              <a:t>Zona 2</a:t>
            </a:r>
          </a:p>
        </p:txBody>
      </p:sp>
      <p:sp>
        <p:nvSpPr>
          <p:cNvPr id="27" name="Shape"/>
          <p:cNvSpPr/>
          <p:nvPr/>
        </p:nvSpPr>
        <p:spPr>
          <a:xfrm>
            <a:off x="3817620" y="2834640"/>
            <a:ext cx="731520" cy="7315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8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3963924" y="2980944"/>
            <a:ext cx="438912" cy="438912"/>
          </a:xfrm>
          <a:prstGeom prst="rect">
            <a:avLst/>
          </a:prstGeom>
        </p:spPr>
      </p:pic>
      <p:sp>
        <p:nvSpPr>
          <p:cNvPr id="29" name="TextBox"/>
          <p:cNvSpPr txBox="1"/>
          <p:nvPr/>
        </p:nvSpPr>
        <p:spPr>
          <a:xfrm>
            <a:off x="3206496" y="3694176"/>
            <a:ext cx="1953768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instância</a:t>
            </a:r>
          </a:p>
        </p:txBody>
      </p:sp>
      <p:sp>
        <p:nvSpPr>
          <p:cNvPr id="30" name="Shape"/>
          <p:cNvSpPr/>
          <p:nvPr/>
        </p:nvSpPr>
        <p:spPr>
          <a:xfrm>
            <a:off x="5452872" y="2212848"/>
            <a:ext cx="213664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Box"/>
          <p:cNvSpPr txBox="1"/>
          <p:nvPr/>
        </p:nvSpPr>
        <p:spPr>
          <a:xfrm>
            <a:off x="5544312" y="2304288"/>
            <a:ext cx="195376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0B1B3F"/>
                </a:solidFill>
                <a:latin typeface="Segoe UI"/>
              </a:rPr>
              <a:t>Zona 3</a:t>
            </a:r>
          </a:p>
        </p:txBody>
      </p:sp>
      <p:sp>
        <p:nvSpPr>
          <p:cNvPr id="32" name="Shape"/>
          <p:cNvSpPr/>
          <p:nvPr/>
        </p:nvSpPr>
        <p:spPr>
          <a:xfrm>
            <a:off x="6155436" y="2834640"/>
            <a:ext cx="731520" cy="7315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3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6301740" y="2980944"/>
            <a:ext cx="438912" cy="438912"/>
          </a:xfrm>
          <a:prstGeom prst="rect">
            <a:avLst/>
          </a:prstGeom>
        </p:spPr>
      </p:pic>
      <p:sp>
        <p:nvSpPr>
          <p:cNvPr id="34" name="TextBox"/>
          <p:cNvSpPr txBox="1"/>
          <p:nvPr/>
        </p:nvSpPr>
        <p:spPr>
          <a:xfrm>
            <a:off x="5544312" y="3694176"/>
            <a:ext cx="1953768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instância</a:t>
            </a:r>
          </a:p>
        </p:txBody>
      </p:sp>
      <p:sp>
        <p:nvSpPr>
          <p:cNvPr id="35" name="Shape"/>
          <p:cNvSpPr/>
          <p:nvPr/>
        </p:nvSpPr>
        <p:spPr>
          <a:xfrm>
            <a:off x="777240" y="4389120"/>
            <a:ext cx="6812280" cy="713232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Um Azure Firewall, instâncias nas 3 zonas</a:t>
            </a:r>
          </a:p>
        </p:txBody>
      </p:sp>
      <p:sp>
        <p:nvSpPr>
          <p:cNvPr id="36" name="Shape"/>
          <p:cNvSpPr/>
          <p:nvPr/>
        </p:nvSpPr>
        <p:spPr>
          <a:xfrm>
            <a:off x="8046720" y="1645920"/>
            <a:ext cx="3596335" cy="17556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Box"/>
          <p:cNvSpPr txBox="1"/>
          <p:nvPr/>
        </p:nvSpPr>
        <p:spPr>
          <a:xfrm>
            <a:off x="8275320" y="1773936"/>
            <a:ext cx="146304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Zonal</a:t>
            </a:r>
          </a:p>
        </p:txBody>
      </p:sp>
      <p:sp>
        <p:nvSpPr>
          <p:cNvPr id="38" name="Shape"/>
          <p:cNvSpPr/>
          <p:nvPr/>
        </p:nvSpPr>
        <p:spPr>
          <a:xfrm>
            <a:off x="10390327" y="1801368"/>
            <a:ext cx="1024128" cy="292608"/>
          </a:xfrm>
          <a:prstGeom prst="roundRect">
            <a:avLst/>
          </a:prstGeom>
          <a:solidFill>
            <a:srgbClr val="FDF2E4"/>
          </a:solidFill>
          <a:ln w="12700">
            <a:solidFill>
              <a:srgbClr val="B45309"/>
            </a:solidFill>
          </a:ln>
        </p:spPr>
        <p:txBody>
          <a:bodyPr lIns="0" tIns="0" rIns="0" bIns="0" anchor="ctr"/>
          <a:lstStyle/>
          <a:p>
            <a:pPr algn="ctr"/>
            <a:r>
              <a:rPr sz="1250" b="1">
                <a:solidFill>
                  <a:srgbClr val="9A4507"/>
                </a:solidFill>
                <a:latin typeface="Segoe UI"/>
              </a:rPr>
              <a:t>exceção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8275320" y="2249424"/>
            <a:ext cx="3139135" cy="100584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0">
                <a:solidFill>
                  <a:srgbClr val="3B4A5E"/>
                </a:solidFill>
                <a:latin typeface="Segoe UI"/>
              </a:rPr>
              <a:t>uma zona só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B4A5E"/>
                </a:solidFill>
                <a:latin typeface="Segoe UI"/>
              </a:rPr>
              <a:t>só por API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B4A5E"/>
                </a:solidFill>
                <a:latin typeface="Segoe UI"/>
              </a:rPr>
              <a:t>capacidade ou latência</a:t>
            </a:r>
          </a:p>
        </p:txBody>
      </p:sp>
      <p:sp>
        <p:nvSpPr>
          <p:cNvPr id="40" name="Shape"/>
          <p:cNvSpPr/>
          <p:nvPr/>
        </p:nvSpPr>
        <p:spPr>
          <a:xfrm>
            <a:off x="8046720" y="3547872"/>
            <a:ext cx="3596335" cy="17556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Box"/>
          <p:cNvSpPr txBox="1"/>
          <p:nvPr/>
        </p:nvSpPr>
        <p:spPr>
          <a:xfrm>
            <a:off x="8275320" y="3675888"/>
            <a:ext cx="274320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Outra região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8275320" y="4151376"/>
            <a:ext cx="3139135" cy="100584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0">
                <a:solidFill>
                  <a:srgbClr val="3B4A5E"/>
                </a:solidFill>
                <a:latin typeface="Segoe UI"/>
              </a:rPr>
              <a:t>o firewall é regional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B4A5E"/>
                </a:solidFill>
                <a:latin typeface="Segoe UI"/>
              </a:rPr>
              <a:t>um firewall por região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B4A5E"/>
                </a:solidFill>
                <a:latin typeface="Segoe UI"/>
              </a:rPr>
              <a:t>failover é seu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DNS Proxy e FQDN em network rules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Firewall e VM precisam resolver o mesmo IP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12</a:t>
            </a: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11094415" cy="173736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Box"/>
          <p:cNvSpPr txBox="1"/>
          <p:nvPr/>
        </p:nvSpPr>
        <p:spPr>
          <a:xfrm>
            <a:off x="777240" y="1755648"/>
            <a:ext cx="365760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Sem DNS Proxy</a:t>
            </a:r>
          </a:p>
        </p:txBody>
      </p:sp>
      <p:sp>
        <p:nvSpPr>
          <p:cNvPr id="19" name="Shape"/>
          <p:cNvSpPr/>
          <p:nvPr/>
        </p:nvSpPr>
        <p:spPr>
          <a:xfrm>
            <a:off x="832104" y="2331720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939820" y="2439436"/>
            <a:ext cx="351495" cy="351495"/>
          </a:xfrm>
          <a:prstGeom prst="rect">
            <a:avLst/>
          </a:prstGeom>
        </p:spPr>
      </p:pic>
      <p:sp>
        <p:nvSpPr>
          <p:cNvPr id="21" name="TextBox"/>
          <p:cNvSpPr txBox="1"/>
          <p:nvPr/>
        </p:nvSpPr>
        <p:spPr>
          <a:xfrm>
            <a:off x="749808" y="2944368"/>
            <a:ext cx="731520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VM</a:t>
            </a:r>
          </a:p>
        </p:txBody>
      </p:sp>
      <p:sp>
        <p:nvSpPr>
          <p:cNvPr id="22" name="Shape"/>
          <p:cNvSpPr/>
          <p:nvPr/>
        </p:nvSpPr>
        <p:spPr>
          <a:xfrm>
            <a:off x="1444752" y="2605126"/>
            <a:ext cx="422453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3" name="Shape"/>
          <p:cNvSpPr/>
          <p:nvPr/>
        </p:nvSpPr>
        <p:spPr>
          <a:xfrm rot="5400000">
            <a:off x="1819656" y="2555748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4" name="Shape"/>
          <p:cNvSpPr/>
          <p:nvPr/>
        </p:nvSpPr>
        <p:spPr>
          <a:xfrm>
            <a:off x="1975104" y="228600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Box"/>
          <p:cNvSpPr txBox="1"/>
          <p:nvPr/>
        </p:nvSpPr>
        <p:spPr>
          <a:xfrm>
            <a:off x="2066544" y="2322576"/>
            <a:ext cx="2560320" cy="58521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VM resolve sozinha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recebe IP2</a:t>
            </a:r>
          </a:p>
        </p:txBody>
      </p:sp>
      <p:sp>
        <p:nvSpPr>
          <p:cNvPr id="26" name="Shape"/>
          <p:cNvSpPr/>
          <p:nvPr/>
        </p:nvSpPr>
        <p:spPr>
          <a:xfrm>
            <a:off x="4754880" y="2605126"/>
            <a:ext cx="459029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 rot="5400000">
            <a:off x="5166360" y="2555748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>
            <a:off x="5340096" y="2331720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9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5453482" y="2445106"/>
            <a:ext cx="340157" cy="340157"/>
          </a:xfrm>
          <a:prstGeom prst="rect">
            <a:avLst/>
          </a:prstGeom>
        </p:spPr>
      </p:pic>
      <p:sp>
        <p:nvSpPr>
          <p:cNvPr id="30" name="TextBox"/>
          <p:cNvSpPr txBox="1"/>
          <p:nvPr/>
        </p:nvSpPr>
        <p:spPr>
          <a:xfrm>
            <a:off x="5166360" y="2944368"/>
            <a:ext cx="914400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Firewall</a:t>
            </a:r>
          </a:p>
        </p:txBody>
      </p:sp>
      <p:sp>
        <p:nvSpPr>
          <p:cNvPr id="31" name="Shape"/>
          <p:cNvSpPr/>
          <p:nvPr/>
        </p:nvSpPr>
        <p:spPr>
          <a:xfrm>
            <a:off x="5961888" y="2605126"/>
            <a:ext cx="422453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2" name="Shape"/>
          <p:cNvSpPr/>
          <p:nvPr/>
        </p:nvSpPr>
        <p:spPr>
          <a:xfrm rot="5400000">
            <a:off x="6336792" y="2555748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6492240" y="2286000"/>
            <a:ext cx="2514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"/>
          <p:cNvSpPr txBox="1"/>
          <p:nvPr/>
        </p:nvSpPr>
        <p:spPr>
          <a:xfrm>
            <a:off x="6583680" y="2322576"/>
            <a:ext cx="2331720" cy="58521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Regra com FQDN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permite só IP1</a:t>
            </a:r>
          </a:p>
        </p:txBody>
      </p:sp>
      <p:sp>
        <p:nvSpPr>
          <p:cNvPr id="35" name="Shape"/>
          <p:cNvSpPr/>
          <p:nvPr/>
        </p:nvSpPr>
        <p:spPr>
          <a:xfrm>
            <a:off x="9043416" y="2605126"/>
            <a:ext cx="422453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6" name="Shape"/>
          <p:cNvSpPr/>
          <p:nvPr/>
        </p:nvSpPr>
        <p:spPr>
          <a:xfrm rot="5400000">
            <a:off x="9418320" y="2555748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>
            <a:off x="9573768" y="2249424"/>
            <a:ext cx="1840687" cy="731520"/>
          </a:xfrm>
          <a:prstGeom prst="roundRect">
            <a:avLst/>
          </a:prstGeom>
          <a:solidFill>
            <a:srgbClr val="C42B1C"/>
          </a:solidFill>
        </p:spPr>
        <p:txBody>
          <a:bodyPr/>
          <a:lstStyle/>
          <a:p>
            <a:endParaRPr/>
          </a:p>
        </p:txBody>
      </p:sp>
      <p:sp>
        <p:nvSpPr>
          <p:cNvPr id="38" name="TextBox"/>
          <p:cNvSpPr txBox="1"/>
          <p:nvPr/>
        </p:nvSpPr>
        <p:spPr>
          <a:xfrm>
            <a:off x="9665208" y="2286000"/>
            <a:ext cx="1657807" cy="65836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Deny</a:t>
            </a:r>
          </a:p>
          <a:p>
            <a:pPr algn="ctr"/>
            <a:r>
              <a:rPr sz="1350" b="0">
                <a:solidFill>
                  <a:srgbClr val="FFFFFF"/>
                </a:solidFill>
                <a:latin typeface="Segoe UI"/>
              </a:rPr>
              <a:t>IP2 ≠ IP1</a:t>
            </a:r>
          </a:p>
        </p:txBody>
      </p:sp>
      <p:sp>
        <p:nvSpPr>
          <p:cNvPr id="39" name="Shape"/>
          <p:cNvSpPr/>
          <p:nvPr/>
        </p:nvSpPr>
        <p:spPr>
          <a:xfrm>
            <a:off x="548640" y="3566160"/>
            <a:ext cx="11094415" cy="173736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Box"/>
          <p:cNvSpPr txBox="1"/>
          <p:nvPr/>
        </p:nvSpPr>
        <p:spPr>
          <a:xfrm>
            <a:off x="777240" y="3675888"/>
            <a:ext cx="365760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Com DNS Proxy</a:t>
            </a:r>
          </a:p>
        </p:txBody>
      </p:sp>
      <p:sp>
        <p:nvSpPr>
          <p:cNvPr id="41" name="Shape"/>
          <p:cNvSpPr/>
          <p:nvPr/>
        </p:nvSpPr>
        <p:spPr>
          <a:xfrm>
            <a:off x="832104" y="4251960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2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939820" y="4359676"/>
            <a:ext cx="351495" cy="351495"/>
          </a:xfrm>
          <a:prstGeom prst="rect">
            <a:avLst/>
          </a:prstGeom>
        </p:spPr>
      </p:pic>
      <p:sp>
        <p:nvSpPr>
          <p:cNvPr id="43" name="TextBox"/>
          <p:cNvSpPr txBox="1"/>
          <p:nvPr/>
        </p:nvSpPr>
        <p:spPr>
          <a:xfrm>
            <a:off x="749808" y="4864608"/>
            <a:ext cx="731520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VM</a:t>
            </a:r>
          </a:p>
        </p:txBody>
      </p:sp>
      <p:sp>
        <p:nvSpPr>
          <p:cNvPr id="44" name="Shape"/>
          <p:cNvSpPr/>
          <p:nvPr/>
        </p:nvSpPr>
        <p:spPr>
          <a:xfrm>
            <a:off x="1444752" y="4525366"/>
            <a:ext cx="422453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5" name="Shape"/>
          <p:cNvSpPr/>
          <p:nvPr/>
        </p:nvSpPr>
        <p:spPr>
          <a:xfrm rot="5400000">
            <a:off x="1819656" y="4475988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6" name="Shape"/>
          <p:cNvSpPr/>
          <p:nvPr/>
        </p:nvSpPr>
        <p:spPr>
          <a:xfrm>
            <a:off x="1975104" y="420624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Box"/>
          <p:cNvSpPr txBox="1"/>
          <p:nvPr/>
        </p:nvSpPr>
        <p:spPr>
          <a:xfrm>
            <a:off x="2066544" y="4242816"/>
            <a:ext cx="2560320" cy="58521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VM usa o DNS Proxy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recebe IP1</a:t>
            </a:r>
          </a:p>
        </p:txBody>
      </p:sp>
      <p:sp>
        <p:nvSpPr>
          <p:cNvPr id="48" name="Shape"/>
          <p:cNvSpPr/>
          <p:nvPr/>
        </p:nvSpPr>
        <p:spPr>
          <a:xfrm>
            <a:off x="4754880" y="4525366"/>
            <a:ext cx="459029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9" name="Shape"/>
          <p:cNvSpPr/>
          <p:nvPr/>
        </p:nvSpPr>
        <p:spPr>
          <a:xfrm rot="5400000">
            <a:off x="5166360" y="4475988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0" name="Shape"/>
          <p:cNvSpPr/>
          <p:nvPr/>
        </p:nvSpPr>
        <p:spPr>
          <a:xfrm>
            <a:off x="5340096" y="4251960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51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5453482" y="4365346"/>
            <a:ext cx="340157" cy="340157"/>
          </a:xfrm>
          <a:prstGeom prst="rect">
            <a:avLst/>
          </a:prstGeom>
        </p:spPr>
      </p:pic>
      <p:sp>
        <p:nvSpPr>
          <p:cNvPr id="52" name="TextBox"/>
          <p:cNvSpPr txBox="1"/>
          <p:nvPr/>
        </p:nvSpPr>
        <p:spPr>
          <a:xfrm>
            <a:off x="5166360" y="4864608"/>
            <a:ext cx="914400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Firewall</a:t>
            </a:r>
          </a:p>
        </p:txBody>
      </p:sp>
      <p:sp>
        <p:nvSpPr>
          <p:cNvPr id="53" name="Shape"/>
          <p:cNvSpPr/>
          <p:nvPr/>
        </p:nvSpPr>
        <p:spPr>
          <a:xfrm>
            <a:off x="5961888" y="4525366"/>
            <a:ext cx="422453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4" name="Shape"/>
          <p:cNvSpPr/>
          <p:nvPr/>
        </p:nvSpPr>
        <p:spPr>
          <a:xfrm rot="5400000">
            <a:off x="6336792" y="4475988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5" name="Shape"/>
          <p:cNvSpPr/>
          <p:nvPr/>
        </p:nvSpPr>
        <p:spPr>
          <a:xfrm>
            <a:off x="6492240" y="4206240"/>
            <a:ext cx="2514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Box"/>
          <p:cNvSpPr txBox="1"/>
          <p:nvPr/>
        </p:nvSpPr>
        <p:spPr>
          <a:xfrm>
            <a:off x="6583680" y="4242816"/>
            <a:ext cx="2331720" cy="58521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Regra com FQDN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permite IP1</a:t>
            </a:r>
          </a:p>
        </p:txBody>
      </p:sp>
      <p:sp>
        <p:nvSpPr>
          <p:cNvPr id="57" name="Shape"/>
          <p:cNvSpPr/>
          <p:nvPr/>
        </p:nvSpPr>
        <p:spPr>
          <a:xfrm>
            <a:off x="9043416" y="4525366"/>
            <a:ext cx="422453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8" name="Shape"/>
          <p:cNvSpPr/>
          <p:nvPr/>
        </p:nvSpPr>
        <p:spPr>
          <a:xfrm rot="5400000">
            <a:off x="9418320" y="4475988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9" name="Shape"/>
          <p:cNvSpPr/>
          <p:nvPr/>
        </p:nvSpPr>
        <p:spPr>
          <a:xfrm>
            <a:off x="9573768" y="4169664"/>
            <a:ext cx="1840687" cy="731520"/>
          </a:xfrm>
          <a:prstGeom prst="roundRect">
            <a:avLst/>
          </a:prstGeom>
          <a:solidFill>
            <a:srgbClr val="107C10"/>
          </a:solidFill>
        </p:spPr>
        <p:txBody>
          <a:bodyPr/>
          <a:lstStyle/>
          <a:p>
            <a:endParaRPr/>
          </a:p>
        </p:txBody>
      </p:sp>
      <p:sp>
        <p:nvSpPr>
          <p:cNvPr id="60" name="TextBox"/>
          <p:cNvSpPr txBox="1"/>
          <p:nvPr/>
        </p:nvSpPr>
        <p:spPr>
          <a:xfrm>
            <a:off x="9665208" y="4206240"/>
            <a:ext cx="1657807" cy="65836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Allow</a:t>
            </a:r>
          </a:p>
          <a:p>
            <a:pPr algn="ctr"/>
            <a:r>
              <a:rPr sz="1350" b="0">
                <a:solidFill>
                  <a:srgbClr val="FFFFFF"/>
                </a:solidFill>
                <a:latin typeface="Segoe UI"/>
              </a:rPr>
              <a:t>mesmo IP</a:t>
            </a:r>
          </a:p>
        </p:txBody>
      </p:sp>
      <p:sp>
        <p:nvSpPr>
          <p:cNvPr id="61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62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ARQUITETURA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40E8D8F-14D8-4206-F333-4D1F4FD85FF3}"/>
              </a:ext>
            </a:extLst>
          </p:cNvPr>
          <p:cNvSpPr/>
          <p:nvPr/>
        </p:nvSpPr>
        <p:spPr>
          <a:xfrm>
            <a:off x="914400" y="5458968"/>
            <a:ext cx="10637215" cy="6949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FQDN em network rule exige a VM usando o firewall como DNS</a:t>
            </a:r>
          </a:p>
          <a:p>
            <a:pPr algn="l">
              <a:buNone/>
            </a:pPr>
            <a:r>
              <a:rPr lang="en-US" sz="1300">
                <a:solidFill>
                  <a:srgbClr val="C9D6EA"/>
                </a:solidFill>
                <a:effectLst/>
                <a:latin typeface="Segoe UI" panose="020B0502040204020203" pitchFamily="34" charset="0"/>
              </a:rPr>
              <a:t>Em application rule, o FQDN vem do SNI/Host e o IP do cliente é ignorado (slide 20)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Firewall Policy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Policy → rule collection group → rule collection → regra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13</a:t>
            </a: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Toda regra mora numa collection, dentro de um grupo, dentro da policy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A policy é associada ao firewall · prioridades de 100 (primeiro) a 65.000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6903720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49808" y="1792224"/>
            <a:ext cx="329184" cy="329184"/>
          </a:xfrm>
          <a:prstGeom prst="rect">
            <a:avLst/>
          </a:prstGeom>
        </p:spPr>
      </p:pic>
      <p:sp>
        <p:nvSpPr>
          <p:cNvPr id="19" name="TextBox"/>
          <p:cNvSpPr txBox="1"/>
          <p:nvPr/>
        </p:nvSpPr>
        <p:spPr>
          <a:xfrm>
            <a:off x="1170432" y="1764792"/>
            <a:ext cx="36576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Firewall Policy</a:t>
            </a:r>
          </a:p>
        </p:txBody>
      </p:sp>
      <p:sp>
        <p:nvSpPr>
          <p:cNvPr id="20" name="Shape"/>
          <p:cNvSpPr/>
          <p:nvPr/>
        </p:nvSpPr>
        <p:spPr>
          <a:xfrm>
            <a:off x="777240" y="2212848"/>
            <a:ext cx="6446520" cy="2907792"/>
          </a:xfrm>
          <a:prstGeom prst="rect">
            <a:avLst/>
          </a:prstGeom>
          <a:solidFill>
            <a:srgbClr val="E8F1FB"/>
          </a:solidFill>
          <a:ln w="9525">
            <a:solidFill>
              <a:srgbClr val="A9CB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Box"/>
          <p:cNvSpPr txBox="1"/>
          <p:nvPr/>
        </p:nvSpPr>
        <p:spPr>
          <a:xfrm>
            <a:off x="1005840" y="2304288"/>
            <a:ext cx="502920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005A9E"/>
                </a:solidFill>
                <a:latin typeface="Segoe UI"/>
              </a:rPr>
              <a:t>Rule collection group (RCG)</a:t>
            </a:r>
          </a:p>
        </p:txBody>
      </p:sp>
      <p:sp>
        <p:nvSpPr>
          <p:cNvPr id="22" name="Shape"/>
          <p:cNvSpPr/>
          <p:nvPr/>
        </p:nvSpPr>
        <p:spPr>
          <a:xfrm>
            <a:off x="1005840" y="2743200"/>
            <a:ext cx="5989320" cy="2194560"/>
          </a:xfrm>
          <a:prstGeom prst="rect">
            <a:avLst/>
          </a:prstGeom>
          <a:solidFill>
            <a:srgbClr val="DEECF9"/>
          </a:solidFill>
          <a:ln w="9525">
            <a:solidFill>
              <a:srgbClr val="86B6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"/>
          <p:cNvSpPr txBox="1"/>
          <p:nvPr/>
        </p:nvSpPr>
        <p:spPr>
          <a:xfrm>
            <a:off x="1234440" y="2834640"/>
            <a:ext cx="457200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005A9E"/>
                </a:solidFill>
                <a:latin typeface="Segoe UI"/>
              </a:rPr>
              <a:t>Rule collection</a:t>
            </a:r>
          </a:p>
        </p:txBody>
      </p:sp>
      <p:sp>
        <p:nvSpPr>
          <p:cNvPr id="24" name="Shape"/>
          <p:cNvSpPr/>
          <p:nvPr/>
        </p:nvSpPr>
        <p:spPr>
          <a:xfrm>
            <a:off x="1234440" y="3273552"/>
            <a:ext cx="5532120" cy="1463040"/>
          </a:xfrm>
          <a:prstGeom prst="rect">
            <a:avLst/>
          </a:prstGeom>
          <a:solidFill>
            <a:srgbClr val="0E1A33"/>
          </a:solidFill>
        </p:spPr>
        <p:txBody>
          <a:bodyPr/>
          <a:lstStyle/>
          <a:p>
            <a:endParaRPr/>
          </a:p>
        </p:txBody>
      </p:sp>
      <p:sp>
        <p:nvSpPr>
          <p:cNvPr id="25" name="Shape"/>
          <p:cNvSpPr/>
          <p:nvPr/>
        </p:nvSpPr>
        <p:spPr>
          <a:xfrm>
            <a:off x="6199632" y="3429000"/>
            <a:ext cx="82296" cy="82296"/>
          </a:xfrm>
          <a:prstGeom prst="ellipse">
            <a:avLst/>
          </a:prstGeom>
          <a:solidFill>
            <a:srgbClr val="3A5683"/>
          </a:solidFill>
        </p:spPr>
        <p:txBody>
          <a:bodyPr/>
          <a:lstStyle/>
          <a:p>
            <a:endParaRPr/>
          </a:p>
        </p:txBody>
      </p:sp>
      <p:sp>
        <p:nvSpPr>
          <p:cNvPr id="26" name="Shape"/>
          <p:cNvSpPr/>
          <p:nvPr/>
        </p:nvSpPr>
        <p:spPr>
          <a:xfrm>
            <a:off x="6355080" y="3429000"/>
            <a:ext cx="82296" cy="82296"/>
          </a:xfrm>
          <a:prstGeom prst="ellipse">
            <a:avLst/>
          </a:prstGeom>
          <a:solidFill>
            <a:srgbClr val="3A5683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>
            <a:off x="6510528" y="3429000"/>
            <a:ext cx="82296" cy="82296"/>
          </a:xfrm>
          <a:prstGeom prst="ellipse">
            <a:avLst/>
          </a:prstGeom>
          <a:solidFill>
            <a:srgbClr val="3A5683"/>
          </a:solidFill>
        </p:spPr>
        <p:txBody>
          <a:bodyPr/>
          <a:lstStyle/>
          <a:p>
            <a:endParaRPr/>
          </a:p>
        </p:txBody>
      </p:sp>
      <p:sp>
        <p:nvSpPr>
          <p:cNvPr id="28" name="TextBox"/>
          <p:cNvSpPr txBox="1"/>
          <p:nvPr/>
        </p:nvSpPr>
        <p:spPr>
          <a:xfrm>
            <a:off x="1463040" y="3364992"/>
            <a:ext cx="1828800" cy="31089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50E6FF"/>
                </a:solidFill>
                <a:latin typeface="Segoe UI"/>
              </a:rPr>
              <a:t>Regra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463040" y="3749040"/>
            <a:ext cx="5074920" cy="87782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500" b="0">
                <a:solidFill>
                  <a:srgbClr val="E6EDF7"/>
                </a:solidFill>
                <a:latin typeface="Consolas"/>
              </a:rPr>
              <a:t>origem   10.1.0.0/24</a:t>
            </a:r>
          </a:p>
          <a:p>
            <a:pPr algn="l"/>
            <a:r>
              <a:rPr sz="1500" b="0">
                <a:solidFill>
                  <a:srgbClr val="E6EDF7"/>
                </a:solidFill>
                <a:latin typeface="Consolas"/>
              </a:rPr>
              <a:t>destino  www.microsoft.com</a:t>
            </a:r>
          </a:p>
          <a:p>
            <a:pPr algn="l"/>
            <a:r>
              <a:rPr sz="1500" b="0">
                <a:solidFill>
                  <a:srgbClr val="E6EDF7"/>
                </a:solidFill>
                <a:latin typeface="Consolas"/>
              </a:rPr>
              <a:t>porta    443 (HTTPS)</a:t>
            </a:r>
          </a:p>
        </p:txBody>
      </p:sp>
      <p:sp>
        <p:nvSpPr>
          <p:cNvPr id="30" name="Shape"/>
          <p:cNvSpPr/>
          <p:nvPr/>
        </p:nvSpPr>
        <p:spPr>
          <a:xfrm>
            <a:off x="7726680" y="1645920"/>
            <a:ext cx="391637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"/>
          <p:cNvSpPr/>
          <p:nvPr/>
        </p:nvSpPr>
        <p:spPr>
          <a:xfrm>
            <a:off x="7927848" y="1865376"/>
            <a:ext cx="365760" cy="36576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Box"/>
          <p:cNvSpPr txBox="1"/>
          <p:nvPr/>
        </p:nvSpPr>
        <p:spPr>
          <a:xfrm>
            <a:off x="8476488" y="1700784"/>
            <a:ext cx="3047695" cy="6949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Policy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TI, IDPS, DNS, TLS e regras</a:t>
            </a:r>
          </a:p>
        </p:txBody>
      </p:sp>
      <p:sp>
        <p:nvSpPr>
          <p:cNvPr id="33" name="Shape"/>
          <p:cNvSpPr/>
          <p:nvPr/>
        </p:nvSpPr>
        <p:spPr>
          <a:xfrm>
            <a:off x="7726680" y="2596896"/>
            <a:ext cx="391637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7927848" y="2816352"/>
            <a:ext cx="365760" cy="365760"/>
          </a:xfrm>
          <a:prstGeom prst="rect">
            <a:avLst/>
          </a:prstGeom>
          <a:solidFill>
            <a:srgbClr val="E8F1FB"/>
          </a:solidFill>
          <a:ln w="9525">
            <a:solidFill>
              <a:srgbClr val="A9CB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Box"/>
          <p:cNvSpPr txBox="1"/>
          <p:nvPr/>
        </p:nvSpPr>
        <p:spPr>
          <a:xfrm>
            <a:off x="8476488" y="2651760"/>
            <a:ext cx="3047695" cy="6949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RCG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prioridade · pode misturar tipos</a:t>
            </a:r>
          </a:p>
        </p:txBody>
      </p:sp>
      <p:sp>
        <p:nvSpPr>
          <p:cNvPr id="36" name="Shape"/>
          <p:cNvSpPr/>
          <p:nvPr/>
        </p:nvSpPr>
        <p:spPr>
          <a:xfrm>
            <a:off x="7726680" y="3547872"/>
            <a:ext cx="391637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>
            <a:off x="7927848" y="3767328"/>
            <a:ext cx="365760" cy="365760"/>
          </a:xfrm>
          <a:prstGeom prst="rect">
            <a:avLst/>
          </a:prstGeom>
          <a:solidFill>
            <a:srgbClr val="DEECF9"/>
          </a:solidFill>
          <a:ln w="9525">
            <a:solidFill>
              <a:srgbClr val="86B6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TextBox"/>
          <p:cNvSpPr txBox="1"/>
          <p:nvPr/>
        </p:nvSpPr>
        <p:spPr>
          <a:xfrm>
            <a:off x="8476488" y="3602736"/>
            <a:ext cx="3047695" cy="6949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Collection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um tipo · ação · prioridade</a:t>
            </a:r>
          </a:p>
        </p:txBody>
      </p:sp>
      <p:sp>
        <p:nvSpPr>
          <p:cNvPr id="39" name="Shape"/>
          <p:cNvSpPr/>
          <p:nvPr/>
        </p:nvSpPr>
        <p:spPr>
          <a:xfrm>
            <a:off x="7726680" y="4498848"/>
            <a:ext cx="391637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Shape"/>
          <p:cNvSpPr/>
          <p:nvPr/>
        </p:nvSpPr>
        <p:spPr>
          <a:xfrm>
            <a:off x="7927848" y="4718304"/>
            <a:ext cx="365760" cy="365760"/>
          </a:xfrm>
          <a:prstGeom prst="rect">
            <a:avLst/>
          </a:prstGeom>
          <a:solidFill>
            <a:srgbClr val="0E1A33"/>
          </a:solidFill>
        </p:spPr>
        <p:txBody>
          <a:bodyPr/>
          <a:lstStyle/>
          <a:p>
            <a:endParaRPr/>
          </a:p>
        </p:txBody>
      </p:sp>
      <p:sp>
        <p:nvSpPr>
          <p:cNvPr id="41" name="TextBox"/>
          <p:cNvSpPr txBox="1"/>
          <p:nvPr/>
        </p:nvSpPr>
        <p:spPr>
          <a:xfrm>
            <a:off x="8476488" y="4553712"/>
            <a:ext cx="3047695" cy="6949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Regra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origem, destino, porta ou FQDN</a:t>
            </a:r>
          </a:p>
        </p:txBody>
      </p:sp>
      <p:sp>
        <p:nvSpPr>
          <p:cNvPr id="42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Firewall Manager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Uma policy, vários firewalls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200" b="1">
                <a:solidFill>
                  <a:srgbClr val="3B4A5E"/>
                </a:solidFill>
                <a:latin typeface="Segoe UI"/>
              </a:rPr>
              <a:t>10</a:t>
            </a: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Uma policy, vários firewalls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Hub VNet e secured hub, em assinaturas diferentes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Shape"/>
          <p:cNvSpPr/>
          <p:nvPr/>
        </p:nvSpPr>
        <p:spPr>
          <a:xfrm>
            <a:off x="749808" y="1773936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9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47100" y="1871228"/>
            <a:ext cx="317480" cy="317480"/>
          </a:xfrm>
          <a:prstGeom prst="rect">
            <a:avLst/>
          </a:prstGeom>
        </p:spPr>
      </p:pic>
      <p:sp>
        <p:nvSpPr>
          <p:cNvPr id="20" name="TextBox"/>
          <p:cNvSpPr txBox="1"/>
          <p:nvPr/>
        </p:nvSpPr>
        <p:spPr>
          <a:xfrm>
            <a:off x="1389888" y="1773936"/>
            <a:ext cx="3840480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Azure Firewall Manager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onde a policy é associada aos firewalls</a:t>
            </a:r>
          </a:p>
        </p:txBody>
      </p:sp>
      <p:sp>
        <p:nvSpPr>
          <p:cNvPr id="21" name="Shape"/>
          <p:cNvSpPr/>
          <p:nvPr/>
        </p:nvSpPr>
        <p:spPr>
          <a:xfrm>
            <a:off x="4907585" y="1810512"/>
            <a:ext cx="2377440" cy="1115568"/>
          </a:xfrm>
          <a:prstGeom prst="rect">
            <a:avLst/>
          </a:prstGeom>
          <a:solidFill>
            <a:srgbClr val="FFFFFF"/>
          </a:solidFill>
          <a:ln w="15875">
            <a:solidFill>
              <a:srgbClr val="0B1B3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5849417" y="1865376"/>
            <a:ext cx="493776" cy="493776"/>
          </a:xfrm>
          <a:prstGeom prst="rect">
            <a:avLst/>
          </a:prstGeom>
        </p:spPr>
      </p:pic>
      <p:sp>
        <p:nvSpPr>
          <p:cNvPr id="23" name="TextBox"/>
          <p:cNvSpPr txBox="1"/>
          <p:nvPr/>
        </p:nvSpPr>
        <p:spPr>
          <a:xfrm>
            <a:off x="4953305" y="2377440"/>
            <a:ext cx="2286000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Firewall Policy</a:t>
            </a:r>
          </a:p>
          <a:p>
            <a:pPr algn="ctr"/>
            <a:r>
              <a:rPr sz="1250" b="0">
                <a:solidFill>
                  <a:srgbClr val="3B4A5E"/>
                </a:solidFill>
                <a:latin typeface="Segoe UI"/>
              </a:rPr>
              <a:t>regras e configurações</a:t>
            </a:r>
          </a:p>
        </p:txBody>
      </p:sp>
      <p:sp>
        <p:nvSpPr>
          <p:cNvPr id="24" name="Shape"/>
          <p:cNvSpPr/>
          <p:nvPr/>
        </p:nvSpPr>
        <p:spPr>
          <a:xfrm>
            <a:off x="6084875" y="2926080"/>
            <a:ext cx="22860" cy="201168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5" name="Shape"/>
          <p:cNvSpPr/>
          <p:nvPr/>
        </p:nvSpPr>
        <p:spPr>
          <a:xfrm>
            <a:off x="2458669" y="3115818"/>
            <a:ext cx="7274357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6" name="Shape"/>
          <p:cNvSpPr/>
          <p:nvPr/>
        </p:nvSpPr>
        <p:spPr>
          <a:xfrm>
            <a:off x="2447239" y="3116275"/>
            <a:ext cx="22860" cy="14630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 rot="10800000">
            <a:off x="2403805" y="3218688"/>
            <a:ext cx="109728" cy="109728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>
            <a:off x="777240" y="3346704"/>
            <a:ext cx="3362858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Box"/>
          <p:cNvSpPr txBox="1"/>
          <p:nvPr/>
        </p:nvSpPr>
        <p:spPr>
          <a:xfrm>
            <a:off x="1005840" y="3456432"/>
            <a:ext cx="290565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Assinatura A</a:t>
            </a:r>
          </a:p>
        </p:txBody>
      </p:sp>
      <p:pic>
        <p:nvPicPr>
          <p:cNvPr id="30" name="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1005840" y="3858768"/>
            <a:ext cx="292608" cy="292608"/>
          </a:xfrm>
          <a:prstGeom prst="rect">
            <a:avLst/>
          </a:prstGeom>
        </p:spPr>
      </p:pic>
      <p:sp>
        <p:nvSpPr>
          <p:cNvPr id="31" name="TextBox"/>
          <p:cNvSpPr txBox="1"/>
          <p:nvPr/>
        </p:nvSpPr>
        <p:spPr>
          <a:xfrm>
            <a:off x="1380744" y="3840480"/>
            <a:ext cx="258561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Hub VNet</a:t>
            </a:r>
          </a:p>
        </p:txBody>
      </p:sp>
      <p:sp>
        <p:nvSpPr>
          <p:cNvPr id="32" name="Shape"/>
          <p:cNvSpPr/>
          <p:nvPr/>
        </p:nvSpPr>
        <p:spPr>
          <a:xfrm>
            <a:off x="1005840" y="4292194"/>
            <a:ext cx="2905658" cy="10973"/>
          </a:xfrm>
          <a:prstGeom prst="rect">
            <a:avLst/>
          </a:prstGeom>
          <a:solidFill>
            <a:srgbClr val="D5DDE8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1042416" y="4416552"/>
            <a:ext cx="530352" cy="53035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4" name="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1148486" y="4522622"/>
            <a:ext cx="318211" cy="318211"/>
          </a:xfrm>
          <a:prstGeom prst="rect">
            <a:avLst/>
          </a:prstGeom>
        </p:spPr>
      </p:pic>
      <p:sp>
        <p:nvSpPr>
          <p:cNvPr id="35" name="TextBox"/>
          <p:cNvSpPr txBox="1"/>
          <p:nvPr/>
        </p:nvSpPr>
        <p:spPr>
          <a:xfrm>
            <a:off x="1691640" y="4517136"/>
            <a:ext cx="226557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Azure Firewall</a:t>
            </a:r>
          </a:p>
        </p:txBody>
      </p:sp>
      <p:sp>
        <p:nvSpPr>
          <p:cNvPr id="36" name="Shape"/>
          <p:cNvSpPr/>
          <p:nvPr/>
        </p:nvSpPr>
        <p:spPr>
          <a:xfrm>
            <a:off x="6084418" y="3116275"/>
            <a:ext cx="22860" cy="14630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 rot="10800000">
            <a:off x="6040984" y="3218688"/>
            <a:ext cx="109728" cy="109728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4414418" y="3346704"/>
            <a:ext cx="3362858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Box"/>
          <p:cNvSpPr txBox="1"/>
          <p:nvPr/>
        </p:nvSpPr>
        <p:spPr>
          <a:xfrm>
            <a:off x="4643018" y="3456432"/>
            <a:ext cx="290565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Assinatura B</a:t>
            </a:r>
          </a:p>
        </p:txBody>
      </p:sp>
      <p:pic>
        <p:nvPicPr>
          <p:cNvPr id="40" name="Picture"/>
          <p:cNvPicPr/>
          <p:nvPr/>
        </p:nvPicPr>
        <p:blipFill>
          <a:blip r:embed="rId7"/>
          <a:stretch>
            <a:fillRect/>
          </a:stretch>
        </p:blipFill>
        <p:spPr>
          <a:xfrm>
            <a:off x="4643018" y="3858768"/>
            <a:ext cx="292608" cy="292608"/>
          </a:xfrm>
          <a:prstGeom prst="rect">
            <a:avLst/>
          </a:prstGeom>
        </p:spPr>
      </p:pic>
      <p:sp>
        <p:nvSpPr>
          <p:cNvPr id="41" name="TextBox"/>
          <p:cNvSpPr txBox="1"/>
          <p:nvPr/>
        </p:nvSpPr>
        <p:spPr>
          <a:xfrm>
            <a:off x="5017922" y="3840480"/>
            <a:ext cx="258561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Secured hub (vWAN)</a:t>
            </a:r>
          </a:p>
        </p:txBody>
      </p:sp>
      <p:sp>
        <p:nvSpPr>
          <p:cNvPr id="42" name="Shape"/>
          <p:cNvSpPr/>
          <p:nvPr/>
        </p:nvSpPr>
        <p:spPr>
          <a:xfrm>
            <a:off x="4643018" y="4292194"/>
            <a:ext cx="2905658" cy="10973"/>
          </a:xfrm>
          <a:prstGeom prst="rect">
            <a:avLst/>
          </a:prstGeom>
          <a:solidFill>
            <a:srgbClr val="D5DDE8"/>
          </a:solidFill>
        </p:spPr>
        <p:txBody>
          <a:bodyPr/>
          <a:lstStyle/>
          <a:p>
            <a:endParaRPr/>
          </a:p>
        </p:txBody>
      </p:sp>
      <p:sp>
        <p:nvSpPr>
          <p:cNvPr id="43" name="Shape"/>
          <p:cNvSpPr/>
          <p:nvPr/>
        </p:nvSpPr>
        <p:spPr>
          <a:xfrm>
            <a:off x="4679594" y="4416552"/>
            <a:ext cx="530352" cy="53035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4" name="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4785665" y="4522622"/>
            <a:ext cx="318211" cy="318211"/>
          </a:xfrm>
          <a:prstGeom prst="rect">
            <a:avLst/>
          </a:prstGeom>
        </p:spPr>
      </p:pic>
      <p:sp>
        <p:nvSpPr>
          <p:cNvPr id="45" name="TextBox"/>
          <p:cNvSpPr txBox="1"/>
          <p:nvPr/>
        </p:nvSpPr>
        <p:spPr>
          <a:xfrm>
            <a:off x="5328818" y="4517136"/>
            <a:ext cx="226557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Azure Firewall</a:t>
            </a:r>
          </a:p>
        </p:txBody>
      </p:sp>
      <p:sp>
        <p:nvSpPr>
          <p:cNvPr id="46" name="Shape"/>
          <p:cNvSpPr/>
          <p:nvPr/>
        </p:nvSpPr>
        <p:spPr>
          <a:xfrm>
            <a:off x="9721596" y="3116275"/>
            <a:ext cx="22860" cy="14630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7" name="Shape"/>
          <p:cNvSpPr/>
          <p:nvPr/>
        </p:nvSpPr>
        <p:spPr>
          <a:xfrm rot="10800000">
            <a:off x="9678162" y="3218688"/>
            <a:ext cx="109728" cy="109728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8" name="Shape"/>
          <p:cNvSpPr/>
          <p:nvPr/>
        </p:nvSpPr>
        <p:spPr>
          <a:xfrm>
            <a:off x="8051597" y="3346704"/>
            <a:ext cx="3362858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TextBox"/>
          <p:cNvSpPr txBox="1"/>
          <p:nvPr/>
        </p:nvSpPr>
        <p:spPr>
          <a:xfrm>
            <a:off x="8280197" y="3456432"/>
            <a:ext cx="290565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Assinatura C</a:t>
            </a:r>
          </a:p>
        </p:txBody>
      </p:sp>
      <p:pic>
        <p:nvPicPr>
          <p:cNvPr id="50" name="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8280197" y="3858768"/>
            <a:ext cx="292608" cy="292608"/>
          </a:xfrm>
          <a:prstGeom prst="rect">
            <a:avLst/>
          </a:prstGeom>
        </p:spPr>
      </p:pic>
      <p:sp>
        <p:nvSpPr>
          <p:cNvPr id="51" name="TextBox"/>
          <p:cNvSpPr txBox="1"/>
          <p:nvPr/>
        </p:nvSpPr>
        <p:spPr>
          <a:xfrm>
            <a:off x="8655101" y="3840480"/>
            <a:ext cx="258561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Hub VNet · outra região</a:t>
            </a:r>
          </a:p>
        </p:txBody>
      </p:sp>
      <p:sp>
        <p:nvSpPr>
          <p:cNvPr id="52" name="Shape"/>
          <p:cNvSpPr/>
          <p:nvPr/>
        </p:nvSpPr>
        <p:spPr>
          <a:xfrm>
            <a:off x="8280197" y="4292194"/>
            <a:ext cx="2905658" cy="10973"/>
          </a:xfrm>
          <a:prstGeom prst="rect">
            <a:avLst/>
          </a:prstGeom>
          <a:solidFill>
            <a:srgbClr val="D5DDE8"/>
          </a:solidFill>
        </p:spPr>
        <p:txBody>
          <a:bodyPr/>
          <a:lstStyle/>
          <a:p>
            <a:endParaRPr/>
          </a:p>
        </p:txBody>
      </p:sp>
      <p:sp>
        <p:nvSpPr>
          <p:cNvPr id="53" name="Shape"/>
          <p:cNvSpPr/>
          <p:nvPr/>
        </p:nvSpPr>
        <p:spPr>
          <a:xfrm>
            <a:off x="8316773" y="4416552"/>
            <a:ext cx="530352" cy="53035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54" name="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8422843" y="4522622"/>
            <a:ext cx="318211" cy="318211"/>
          </a:xfrm>
          <a:prstGeom prst="rect">
            <a:avLst/>
          </a:prstGeom>
        </p:spPr>
      </p:pic>
      <p:sp>
        <p:nvSpPr>
          <p:cNvPr id="55" name="TextBox"/>
          <p:cNvSpPr txBox="1"/>
          <p:nvPr/>
        </p:nvSpPr>
        <p:spPr>
          <a:xfrm>
            <a:off x="8965997" y="4517136"/>
            <a:ext cx="2265578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Azure Firewall</a:t>
            </a:r>
          </a:p>
        </p:txBody>
      </p:sp>
      <p:sp>
        <p:nvSpPr>
          <p:cNvPr id="56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ARQUITETURA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Rule collection group e rule collection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O RCG organiza e ordena; a collection define o tipo e a ação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14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42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5A574028-72B7-6B4C-4A8D-DC67A25896C0}"/>
              </a:ext>
            </a:extLst>
          </p:cNvPr>
          <p:cNvSpPr/>
          <p:nvPr/>
        </p:nvSpPr>
        <p:spPr>
          <a:xfrm>
            <a:off x="914400" y="5458968"/>
            <a:ext cx="10637215" cy="6949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O RCG organiza e ordena; a collection define o tipo e a ação</a:t>
            </a:r>
          </a:p>
          <a:p>
            <a:pPr algn="l">
              <a:buNone/>
            </a:pPr>
            <a:r>
              <a:rPr lang="en-US" sz="1300">
                <a:solidFill>
                  <a:srgbClr val="C9D6EA"/>
                </a:solidFill>
                <a:effectLst/>
                <a:latin typeface="Segoe UI" panose="020B0502040204020203" pitchFamily="34" charset="0"/>
              </a:rPr>
              <a:t>A regra usa o tipo e a ação da collection onde está</a:t>
            </a:r>
            <a:endParaRPr lang="en-US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29534FB2-6D75-B3BF-6958-42559B647A53}"/>
              </a:ext>
            </a:extLst>
          </p:cNvPr>
          <p:cNvSpPr/>
          <p:nvPr/>
        </p:nvSpPr>
        <p:spPr>
          <a:xfrm>
            <a:off x="548640" y="1627632"/>
            <a:ext cx="5166360" cy="2980944"/>
          </a:xfrm>
          <a:prstGeom prst="rect">
            <a:avLst/>
          </a:prstGeom>
          <a:solidFill>
            <a:srgbClr val="FFFFFF"/>
          </a:solidFill>
          <a:ln w="19050">
            <a:solidFill>
              <a:srgbClr val="0B1B3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F071E2E5-9310-A34A-5D82-C0E9855CC6F2}"/>
              </a:ext>
            </a:extLst>
          </p:cNvPr>
          <p:cNvSpPr/>
          <p:nvPr/>
        </p:nvSpPr>
        <p:spPr>
          <a:xfrm>
            <a:off x="768096" y="1694383"/>
            <a:ext cx="566928" cy="566928"/>
          </a:xfrm>
          <a:prstGeom prst="ellipse">
            <a:avLst/>
          </a:prstGeom>
          <a:solidFill>
            <a:srgbClr val="EFF6FC"/>
          </a:solidFill>
          <a:ln w="12700">
            <a:solidFill>
              <a:srgbClr val="0B1B3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48228E59-2C92-0450-E7C8-E7BC2F77DC10}"/>
              </a:ext>
            </a:extLst>
          </p:cNvPr>
          <p:cNvSpPr/>
          <p:nvPr/>
        </p:nvSpPr>
        <p:spPr>
          <a:xfrm>
            <a:off x="1408176" y="1719072"/>
            <a:ext cx="4197096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>
                <a:solidFill>
                  <a:srgbClr val="0B1B3F"/>
                </a:solidFill>
                <a:effectLst/>
                <a:latin typeface="Segoe UI" panose="020B0502040204020203" pitchFamily="34" charset="0"/>
              </a:rPr>
              <a:t>Rule collection group (RCG)</a:t>
            </a:r>
          </a:p>
          <a:p>
            <a:pPr algn="l">
              <a:buNone/>
            </a:pPr>
            <a:r>
              <a:rPr lang="en-US" sz="14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o que o firewall ordena primeiro</a:t>
            </a:r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F4B24F19-ACC3-BDC3-A529-EC413694C20D}"/>
              </a:ext>
            </a:extLst>
          </p:cNvPr>
          <p:cNvSpPr/>
          <p:nvPr/>
        </p:nvSpPr>
        <p:spPr>
          <a:xfrm>
            <a:off x="749808" y="2505456"/>
            <a:ext cx="4764024" cy="3840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agrupa collections, de tipos diferentes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F68D134-E182-BA5B-3E4F-4CD0279F99E3}"/>
              </a:ext>
            </a:extLst>
          </p:cNvPr>
          <p:cNvSpPr/>
          <p:nvPr/>
        </p:nvSpPr>
        <p:spPr>
          <a:xfrm>
            <a:off x="749808" y="2889504"/>
            <a:ext cx="4764024" cy="3840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prioridade de 100 a 65.000 · menor primeiro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4FC8C467-4D03-6BD4-D739-3CFCA3914E04}"/>
              </a:ext>
            </a:extLst>
          </p:cNvPr>
          <p:cNvSpPr/>
          <p:nvPr/>
        </p:nvSpPr>
        <p:spPr>
          <a:xfrm>
            <a:off x="749808" y="3273552"/>
            <a:ext cx="4764024" cy="3840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organize por workload, VNet ou time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95699F57-43D5-75C9-B68D-8C16C418991B}"/>
              </a:ext>
            </a:extLst>
          </p:cNvPr>
          <p:cNvSpPr/>
          <p:nvPr/>
        </p:nvSpPr>
        <p:spPr>
          <a:xfrm>
            <a:off x="749808" y="3657600"/>
            <a:ext cx="4764024" cy="3840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acesso por RCG com custom role (RBAC)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4FE62150-24D3-093B-365B-06FE100E6F0D}"/>
              </a:ext>
            </a:extLst>
          </p:cNvPr>
          <p:cNvSpPr/>
          <p:nvPr/>
        </p:nvSpPr>
        <p:spPr>
          <a:xfrm>
            <a:off x="749808" y="4114800"/>
            <a:ext cx="4764024" cy="384048"/>
          </a:xfrm>
          <a:prstGeom prst="rect">
            <a:avLst/>
          </a:prstGeom>
          <a:solidFill>
            <a:srgbClr val="0B1B3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ex.: RCG 200 · workload 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5FA7A4D7-4ABC-2EF4-1AC8-0CB867B3F0AC}"/>
              </a:ext>
            </a:extLst>
          </p:cNvPr>
          <p:cNvSpPr/>
          <p:nvPr/>
        </p:nvSpPr>
        <p:spPr>
          <a:xfrm>
            <a:off x="6476695" y="1627632"/>
            <a:ext cx="5166360" cy="2980944"/>
          </a:xfrm>
          <a:prstGeom prst="rect">
            <a:avLst/>
          </a:prstGeom>
          <a:solidFill>
            <a:srgbClr val="EFF6FC"/>
          </a:solidFill>
          <a:ln w="1905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Oval 1098">
            <a:extLst>
              <a:ext uri="{FF2B5EF4-FFF2-40B4-BE49-F238E27FC236}">
                <a16:creationId xmlns:a16="http://schemas.microsoft.com/office/drawing/2014/main" id="{8D409F6F-F125-CFE8-3FD1-D393B95EB1B6}"/>
              </a:ext>
            </a:extLst>
          </p:cNvPr>
          <p:cNvSpPr/>
          <p:nvPr/>
        </p:nvSpPr>
        <p:spPr>
          <a:xfrm>
            <a:off x="6696151" y="1694383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7E11A9D2-59A6-C22F-0C10-65590CCC3194}"/>
              </a:ext>
            </a:extLst>
          </p:cNvPr>
          <p:cNvSpPr/>
          <p:nvPr/>
        </p:nvSpPr>
        <p:spPr>
          <a:xfrm>
            <a:off x="7336231" y="1719072"/>
            <a:ext cx="4197096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>
                <a:solidFill>
                  <a:srgbClr val="005A9E"/>
                </a:solidFill>
                <a:effectLst/>
                <a:latin typeface="Segoe UI" panose="020B0502040204020203" pitchFamily="34" charset="0"/>
              </a:rPr>
              <a:t>Rule collection (RC)</a:t>
            </a:r>
          </a:p>
          <a:p>
            <a:pPr algn="l">
              <a:buNone/>
            </a:pPr>
            <a:r>
              <a:rPr lang="en-US" sz="14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o que o firewall ordena dentro do RCG</a:t>
            </a:r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2391975D-3CF1-A79D-7F64-B8310DB49CC1}"/>
              </a:ext>
            </a:extLst>
          </p:cNvPr>
          <p:cNvSpPr/>
          <p:nvPr/>
        </p:nvSpPr>
        <p:spPr>
          <a:xfrm>
            <a:off x="6677863" y="2505456"/>
            <a:ext cx="476402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um tipo só: DNAT, Network ou Application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5EC191AF-87AF-65B5-4F86-54725DD7CB98}"/>
              </a:ext>
            </a:extLst>
          </p:cNvPr>
          <p:cNvSpPr/>
          <p:nvPr/>
        </p:nvSpPr>
        <p:spPr>
          <a:xfrm>
            <a:off x="6677863" y="2889504"/>
            <a:ext cx="476402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uma ação para todas: Allow, Deny ou DNAT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02DABEF2-19E9-5CEB-F0DF-6E874CCBCD4F}"/>
              </a:ext>
            </a:extLst>
          </p:cNvPr>
          <p:cNvSpPr/>
          <p:nvPr/>
        </p:nvSpPr>
        <p:spPr>
          <a:xfrm>
            <a:off x="6677863" y="3273552"/>
            <a:ext cx="476402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dirty="0" err="1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prioridade</a:t>
            </a:r>
            <a:r>
              <a:rPr lang="en-US" sz="1400" dirty="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 de 100 a 65.000 </a:t>
            </a:r>
            <a:r>
              <a:rPr lang="en-US" sz="1400" dirty="0" err="1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dentro</a:t>
            </a:r>
            <a:r>
              <a:rPr lang="en-US" sz="1400" dirty="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 do RC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1174" name="Rectangle 1173">
            <a:extLst>
              <a:ext uri="{FF2B5EF4-FFF2-40B4-BE49-F238E27FC236}">
                <a16:creationId xmlns:a16="http://schemas.microsoft.com/office/drawing/2014/main" id="{A3A48511-EDC8-8AF1-38BF-568B305903EE}"/>
              </a:ext>
            </a:extLst>
          </p:cNvPr>
          <p:cNvSpPr/>
          <p:nvPr/>
        </p:nvSpPr>
        <p:spPr>
          <a:xfrm>
            <a:off x="6677863" y="3657600"/>
            <a:ext cx="476402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contém as regras: origem, destino, porta, FQDN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2" name="Rectangle 1191">
            <a:extLst>
              <a:ext uri="{FF2B5EF4-FFF2-40B4-BE49-F238E27FC236}">
                <a16:creationId xmlns:a16="http://schemas.microsoft.com/office/drawing/2014/main" id="{811FC61E-CA7F-0D36-61ED-884618F5F495}"/>
              </a:ext>
            </a:extLst>
          </p:cNvPr>
          <p:cNvSpPr/>
          <p:nvPr/>
        </p:nvSpPr>
        <p:spPr>
          <a:xfrm>
            <a:off x="6677863" y="4114800"/>
            <a:ext cx="4764024" cy="384048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" name="Rectangle 1210">
            <a:extLst>
              <a:ext uri="{FF2B5EF4-FFF2-40B4-BE49-F238E27FC236}">
                <a16:creationId xmlns:a16="http://schemas.microsoft.com/office/drawing/2014/main" id="{F9BE9A96-17CD-0872-B1FC-3F0C5C62FF3A}"/>
              </a:ext>
            </a:extLst>
          </p:cNvPr>
          <p:cNvSpPr/>
          <p:nvPr/>
        </p:nvSpPr>
        <p:spPr>
          <a:xfrm>
            <a:off x="6677863" y="4114800"/>
            <a:ext cx="2514600" cy="3840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ex.: RC 100 · Network ·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31" name="Rectangle 1230">
            <a:extLst>
              <a:ext uri="{FF2B5EF4-FFF2-40B4-BE49-F238E27FC236}">
                <a16:creationId xmlns:a16="http://schemas.microsoft.com/office/drawing/2014/main" id="{6DDAD84D-90B7-14EA-7940-9EA7DF0C8F57}"/>
              </a:ext>
            </a:extLst>
          </p:cNvPr>
          <p:cNvSpPr/>
          <p:nvPr/>
        </p:nvSpPr>
        <p:spPr>
          <a:xfrm>
            <a:off x="9201607" y="4169664"/>
            <a:ext cx="731520" cy="274320"/>
          </a:xfrm>
          <a:prstGeom prst="rect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7498A083-833B-BEE4-A480-D157376B071B}"/>
              </a:ext>
            </a:extLst>
          </p:cNvPr>
          <p:cNvSpPr/>
          <p:nvPr/>
        </p:nvSpPr>
        <p:spPr>
          <a:xfrm>
            <a:off x="9110167" y="4096512"/>
            <a:ext cx="914400" cy="4206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Allow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74" name="Arrow: Right 1273">
            <a:extLst>
              <a:ext uri="{FF2B5EF4-FFF2-40B4-BE49-F238E27FC236}">
                <a16:creationId xmlns:a16="http://schemas.microsoft.com/office/drawing/2014/main" id="{5965609B-2D82-C14D-734E-75F4295E2A3D}"/>
              </a:ext>
            </a:extLst>
          </p:cNvPr>
          <p:cNvSpPr/>
          <p:nvPr/>
        </p:nvSpPr>
        <p:spPr>
          <a:xfrm>
            <a:off x="5867248" y="2953512"/>
            <a:ext cx="457200" cy="329184"/>
          </a:xfrm>
          <a:prstGeom prst="rightArrow">
            <a:avLst/>
          </a:prstGeom>
          <a:solidFill>
            <a:srgbClr val="8A97A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7" name="Rectangle 1296">
            <a:extLst>
              <a:ext uri="{FF2B5EF4-FFF2-40B4-BE49-F238E27FC236}">
                <a16:creationId xmlns:a16="http://schemas.microsoft.com/office/drawing/2014/main" id="{ABE0ABE9-482A-E4C7-3D06-5169D074F3DB}"/>
              </a:ext>
            </a:extLst>
          </p:cNvPr>
          <p:cNvSpPr/>
          <p:nvPr/>
        </p:nvSpPr>
        <p:spPr>
          <a:xfrm>
            <a:off x="548640" y="4700016"/>
            <a:ext cx="11094415" cy="6400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1" name="Rectangle 1320">
            <a:extLst>
              <a:ext uri="{FF2B5EF4-FFF2-40B4-BE49-F238E27FC236}">
                <a16:creationId xmlns:a16="http://schemas.microsoft.com/office/drawing/2014/main" id="{60D19D6E-FFBE-F32F-1E43-8454F9532543}"/>
              </a:ext>
            </a:extLst>
          </p:cNvPr>
          <p:cNvSpPr/>
          <p:nvPr/>
        </p:nvSpPr>
        <p:spPr>
          <a:xfrm>
            <a:off x="685800" y="4718304"/>
            <a:ext cx="10820095" cy="6035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Toda policy nova traz 3 RCGs padrão: DNAT (100), Network (200) e Application (300)</a:t>
            </a:r>
          </a:p>
          <a:p>
            <a:pPr algn="l">
              <a:buNone/>
            </a:pPr>
            <a:r>
              <a:rPr lang="en-US" sz="14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Não dá para apagar nem mudar a prioridade deles; para outra ordem, crie RCGs próprios</a:t>
            </a:r>
            <a:endParaRPr lang="en-US"/>
          </a:p>
        </p:txBody>
      </p:sp>
      <p:pic>
        <p:nvPicPr>
          <p:cNvPr id="1322" name="Picture 1321" descr="Firewall Policy">
            <a:extLst>
              <a:ext uri="{FF2B5EF4-FFF2-40B4-BE49-F238E27FC236}">
                <a16:creationId xmlns:a16="http://schemas.microsoft.com/office/drawing/2014/main" id="{6AFB3D0C-77CD-36B6-749A-93A45ED37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804111"/>
            <a:ext cx="347472" cy="347472"/>
          </a:xfrm>
          <a:prstGeom prst="rect">
            <a:avLst/>
          </a:prstGeom>
        </p:spPr>
      </p:pic>
      <p:pic>
        <p:nvPicPr>
          <p:cNvPr id="1323" name="Picture 1322" descr="Firewall Policy">
            <a:extLst>
              <a:ext uri="{FF2B5EF4-FFF2-40B4-BE49-F238E27FC236}">
                <a16:creationId xmlns:a16="http://schemas.microsoft.com/office/drawing/2014/main" id="{47AE022D-039E-2261-A0B8-A2B179BFC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879" y="1804111"/>
            <a:ext cx="347472" cy="3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63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As regras de processamento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Tipo, depois grupo (RCG), depois collection</a:t>
            </a:r>
            <a:endParaRPr lang="en-US" sz="1600"/>
          </a:p>
        </p:txBody>
      </p:sp>
      <p:sp>
        <p:nvSpPr>
          <p:cNvPr id="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  <p:sp>
        <p:nvSpPr>
          <p:cNvPr id="6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15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5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6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7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Regras são terminais: o primeiro match encerra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Sem match em nenhum tipo: deny padrão · prioridade de 100 a 65.000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548640" y="1645920"/>
            <a:ext cx="1848088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005A9E"/>
                </a:solidFill>
                <a:latin typeface="Segoe UI"/>
              </a:rPr>
              <a:t>Decide primeiro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9851611" y="1645920"/>
            <a:ext cx="1791444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sz="1500" b="0">
                <a:solidFill>
                  <a:srgbClr val="3B4A5E"/>
                </a:solidFill>
                <a:latin typeface="Segoe UI"/>
              </a:rPr>
              <a:t>Decide por último</a:t>
            </a:r>
          </a:p>
        </p:txBody>
      </p:sp>
      <p:sp>
        <p:nvSpPr>
          <p:cNvPr id="20" name="Shape"/>
          <p:cNvSpPr/>
          <p:nvPr/>
        </p:nvSpPr>
        <p:spPr>
          <a:xfrm>
            <a:off x="2533888" y="1780794"/>
            <a:ext cx="7098267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1" name="Shape"/>
          <p:cNvSpPr/>
          <p:nvPr/>
        </p:nvSpPr>
        <p:spPr>
          <a:xfrm rot="5400000">
            <a:off x="9577291" y="1723644"/>
            <a:ext cx="137160" cy="137160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2" name="Shape"/>
          <p:cNvSpPr/>
          <p:nvPr/>
        </p:nvSpPr>
        <p:spPr>
          <a:xfrm>
            <a:off x="548640" y="2103120"/>
            <a:ext cx="3484778" cy="3182112"/>
          </a:xfrm>
          <a:prstGeom prst="rect">
            <a:avLst/>
          </a:prstGeom>
          <a:solidFill>
            <a:srgbClr val="F4F0FB"/>
          </a:solidFill>
          <a:ln w="19050">
            <a:solidFill>
              <a:srgbClr val="8661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Shape"/>
          <p:cNvSpPr/>
          <p:nvPr/>
        </p:nvSpPr>
        <p:spPr>
          <a:xfrm>
            <a:off x="777240" y="2267712"/>
            <a:ext cx="457200" cy="457200"/>
          </a:xfrm>
          <a:prstGeom prst="ellipse">
            <a:avLst/>
          </a:prstGeom>
          <a:solidFill>
            <a:srgbClr val="8661C5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6" name="Shape"/>
          <p:cNvSpPr/>
          <p:nvPr/>
        </p:nvSpPr>
        <p:spPr>
          <a:xfrm>
            <a:off x="2280971" y="3364992"/>
            <a:ext cx="20117" cy="80467"/>
          </a:xfrm>
          <a:prstGeom prst="rect">
            <a:avLst/>
          </a:prstGeom>
          <a:solidFill>
            <a:srgbClr val="8661C5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 rot="10800000">
            <a:off x="2236165" y="3401568"/>
            <a:ext cx="109728" cy="109728"/>
          </a:xfrm>
          <a:prstGeom prst="triangle">
            <a:avLst/>
          </a:prstGeom>
          <a:solidFill>
            <a:srgbClr val="8661C5"/>
          </a:solidFill>
        </p:spPr>
        <p:txBody>
          <a:bodyPr/>
          <a:lstStyle/>
          <a:p>
            <a:endParaRPr/>
          </a:p>
        </p:txBody>
      </p:sp>
      <p:sp>
        <p:nvSpPr>
          <p:cNvPr id="29" name="Shape"/>
          <p:cNvSpPr/>
          <p:nvPr/>
        </p:nvSpPr>
        <p:spPr>
          <a:xfrm>
            <a:off x="2280971" y="4023360"/>
            <a:ext cx="20117" cy="80467"/>
          </a:xfrm>
          <a:prstGeom prst="rect">
            <a:avLst/>
          </a:prstGeom>
          <a:solidFill>
            <a:srgbClr val="8661C5"/>
          </a:solidFill>
        </p:spPr>
        <p:txBody>
          <a:bodyPr/>
          <a:lstStyle/>
          <a:p>
            <a:endParaRPr/>
          </a:p>
        </p:txBody>
      </p:sp>
      <p:sp>
        <p:nvSpPr>
          <p:cNvPr id="30" name="Shape"/>
          <p:cNvSpPr/>
          <p:nvPr/>
        </p:nvSpPr>
        <p:spPr>
          <a:xfrm rot="10800000">
            <a:off x="2236165" y="4059936"/>
            <a:ext cx="109728" cy="109728"/>
          </a:xfrm>
          <a:prstGeom prst="triangle">
            <a:avLst/>
          </a:prstGeom>
          <a:solidFill>
            <a:srgbClr val="8661C5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4353458" y="2103120"/>
            <a:ext cx="3484778" cy="3182112"/>
          </a:xfrm>
          <a:prstGeom prst="rect">
            <a:avLst/>
          </a:prstGeom>
          <a:solidFill>
            <a:srgbClr val="EAEEF5"/>
          </a:solidFill>
          <a:ln w="19050">
            <a:solidFill>
              <a:srgbClr val="0B1B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4582058" y="2267712"/>
            <a:ext cx="457200" cy="457200"/>
          </a:xfrm>
          <a:prstGeom prst="ellipse">
            <a:avLst/>
          </a:prstGeom>
          <a:solidFill>
            <a:srgbClr val="0B1B3F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7" name="Shape"/>
          <p:cNvSpPr/>
          <p:nvPr/>
        </p:nvSpPr>
        <p:spPr>
          <a:xfrm>
            <a:off x="6085789" y="3364992"/>
            <a:ext cx="20117" cy="80467"/>
          </a:xfrm>
          <a:prstGeom prst="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 rot="10800000">
            <a:off x="6040984" y="3401568"/>
            <a:ext cx="109728" cy="109728"/>
          </a:xfrm>
          <a:prstGeom prst="triangle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40" name="Shape"/>
          <p:cNvSpPr/>
          <p:nvPr/>
        </p:nvSpPr>
        <p:spPr>
          <a:xfrm>
            <a:off x="6085789" y="4023360"/>
            <a:ext cx="20117" cy="80467"/>
          </a:xfrm>
          <a:prstGeom prst="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41" name="Shape"/>
          <p:cNvSpPr/>
          <p:nvPr/>
        </p:nvSpPr>
        <p:spPr>
          <a:xfrm rot="10800000">
            <a:off x="6040984" y="4059936"/>
            <a:ext cx="109728" cy="109728"/>
          </a:xfrm>
          <a:prstGeom prst="triangle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44" name="Shape"/>
          <p:cNvSpPr/>
          <p:nvPr/>
        </p:nvSpPr>
        <p:spPr>
          <a:xfrm>
            <a:off x="8158277" y="2103120"/>
            <a:ext cx="3484778" cy="3182112"/>
          </a:xfrm>
          <a:prstGeom prst="rect">
            <a:avLst/>
          </a:prstGeom>
          <a:solidFill>
            <a:srgbClr val="EFF6FC"/>
          </a:solidFill>
          <a:ln w="1905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Shape"/>
          <p:cNvSpPr/>
          <p:nvPr/>
        </p:nvSpPr>
        <p:spPr>
          <a:xfrm>
            <a:off x="8386877" y="2267712"/>
            <a:ext cx="457200" cy="457200"/>
          </a:xfrm>
          <a:prstGeom prst="ellipse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8" name="Shape"/>
          <p:cNvSpPr/>
          <p:nvPr/>
        </p:nvSpPr>
        <p:spPr>
          <a:xfrm>
            <a:off x="9890608" y="3364992"/>
            <a:ext cx="20117" cy="80467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49" name="Shape"/>
          <p:cNvSpPr/>
          <p:nvPr/>
        </p:nvSpPr>
        <p:spPr>
          <a:xfrm rot="10800000">
            <a:off x="9845802" y="3401568"/>
            <a:ext cx="109728" cy="109728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324" name="Rectangle 1323">
            <a:extLst>
              <a:ext uri="{FF2B5EF4-FFF2-40B4-BE49-F238E27FC236}">
                <a16:creationId xmlns:a16="http://schemas.microsoft.com/office/drawing/2014/main" id="{5FFD8FE9-B285-4316-5408-E66F60784A48}"/>
              </a:ext>
            </a:extLst>
          </p:cNvPr>
          <p:cNvSpPr/>
          <p:nvPr/>
        </p:nvSpPr>
        <p:spPr>
          <a:xfrm>
            <a:off x="1261872" y="2240280"/>
            <a:ext cx="2753258" cy="5120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700" b="1">
                <a:solidFill>
                  <a:srgbClr val="5C2E91"/>
                </a:solidFill>
                <a:effectLst/>
                <a:latin typeface="Segoe UI" panose="020B0502040204020203" pitchFamily="34" charset="0"/>
              </a:rPr>
              <a:t>Tipo de regra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26" name="Rectangle: Rounded Corners 1325">
            <a:extLst>
              <a:ext uri="{FF2B5EF4-FFF2-40B4-BE49-F238E27FC236}">
                <a16:creationId xmlns:a16="http://schemas.microsoft.com/office/drawing/2014/main" id="{01CD3385-65AF-0732-EF37-FC41FA79D144}"/>
              </a:ext>
            </a:extLst>
          </p:cNvPr>
          <p:cNvSpPr/>
          <p:nvPr/>
        </p:nvSpPr>
        <p:spPr>
          <a:xfrm>
            <a:off x="1148029" y="2889504"/>
            <a:ext cx="2286000" cy="438912"/>
          </a:xfrm>
          <a:prstGeom prst="roundRect">
            <a:avLst/>
          </a:prstGeom>
          <a:solidFill>
            <a:srgbClr val="5C2E9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DNAT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29" name="Rectangle: Rounded Corners 1328">
            <a:extLst>
              <a:ext uri="{FF2B5EF4-FFF2-40B4-BE49-F238E27FC236}">
                <a16:creationId xmlns:a16="http://schemas.microsoft.com/office/drawing/2014/main" id="{01950C83-52C2-E3E8-34F3-5396A7FFAC33}"/>
              </a:ext>
            </a:extLst>
          </p:cNvPr>
          <p:cNvSpPr/>
          <p:nvPr/>
        </p:nvSpPr>
        <p:spPr>
          <a:xfrm>
            <a:off x="1148029" y="3547872"/>
            <a:ext cx="2286000" cy="438912"/>
          </a:xfrm>
          <a:prstGeom prst="roundRect">
            <a:avLst/>
          </a:prstGeom>
          <a:solidFill>
            <a:srgbClr val="7146A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Network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3" name="Rectangle: Rounded Corners 1332">
            <a:extLst>
              <a:ext uri="{FF2B5EF4-FFF2-40B4-BE49-F238E27FC236}">
                <a16:creationId xmlns:a16="http://schemas.microsoft.com/office/drawing/2014/main" id="{B49FEE1C-74D2-0B21-1EC9-6AEE5D401A36}"/>
              </a:ext>
            </a:extLst>
          </p:cNvPr>
          <p:cNvSpPr/>
          <p:nvPr/>
        </p:nvSpPr>
        <p:spPr>
          <a:xfrm>
            <a:off x="1148029" y="4206240"/>
            <a:ext cx="2286000" cy="438912"/>
          </a:xfrm>
          <a:prstGeom prst="roundRect">
            <a:avLst/>
          </a:prstGeom>
          <a:solidFill>
            <a:srgbClr val="866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Application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8" name="Rectangle 1337">
            <a:extLst>
              <a:ext uri="{FF2B5EF4-FFF2-40B4-BE49-F238E27FC236}">
                <a16:creationId xmlns:a16="http://schemas.microsoft.com/office/drawing/2014/main" id="{42CB65DD-FF99-F2C2-5A72-22D07FE09CA0}"/>
              </a:ext>
            </a:extLst>
          </p:cNvPr>
          <p:cNvSpPr/>
          <p:nvPr/>
        </p:nvSpPr>
        <p:spPr>
          <a:xfrm>
            <a:off x="640080" y="4727448"/>
            <a:ext cx="3301898" cy="4206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5C2E91"/>
                </a:solidFill>
                <a:effectLst/>
                <a:latin typeface="Segoe UI" panose="020B0502040204020203" pitchFamily="34" charset="0"/>
              </a:rPr>
              <a:t>Sempre nesta ordem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388C3D5E-1ADA-8224-76C6-B99C58D5B59E}"/>
              </a:ext>
            </a:extLst>
          </p:cNvPr>
          <p:cNvSpPr/>
          <p:nvPr/>
        </p:nvSpPr>
        <p:spPr>
          <a:xfrm>
            <a:off x="5066690" y="2240280"/>
            <a:ext cx="2753258" cy="5120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700" b="1">
                <a:solidFill>
                  <a:srgbClr val="0B1B3F"/>
                </a:solidFill>
                <a:effectLst/>
                <a:latin typeface="Segoe UI" panose="020B0502040204020203" pitchFamily="34" charset="0"/>
              </a:rPr>
              <a:t>Grupo (RCG)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1" name="Rectangle: Rounded Corners 1350">
            <a:extLst>
              <a:ext uri="{FF2B5EF4-FFF2-40B4-BE49-F238E27FC236}">
                <a16:creationId xmlns:a16="http://schemas.microsoft.com/office/drawing/2014/main" id="{56728F22-064A-C6BE-B3D5-38B2EDD5299A}"/>
              </a:ext>
            </a:extLst>
          </p:cNvPr>
          <p:cNvSpPr/>
          <p:nvPr/>
        </p:nvSpPr>
        <p:spPr>
          <a:xfrm>
            <a:off x="4952848" y="2889504"/>
            <a:ext cx="2286000" cy="438912"/>
          </a:xfrm>
          <a:prstGeom prst="roundRect">
            <a:avLst/>
          </a:prstGeom>
          <a:solidFill>
            <a:srgbClr val="0B1B3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RCG 100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9" name="Rectangle: Rounded Corners 1358">
            <a:extLst>
              <a:ext uri="{FF2B5EF4-FFF2-40B4-BE49-F238E27FC236}">
                <a16:creationId xmlns:a16="http://schemas.microsoft.com/office/drawing/2014/main" id="{8CCF5B99-1B30-A18D-C320-B6462D57B68A}"/>
              </a:ext>
            </a:extLst>
          </p:cNvPr>
          <p:cNvSpPr/>
          <p:nvPr/>
        </p:nvSpPr>
        <p:spPr>
          <a:xfrm>
            <a:off x="4952848" y="3547872"/>
            <a:ext cx="2286000" cy="438912"/>
          </a:xfrm>
          <a:prstGeom prst="roundRect">
            <a:avLst/>
          </a:prstGeom>
          <a:solidFill>
            <a:srgbClr val="1B3266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RCG 200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8" name="Rectangle: Rounded Corners 1367">
            <a:extLst>
              <a:ext uri="{FF2B5EF4-FFF2-40B4-BE49-F238E27FC236}">
                <a16:creationId xmlns:a16="http://schemas.microsoft.com/office/drawing/2014/main" id="{31F069F8-8387-A3A9-BC72-283C96E582E9}"/>
              </a:ext>
            </a:extLst>
          </p:cNvPr>
          <p:cNvSpPr/>
          <p:nvPr/>
        </p:nvSpPr>
        <p:spPr>
          <a:xfrm>
            <a:off x="4952848" y="4206240"/>
            <a:ext cx="2286000" cy="438912"/>
          </a:xfrm>
          <a:prstGeom prst="roundRect">
            <a:avLst/>
          </a:prstGeom>
          <a:solidFill>
            <a:srgbClr val="2B4A8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RCG 300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8" name="Rectangle 1377">
            <a:extLst>
              <a:ext uri="{FF2B5EF4-FFF2-40B4-BE49-F238E27FC236}">
                <a16:creationId xmlns:a16="http://schemas.microsoft.com/office/drawing/2014/main" id="{9B4327AC-D5CB-7CBE-584B-34A86BE4B14D}"/>
              </a:ext>
            </a:extLst>
          </p:cNvPr>
          <p:cNvSpPr/>
          <p:nvPr/>
        </p:nvSpPr>
        <p:spPr>
          <a:xfrm>
            <a:off x="4444898" y="4727448"/>
            <a:ext cx="3301898" cy="4206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B3F"/>
                </a:solidFill>
                <a:effectLst/>
                <a:latin typeface="Segoe UI" panose="020B0502040204020203" pitchFamily="34" charset="0"/>
              </a:rPr>
              <a:t>Menor número antes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89" name="Rectangle 1388">
            <a:extLst>
              <a:ext uri="{FF2B5EF4-FFF2-40B4-BE49-F238E27FC236}">
                <a16:creationId xmlns:a16="http://schemas.microsoft.com/office/drawing/2014/main" id="{5BE8139C-2C96-BA7C-E606-B05B51B75C11}"/>
              </a:ext>
            </a:extLst>
          </p:cNvPr>
          <p:cNvSpPr/>
          <p:nvPr/>
        </p:nvSpPr>
        <p:spPr>
          <a:xfrm>
            <a:off x="8871509" y="2240280"/>
            <a:ext cx="2753258" cy="5120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700" b="1">
                <a:solidFill>
                  <a:srgbClr val="005A9E"/>
                </a:solidFill>
                <a:effectLst/>
                <a:latin typeface="Segoe UI" panose="020B0502040204020203" pitchFamily="34" charset="0"/>
              </a:rPr>
              <a:t>Collection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01" name="Rectangle: Rounded Corners 1400">
            <a:extLst>
              <a:ext uri="{FF2B5EF4-FFF2-40B4-BE49-F238E27FC236}">
                <a16:creationId xmlns:a16="http://schemas.microsoft.com/office/drawing/2014/main" id="{9677BEF1-07F6-54C9-7762-C7461C9C19AD}"/>
              </a:ext>
            </a:extLst>
          </p:cNvPr>
          <p:cNvSpPr/>
          <p:nvPr/>
        </p:nvSpPr>
        <p:spPr>
          <a:xfrm>
            <a:off x="8757666" y="2889504"/>
            <a:ext cx="2286000" cy="438912"/>
          </a:xfrm>
          <a:prstGeom prst="round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RC 100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4" name="Rectangle: Rounded Corners 1413">
            <a:extLst>
              <a:ext uri="{FF2B5EF4-FFF2-40B4-BE49-F238E27FC236}">
                <a16:creationId xmlns:a16="http://schemas.microsoft.com/office/drawing/2014/main" id="{DD83F86D-5763-D9AD-C303-858E2F91383B}"/>
              </a:ext>
            </a:extLst>
          </p:cNvPr>
          <p:cNvSpPr/>
          <p:nvPr/>
        </p:nvSpPr>
        <p:spPr>
          <a:xfrm>
            <a:off x="8757666" y="3547872"/>
            <a:ext cx="2286000" cy="438912"/>
          </a:xfrm>
          <a:prstGeom prst="round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RC 200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28" name="Rectangle 1427">
            <a:extLst>
              <a:ext uri="{FF2B5EF4-FFF2-40B4-BE49-F238E27FC236}">
                <a16:creationId xmlns:a16="http://schemas.microsoft.com/office/drawing/2014/main" id="{6BB1A154-4D1B-719C-8D4B-C3975D859B38}"/>
              </a:ext>
            </a:extLst>
          </p:cNvPr>
          <p:cNvSpPr/>
          <p:nvPr/>
        </p:nvSpPr>
        <p:spPr>
          <a:xfrm>
            <a:off x="8249717" y="4727448"/>
            <a:ext cx="3301898" cy="4206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05A9E"/>
                </a:solidFill>
                <a:effectLst/>
                <a:latin typeface="Segoe UI" panose="020B0502040204020203" pitchFamily="34" charset="0"/>
              </a:rPr>
              <a:t>Menor número antes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Tipos diferentes: o tipo decide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DNAT → Network → Application, sem fila única de números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16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Cada tipo tem a sua passada; o número só ordena dentro dela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DNAT → Network → Application, sempre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4572000" cy="3639312"/>
          </a:xfrm>
          <a:prstGeom prst="rect">
            <a:avLst/>
          </a:prstGeom>
          <a:solidFill>
            <a:srgbClr val="FFFFFF"/>
          </a:solidFill>
          <a:ln w="15875">
            <a:solidFill>
              <a:srgbClr val="8A97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Box"/>
          <p:cNvSpPr txBox="1"/>
          <p:nvPr/>
        </p:nvSpPr>
        <p:spPr>
          <a:xfrm>
            <a:off x="822960" y="1828800"/>
            <a:ext cx="402336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3B4A5E"/>
                </a:solidFill>
                <a:latin typeface="Segoe UI"/>
              </a:rPr>
              <a:t>A intuição</a:t>
            </a:r>
          </a:p>
        </p:txBody>
      </p:sp>
      <p:sp>
        <p:nvSpPr>
          <p:cNvPr id="19" name="Shape"/>
          <p:cNvSpPr/>
          <p:nvPr/>
        </p:nvSpPr>
        <p:spPr>
          <a:xfrm>
            <a:off x="822960" y="2423160"/>
            <a:ext cx="4023360" cy="51206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DE8"/>
            </a:solidFill>
          </a:ln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3B4A5E"/>
                </a:solidFill>
                <a:latin typeface="Segoe UI"/>
              </a:rPr>
              <a:t>RC 100 · Application</a:t>
            </a:r>
          </a:p>
        </p:txBody>
      </p:sp>
      <p:sp>
        <p:nvSpPr>
          <p:cNvPr id="20" name="Shape"/>
          <p:cNvSpPr/>
          <p:nvPr/>
        </p:nvSpPr>
        <p:spPr>
          <a:xfrm>
            <a:off x="822960" y="3081528"/>
            <a:ext cx="4023360" cy="51206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DE8"/>
            </a:solidFill>
          </a:ln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3B4A5E"/>
                </a:solidFill>
                <a:latin typeface="Segoe UI"/>
              </a:rPr>
              <a:t>RC 200 · Network</a:t>
            </a:r>
          </a:p>
        </p:txBody>
      </p:sp>
      <p:sp>
        <p:nvSpPr>
          <p:cNvPr id="21" name="Shape"/>
          <p:cNvSpPr/>
          <p:nvPr/>
        </p:nvSpPr>
        <p:spPr>
          <a:xfrm>
            <a:off x="822960" y="3739896"/>
            <a:ext cx="4023360" cy="51206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DE8"/>
            </a:solidFill>
          </a:ln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3B4A5E"/>
                </a:solidFill>
                <a:latin typeface="Segoe UI"/>
              </a:rPr>
              <a:t>RC 300 · DNAT</a:t>
            </a:r>
          </a:p>
        </p:txBody>
      </p:sp>
      <p:sp>
        <p:nvSpPr>
          <p:cNvPr id="22" name="Shape"/>
          <p:cNvSpPr/>
          <p:nvPr/>
        </p:nvSpPr>
        <p:spPr>
          <a:xfrm>
            <a:off x="1920240" y="4572000"/>
            <a:ext cx="1828800" cy="420624"/>
          </a:xfrm>
          <a:prstGeom prst="roundRect">
            <a:avLst/>
          </a:prstGeom>
          <a:solidFill>
            <a:srgbClr val="C42B1C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não é assim</a:t>
            </a:r>
          </a:p>
        </p:txBody>
      </p:sp>
      <p:sp>
        <p:nvSpPr>
          <p:cNvPr id="23" name="Shape"/>
          <p:cNvSpPr/>
          <p:nvPr/>
        </p:nvSpPr>
        <p:spPr>
          <a:xfrm>
            <a:off x="5257800" y="3454146"/>
            <a:ext cx="907999" cy="22860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4" name="Shape"/>
          <p:cNvSpPr/>
          <p:nvPr/>
        </p:nvSpPr>
        <p:spPr>
          <a:xfrm rot="5400000">
            <a:off x="6110935" y="3396996"/>
            <a:ext cx="137160" cy="137160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5" name="Shape"/>
          <p:cNvSpPr/>
          <p:nvPr/>
        </p:nvSpPr>
        <p:spPr>
          <a:xfrm>
            <a:off x="6385255" y="1645920"/>
            <a:ext cx="5257800" cy="3639312"/>
          </a:xfrm>
          <a:prstGeom prst="rect">
            <a:avLst/>
          </a:prstGeom>
          <a:solidFill>
            <a:srgbClr val="EFF6FC"/>
          </a:solidFill>
          <a:ln w="1905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Box"/>
          <p:cNvSpPr txBox="1"/>
          <p:nvPr/>
        </p:nvSpPr>
        <p:spPr>
          <a:xfrm>
            <a:off x="6659575" y="1828800"/>
            <a:ext cx="470916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O que o firewall faz</a:t>
            </a:r>
          </a:p>
        </p:txBody>
      </p:sp>
      <p:sp>
        <p:nvSpPr>
          <p:cNvPr id="27" name="Shape"/>
          <p:cNvSpPr/>
          <p:nvPr/>
        </p:nvSpPr>
        <p:spPr>
          <a:xfrm>
            <a:off x="6659575" y="2423160"/>
            <a:ext cx="4709160" cy="512064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1ª passada · DNAT · RC 300</a:t>
            </a:r>
          </a:p>
        </p:txBody>
      </p:sp>
      <p:sp>
        <p:nvSpPr>
          <p:cNvPr id="28" name="Shape"/>
          <p:cNvSpPr/>
          <p:nvPr/>
        </p:nvSpPr>
        <p:spPr>
          <a:xfrm>
            <a:off x="6659575" y="3081528"/>
            <a:ext cx="4709160" cy="512064"/>
          </a:xfrm>
          <a:prstGeom prst="roundRect">
            <a:avLst/>
          </a:prstGeom>
          <a:solidFill>
            <a:srgbClr val="005A9E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2ª passada · Network · RC 200</a:t>
            </a:r>
          </a:p>
        </p:txBody>
      </p:sp>
      <p:sp>
        <p:nvSpPr>
          <p:cNvPr id="29" name="Shape"/>
          <p:cNvSpPr/>
          <p:nvPr/>
        </p:nvSpPr>
        <p:spPr>
          <a:xfrm>
            <a:off x="6659575" y="3739896"/>
            <a:ext cx="4709160" cy="512064"/>
          </a:xfrm>
          <a:prstGeom prst="roundRect">
            <a:avLst/>
          </a:prstGeom>
          <a:solidFill>
            <a:srgbClr val="0B1B3F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3ª passada · Application · RC 100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6659575" y="4572000"/>
            <a:ext cx="4709160" cy="42062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005A9E"/>
                </a:solidFill>
                <a:latin typeface="Segoe UI"/>
              </a:rPr>
              <a:t>o tipo decide primeiro</a:t>
            </a:r>
          </a:p>
        </p:txBody>
      </p:sp>
      <p:sp>
        <p:nvSpPr>
          <p:cNvPr id="31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Mesmo tipo, grupos diferentes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O grupo decide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17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Mesmo tipo, grupos diferentes: o grupo decide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O número do grupo pesa mais que o número da collection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5364328" cy="1755648"/>
          </a:xfrm>
          <a:prstGeom prst="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Box"/>
          <p:cNvSpPr txBox="1"/>
          <p:nvPr/>
        </p:nvSpPr>
        <p:spPr>
          <a:xfrm>
            <a:off x="822960" y="1792224"/>
            <a:ext cx="27432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05A9E"/>
                </a:solidFill>
                <a:latin typeface="Segoe UI"/>
              </a:rPr>
              <a:t>RCG 200</a:t>
            </a:r>
          </a:p>
        </p:txBody>
      </p:sp>
      <p:sp>
        <p:nvSpPr>
          <p:cNvPr id="19" name="Shape"/>
          <p:cNvSpPr/>
          <p:nvPr/>
        </p:nvSpPr>
        <p:spPr>
          <a:xfrm>
            <a:off x="822960" y="2249424"/>
            <a:ext cx="4815688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TextBox"/>
          <p:cNvSpPr txBox="1"/>
          <p:nvPr/>
        </p:nvSpPr>
        <p:spPr>
          <a:xfrm>
            <a:off x="1051560" y="2286000"/>
            <a:ext cx="4358488" cy="85953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0B1B3F"/>
                </a:solidFill>
                <a:latin typeface="Segoe UI"/>
              </a:rPr>
              <a:t>RC 900 · Application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número alto</a:t>
            </a:r>
          </a:p>
        </p:txBody>
      </p:sp>
      <p:sp>
        <p:nvSpPr>
          <p:cNvPr id="21" name="Shape"/>
          <p:cNvSpPr/>
          <p:nvPr/>
        </p:nvSpPr>
        <p:spPr>
          <a:xfrm>
            <a:off x="6278728" y="1645920"/>
            <a:ext cx="5364328" cy="1755648"/>
          </a:xfrm>
          <a:prstGeom prst="rect">
            <a:avLst/>
          </a:prstGeom>
          <a:solidFill>
            <a:srgbClr val="EDF0F5"/>
          </a:solidFill>
          <a:ln w="15875">
            <a:solidFill>
              <a:srgbClr val="0B1B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extBox"/>
          <p:cNvSpPr txBox="1"/>
          <p:nvPr/>
        </p:nvSpPr>
        <p:spPr>
          <a:xfrm>
            <a:off x="6553048" y="1792224"/>
            <a:ext cx="27432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RCG 400</a:t>
            </a:r>
          </a:p>
        </p:txBody>
      </p:sp>
      <p:sp>
        <p:nvSpPr>
          <p:cNvPr id="23" name="Shape"/>
          <p:cNvSpPr/>
          <p:nvPr/>
        </p:nvSpPr>
        <p:spPr>
          <a:xfrm>
            <a:off x="6553048" y="2249424"/>
            <a:ext cx="4815688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Box"/>
          <p:cNvSpPr txBox="1"/>
          <p:nvPr/>
        </p:nvSpPr>
        <p:spPr>
          <a:xfrm>
            <a:off x="6781648" y="2286000"/>
            <a:ext cx="4358488" cy="85953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0B1B3F"/>
                </a:solidFill>
                <a:latin typeface="Segoe UI"/>
              </a:rPr>
              <a:t>RC 100 · Application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número baixo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48640" y="3621024"/>
            <a:ext cx="11094415" cy="31089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3B4A5E"/>
                </a:solidFill>
                <a:latin typeface="Segoe UI"/>
              </a:rPr>
              <a:t>Ordem de avaliação na passada de Application</a:t>
            </a:r>
          </a:p>
        </p:txBody>
      </p:sp>
      <p:sp>
        <p:nvSpPr>
          <p:cNvPr id="26" name="Shape"/>
          <p:cNvSpPr/>
          <p:nvPr/>
        </p:nvSpPr>
        <p:spPr>
          <a:xfrm>
            <a:off x="548640" y="4069080"/>
            <a:ext cx="4572000" cy="1051560"/>
          </a:xfrm>
          <a:prstGeom prst="round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7" name="TextBox"/>
          <p:cNvSpPr txBox="1"/>
          <p:nvPr/>
        </p:nvSpPr>
        <p:spPr>
          <a:xfrm>
            <a:off x="777240" y="4105656"/>
            <a:ext cx="4114800" cy="9784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1º · RC 900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porque está no RCG 200</a:t>
            </a:r>
          </a:p>
        </p:txBody>
      </p:sp>
      <p:sp>
        <p:nvSpPr>
          <p:cNvPr id="28" name="Shape"/>
          <p:cNvSpPr/>
          <p:nvPr/>
        </p:nvSpPr>
        <p:spPr>
          <a:xfrm>
            <a:off x="7071055" y="4069080"/>
            <a:ext cx="4572000" cy="1051560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29" name="TextBox"/>
          <p:cNvSpPr txBox="1"/>
          <p:nvPr/>
        </p:nvSpPr>
        <p:spPr>
          <a:xfrm>
            <a:off x="7299655" y="4105656"/>
            <a:ext cx="4114800" cy="9784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2º · RC 100</a:t>
            </a:r>
          </a:p>
          <a:p>
            <a:pPr algn="ctr"/>
            <a:r>
              <a:rPr sz="1500" b="0">
                <a:solidFill>
                  <a:srgbClr val="C9D6EA"/>
                </a:solidFill>
                <a:latin typeface="Segoe UI"/>
              </a:rPr>
              <a:t>porque está no RCG 400</a:t>
            </a:r>
          </a:p>
        </p:txBody>
      </p:sp>
      <p:sp>
        <p:nvSpPr>
          <p:cNvPr id="30" name="Shape"/>
          <p:cNvSpPr/>
          <p:nvPr/>
        </p:nvSpPr>
        <p:spPr>
          <a:xfrm>
            <a:off x="5257800" y="4583430"/>
            <a:ext cx="1593799" cy="22860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1" name="Shape"/>
          <p:cNvSpPr/>
          <p:nvPr/>
        </p:nvSpPr>
        <p:spPr>
          <a:xfrm rot="5400000">
            <a:off x="6796735" y="4526280"/>
            <a:ext cx="137160" cy="137160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2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B3F"/>
                </a:solidFill>
                <a:latin typeface="Segoe UI"/>
              </a:rPr>
              <a:t>Mesmo </a:t>
            </a:r>
            <a:r>
              <a:rPr lang="en-US" sz="3000" b="1" dirty="0" err="1">
                <a:solidFill>
                  <a:srgbClr val="0B1B3F"/>
                </a:solidFill>
                <a:latin typeface="Segoe UI"/>
              </a:rPr>
              <a:t>grupo</a:t>
            </a:r>
            <a:r>
              <a:rPr lang="en-US" sz="3000" b="1" dirty="0">
                <a:solidFill>
                  <a:srgbClr val="0B1B3F"/>
                </a:solidFill>
                <a:latin typeface="Segoe UI"/>
              </a:rPr>
              <a:t>: a collection decide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Dentro do RCG, a collection de menor número vem antes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18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Mesmo grupo, mesmo tipo: a collection decide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A de menor número vem antes; o primeiro match encerra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11094415" cy="1755648"/>
          </a:xfrm>
          <a:prstGeom prst="rect">
            <a:avLst/>
          </a:prstGeom>
          <a:solidFill>
            <a:srgbClr val="EDF0F5"/>
          </a:solidFill>
          <a:ln w="15875">
            <a:solidFill>
              <a:srgbClr val="0B1B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Box"/>
          <p:cNvSpPr txBox="1"/>
          <p:nvPr/>
        </p:nvSpPr>
        <p:spPr>
          <a:xfrm>
            <a:off x="822960" y="1792224"/>
            <a:ext cx="27432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RCG 300</a:t>
            </a:r>
          </a:p>
        </p:txBody>
      </p:sp>
      <p:sp>
        <p:nvSpPr>
          <p:cNvPr id="19" name="Shape"/>
          <p:cNvSpPr/>
          <p:nvPr/>
        </p:nvSpPr>
        <p:spPr>
          <a:xfrm>
            <a:off x="822960" y="2249424"/>
            <a:ext cx="5112868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TextBox"/>
          <p:cNvSpPr txBox="1"/>
          <p:nvPr/>
        </p:nvSpPr>
        <p:spPr>
          <a:xfrm>
            <a:off x="1097280" y="2249424"/>
            <a:ext cx="3466948" cy="9326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RC 500 · Application</a:t>
            </a:r>
          </a:p>
        </p:txBody>
      </p:sp>
      <p:sp>
        <p:nvSpPr>
          <p:cNvPr id="21" name="Shape"/>
          <p:cNvSpPr/>
          <p:nvPr/>
        </p:nvSpPr>
        <p:spPr>
          <a:xfrm>
            <a:off x="4701388" y="2532888"/>
            <a:ext cx="960120" cy="365760"/>
          </a:xfrm>
          <a:prstGeom prst="roundRect">
            <a:avLst/>
          </a:prstGeom>
          <a:solidFill>
            <a:srgbClr val="C42B1C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Deny</a:t>
            </a:r>
          </a:p>
        </p:txBody>
      </p:sp>
      <p:sp>
        <p:nvSpPr>
          <p:cNvPr id="22" name="Shape"/>
          <p:cNvSpPr/>
          <p:nvPr/>
        </p:nvSpPr>
        <p:spPr>
          <a:xfrm>
            <a:off x="6255868" y="2249424"/>
            <a:ext cx="5112868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"/>
          <p:cNvSpPr txBox="1"/>
          <p:nvPr/>
        </p:nvSpPr>
        <p:spPr>
          <a:xfrm>
            <a:off x="6530188" y="2249424"/>
            <a:ext cx="3466948" cy="9326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RC 200 · Application</a:t>
            </a:r>
          </a:p>
        </p:txBody>
      </p:sp>
      <p:sp>
        <p:nvSpPr>
          <p:cNvPr id="24" name="Shape"/>
          <p:cNvSpPr/>
          <p:nvPr/>
        </p:nvSpPr>
        <p:spPr>
          <a:xfrm>
            <a:off x="10134295" y="2532888"/>
            <a:ext cx="960120" cy="365760"/>
          </a:xfrm>
          <a:prstGeom prst="roundRect">
            <a:avLst/>
          </a:prstGeom>
          <a:solidFill>
            <a:srgbClr val="107C10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48640" y="3621024"/>
            <a:ext cx="11094415" cy="31089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3B4A5E"/>
                </a:solidFill>
                <a:latin typeface="Segoe UI"/>
              </a:rPr>
              <a:t>Ordem de avaliação dentro do RCG 300</a:t>
            </a:r>
          </a:p>
        </p:txBody>
      </p:sp>
      <p:sp>
        <p:nvSpPr>
          <p:cNvPr id="26" name="Shape"/>
          <p:cNvSpPr/>
          <p:nvPr/>
        </p:nvSpPr>
        <p:spPr>
          <a:xfrm>
            <a:off x="548640" y="4069080"/>
            <a:ext cx="4572000" cy="1051560"/>
          </a:xfrm>
          <a:prstGeom prst="round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7" name="TextBox"/>
          <p:cNvSpPr txBox="1"/>
          <p:nvPr/>
        </p:nvSpPr>
        <p:spPr>
          <a:xfrm>
            <a:off x="777240" y="4105656"/>
            <a:ext cx="4114800" cy="9784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1º · RC 200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menor número</a:t>
            </a:r>
          </a:p>
        </p:txBody>
      </p:sp>
      <p:sp>
        <p:nvSpPr>
          <p:cNvPr id="28" name="Shape"/>
          <p:cNvSpPr/>
          <p:nvPr/>
        </p:nvSpPr>
        <p:spPr>
          <a:xfrm>
            <a:off x="7071055" y="4069080"/>
            <a:ext cx="45720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97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Box"/>
          <p:cNvSpPr txBox="1"/>
          <p:nvPr/>
        </p:nvSpPr>
        <p:spPr>
          <a:xfrm>
            <a:off x="7299655" y="4105656"/>
            <a:ext cx="4114800" cy="9784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900" b="1">
                <a:solidFill>
                  <a:srgbClr val="0B1B3F"/>
                </a:solidFill>
                <a:latin typeface="Segoe UI"/>
              </a:rPr>
              <a:t>2º · RC 500</a:t>
            </a:r>
          </a:p>
          <a:p>
            <a:pPr algn="ctr"/>
            <a:r>
              <a:rPr sz="1500" b="0">
                <a:solidFill>
                  <a:srgbClr val="3B4A5E"/>
                </a:solidFill>
                <a:latin typeface="Segoe UI"/>
              </a:rPr>
              <a:t>só se o 1º não bater</a:t>
            </a:r>
          </a:p>
        </p:txBody>
      </p:sp>
      <p:sp>
        <p:nvSpPr>
          <p:cNvPr id="30" name="Shape"/>
          <p:cNvSpPr/>
          <p:nvPr/>
        </p:nvSpPr>
        <p:spPr>
          <a:xfrm>
            <a:off x="5257800" y="4583430"/>
            <a:ext cx="1593799" cy="22860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1" name="Shape"/>
          <p:cNvSpPr/>
          <p:nvPr/>
        </p:nvSpPr>
        <p:spPr>
          <a:xfrm rot="5400000">
            <a:off x="6796735" y="4526280"/>
            <a:ext cx="137160" cy="137160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2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Exemplo: uma policy, dois RCGs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Seis passos, sem herança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19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1591056"/>
            <a:ext cx="11094415" cy="124358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5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49808" y="1664208"/>
            <a:ext cx="274320" cy="274320"/>
          </a:xfrm>
          <a:prstGeom prst="rect">
            <a:avLst/>
          </a:prstGeom>
        </p:spPr>
      </p:pic>
      <p:sp>
        <p:nvSpPr>
          <p:cNvPr id="16" name="TextBox"/>
          <p:cNvSpPr txBox="1"/>
          <p:nvPr/>
        </p:nvSpPr>
        <p:spPr>
          <a:xfrm>
            <a:off x="1115568" y="1636776"/>
            <a:ext cx="36576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0B1B3F"/>
                </a:solidFill>
                <a:latin typeface="Segoe UI"/>
              </a:rPr>
              <a:t>Firewall Policy</a:t>
            </a:r>
          </a:p>
        </p:txBody>
      </p:sp>
      <p:sp>
        <p:nvSpPr>
          <p:cNvPr id="17" name="Shape"/>
          <p:cNvSpPr/>
          <p:nvPr/>
        </p:nvSpPr>
        <p:spPr>
          <a:xfrm>
            <a:off x="777240" y="2011680"/>
            <a:ext cx="5204308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Box"/>
          <p:cNvSpPr txBox="1"/>
          <p:nvPr/>
        </p:nvSpPr>
        <p:spPr>
          <a:xfrm>
            <a:off x="1005840" y="2011680"/>
            <a:ext cx="1188720" cy="731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05A9E"/>
                </a:solidFill>
                <a:latin typeface="Segoe UI"/>
              </a:rPr>
              <a:t>RCG 200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2286000" y="2029968"/>
            <a:ext cx="3558388" cy="6949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1B2333"/>
                </a:solidFill>
                <a:latin typeface="Segoe UI"/>
              </a:rPr>
              <a:t>RC 500 · Network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Segoe UI"/>
              </a:rPr>
              <a:t>RC 700 · Network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Segoe UI"/>
              </a:rPr>
              <a:t>RC 900 · Application</a:t>
            </a:r>
          </a:p>
        </p:txBody>
      </p:sp>
      <p:sp>
        <p:nvSpPr>
          <p:cNvPr id="20" name="Shape"/>
          <p:cNvSpPr/>
          <p:nvPr/>
        </p:nvSpPr>
        <p:spPr>
          <a:xfrm>
            <a:off x="6210148" y="2011680"/>
            <a:ext cx="5204308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B1B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Box"/>
          <p:cNvSpPr txBox="1"/>
          <p:nvPr/>
        </p:nvSpPr>
        <p:spPr>
          <a:xfrm>
            <a:off x="6438748" y="2011680"/>
            <a:ext cx="1188720" cy="731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RCG 400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7718908" y="2029968"/>
            <a:ext cx="3558388" cy="6949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1B2333"/>
                </a:solidFill>
                <a:latin typeface="Segoe UI"/>
              </a:rPr>
              <a:t>RC 100 · DNAT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Segoe UI"/>
              </a:rPr>
              <a:t>RC 100 · Network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Segoe UI"/>
              </a:rPr>
              <a:t>RC 100 · Application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548640" y="2889504"/>
            <a:ext cx="11094415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O firewall percorre os grupos três vezes, uma por tipo</a:t>
            </a:r>
          </a:p>
        </p:txBody>
      </p:sp>
      <p:sp>
        <p:nvSpPr>
          <p:cNvPr id="24" name="Shape"/>
          <p:cNvSpPr/>
          <p:nvPr/>
        </p:nvSpPr>
        <p:spPr>
          <a:xfrm>
            <a:off x="548640" y="3218688"/>
            <a:ext cx="11094415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Box"/>
          <p:cNvSpPr txBox="1"/>
          <p:nvPr/>
        </p:nvSpPr>
        <p:spPr>
          <a:xfrm>
            <a:off x="731520" y="3236976"/>
            <a:ext cx="1600200" cy="49377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DNAT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1ª passada</a:t>
            </a:r>
          </a:p>
        </p:txBody>
      </p:sp>
      <p:sp>
        <p:nvSpPr>
          <p:cNvPr id="26" name="Shape"/>
          <p:cNvSpPr/>
          <p:nvPr/>
        </p:nvSpPr>
        <p:spPr>
          <a:xfrm>
            <a:off x="2286000" y="3473806"/>
            <a:ext cx="287122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 rot="5400000">
            <a:off x="2532888" y="3433572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>
            <a:off x="2697480" y="3255264"/>
            <a:ext cx="2057400" cy="457200"/>
          </a:xfrm>
          <a:prstGeom prst="roundRect">
            <a:avLst/>
          </a:prstGeom>
          <a:solidFill>
            <a:srgbClr val="0B1B3F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RC 100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RCG 400 · passo 1</a:t>
            </a:r>
          </a:p>
        </p:txBody>
      </p:sp>
      <p:sp>
        <p:nvSpPr>
          <p:cNvPr id="29" name="Shape"/>
          <p:cNvSpPr/>
          <p:nvPr/>
        </p:nvSpPr>
        <p:spPr>
          <a:xfrm>
            <a:off x="548640" y="3822192"/>
            <a:ext cx="11094415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Box"/>
          <p:cNvSpPr txBox="1"/>
          <p:nvPr/>
        </p:nvSpPr>
        <p:spPr>
          <a:xfrm>
            <a:off x="731520" y="3840480"/>
            <a:ext cx="1600200" cy="49377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Network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2ª passada</a:t>
            </a:r>
          </a:p>
        </p:txBody>
      </p:sp>
      <p:sp>
        <p:nvSpPr>
          <p:cNvPr id="31" name="Shape"/>
          <p:cNvSpPr/>
          <p:nvPr/>
        </p:nvSpPr>
        <p:spPr>
          <a:xfrm>
            <a:off x="2286000" y="4077310"/>
            <a:ext cx="287122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2" name="Shape"/>
          <p:cNvSpPr/>
          <p:nvPr/>
        </p:nvSpPr>
        <p:spPr>
          <a:xfrm rot="5400000">
            <a:off x="2532888" y="4037076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2697480" y="3858768"/>
            <a:ext cx="2057400" cy="457200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RC 500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RCG 200 · passo 2</a:t>
            </a:r>
          </a:p>
        </p:txBody>
      </p:sp>
      <p:sp>
        <p:nvSpPr>
          <p:cNvPr id="34" name="Shape"/>
          <p:cNvSpPr/>
          <p:nvPr/>
        </p:nvSpPr>
        <p:spPr>
          <a:xfrm>
            <a:off x="4800600" y="4077310"/>
            <a:ext cx="232258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5" name="Shape"/>
          <p:cNvSpPr/>
          <p:nvPr/>
        </p:nvSpPr>
        <p:spPr>
          <a:xfrm rot="5400000">
            <a:off x="4992624" y="4037076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6" name="Shape"/>
          <p:cNvSpPr/>
          <p:nvPr/>
        </p:nvSpPr>
        <p:spPr>
          <a:xfrm>
            <a:off x="5138928" y="3858768"/>
            <a:ext cx="2057400" cy="457200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RC 700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RCG 200 · passo 3</a:t>
            </a:r>
          </a:p>
        </p:txBody>
      </p:sp>
      <p:sp>
        <p:nvSpPr>
          <p:cNvPr id="37" name="Shape"/>
          <p:cNvSpPr/>
          <p:nvPr/>
        </p:nvSpPr>
        <p:spPr>
          <a:xfrm>
            <a:off x="7242048" y="4077310"/>
            <a:ext cx="232258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 rot="5400000">
            <a:off x="7434072" y="4037076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9" name="Shape"/>
          <p:cNvSpPr/>
          <p:nvPr/>
        </p:nvSpPr>
        <p:spPr>
          <a:xfrm>
            <a:off x="7580376" y="3858768"/>
            <a:ext cx="2057400" cy="457200"/>
          </a:xfrm>
          <a:prstGeom prst="roundRect">
            <a:avLst/>
          </a:prstGeom>
          <a:solidFill>
            <a:srgbClr val="0B1B3F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RC 100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RCG 400 · passo 4</a:t>
            </a:r>
          </a:p>
        </p:txBody>
      </p:sp>
      <p:sp>
        <p:nvSpPr>
          <p:cNvPr id="40" name="Shape"/>
          <p:cNvSpPr/>
          <p:nvPr/>
        </p:nvSpPr>
        <p:spPr>
          <a:xfrm>
            <a:off x="548640" y="4425696"/>
            <a:ext cx="11094415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Box"/>
          <p:cNvSpPr txBox="1"/>
          <p:nvPr/>
        </p:nvSpPr>
        <p:spPr>
          <a:xfrm>
            <a:off x="731520" y="4443984"/>
            <a:ext cx="1600200" cy="49377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Application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3ª passada</a:t>
            </a:r>
          </a:p>
        </p:txBody>
      </p:sp>
      <p:sp>
        <p:nvSpPr>
          <p:cNvPr id="42" name="Shape"/>
          <p:cNvSpPr/>
          <p:nvPr/>
        </p:nvSpPr>
        <p:spPr>
          <a:xfrm>
            <a:off x="2286000" y="4680814"/>
            <a:ext cx="287122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3" name="Shape"/>
          <p:cNvSpPr/>
          <p:nvPr/>
        </p:nvSpPr>
        <p:spPr>
          <a:xfrm rot="5400000">
            <a:off x="2532888" y="4640580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4" name="Shape"/>
          <p:cNvSpPr/>
          <p:nvPr/>
        </p:nvSpPr>
        <p:spPr>
          <a:xfrm>
            <a:off x="2697480" y="4462272"/>
            <a:ext cx="2057400" cy="457200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RC 900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RCG 200 · passo 5</a:t>
            </a:r>
          </a:p>
        </p:txBody>
      </p:sp>
      <p:sp>
        <p:nvSpPr>
          <p:cNvPr id="45" name="Shape"/>
          <p:cNvSpPr/>
          <p:nvPr/>
        </p:nvSpPr>
        <p:spPr>
          <a:xfrm>
            <a:off x="4800600" y="4680814"/>
            <a:ext cx="232258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6" name="Shape"/>
          <p:cNvSpPr/>
          <p:nvPr/>
        </p:nvSpPr>
        <p:spPr>
          <a:xfrm rot="5400000">
            <a:off x="4992624" y="4640580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7" name="Shape"/>
          <p:cNvSpPr/>
          <p:nvPr/>
        </p:nvSpPr>
        <p:spPr>
          <a:xfrm>
            <a:off x="5138928" y="4462272"/>
            <a:ext cx="2057400" cy="457200"/>
          </a:xfrm>
          <a:prstGeom prst="roundRect">
            <a:avLst/>
          </a:prstGeom>
          <a:solidFill>
            <a:srgbClr val="0B1B3F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RC 100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RCG 400 · passo 6</a:t>
            </a:r>
          </a:p>
        </p:txBody>
      </p:sp>
      <p:sp>
        <p:nvSpPr>
          <p:cNvPr id="48" name="Shape"/>
          <p:cNvSpPr/>
          <p:nvPr/>
        </p:nvSpPr>
        <p:spPr>
          <a:xfrm>
            <a:off x="548640" y="5102352"/>
            <a:ext cx="11094415" cy="1060704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49" name="Shape"/>
          <p:cNvSpPr/>
          <p:nvPr/>
        </p:nvSpPr>
        <p:spPr>
          <a:xfrm rot="5400000">
            <a:off x="749808" y="5550408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50" name="TextBox"/>
          <p:cNvSpPr txBox="1"/>
          <p:nvPr/>
        </p:nvSpPr>
        <p:spPr>
          <a:xfrm>
            <a:off x="1005840" y="5157216"/>
            <a:ext cx="10454335" cy="95097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O tipo vence o número: o DNAT do RCG 400 roda antes de tudo</a:t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O grupo vence a collection: RC 900 do RCG 200 roda antes do RC 100 do RCG 400</a:t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No mesmo grupo, a collection decide: RC 500 antes do RC 700</a:t>
            </a:r>
          </a:p>
        </p:txBody>
      </p:sp>
      <p:sp>
        <p:nvSpPr>
          <p:cNvPr id="51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Cenário: a VM acessa www.microsoft.com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O caminho usado nos casos a seguir</a:t>
            </a:r>
            <a:endParaRPr lang="en-US" sz="1600"/>
          </a:p>
        </p:txBody>
      </p:sp>
      <p:sp>
        <p:nvSpPr>
          <p:cNvPr id="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  <p:sp>
        <p:nvSpPr>
          <p:cNvPr id="6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20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5" name="Shape"/>
          <p:cNvSpPr/>
          <p:nvPr/>
        </p:nvSpPr>
        <p:spPr>
          <a:xfrm>
            <a:off x="548640" y="1700784"/>
            <a:ext cx="3240938" cy="124358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Shape"/>
          <p:cNvSpPr/>
          <p:nvPr/>
        </p:nvSpPr>
        <p:spPr>
          <a:xfrm>
            <a:off x="850392" y="1965960"/>
            <a:ext cx="713232" cy="7132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7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985906" y="2101474"/>
            <a:ext cx="442204" cy="442204"/>
          </a:xfrm>
          <a:prstGeom prst="rect">
            <a:avLst/>
          </a:prstGeom>
        </p:spPr>
      </p:pic>
      <p:sp>
        <p:nvSpPr>
          <p:cNvPr id="18" name="TextBox"/>
          <p:cNvSpPr txBox="1"/>
          <p:nvPr/>
        </p:nvSpPr>
        <p:spPr>
          <a:xfrm>
            <a:off x="1737360" y="1792224"/>
            <a:ext cx="1915058" cy="10607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VM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spoke</a:t>
            </a:r>
          </a:p>
        </p:txBody>
      </p:sp>
      <p:sp>
        <p:nvSpPr>
          <p:cNvPr id="19" name="Shape"/>
          <p:cNvSpPr/>
          <p:nvPr/>
        </p:nvSpPr>
        <p:spPr>
          <a:xfrm>
            <a:off x="3862730" y="2309774"/>
            <a:ext cx="451714" cy="25603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0" name="Shape"/>
          <p:cNvSpPr/>
          <p:nvPr/>
        </p:nvSpPr>
        <p:spPr>
          <a:xfrm rot="5400000">
            <a:off x="4255922" y="2249424"/>
            <a:ext cx="146304" cy="146304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1" name="Shape"/>
          <p:cNvSpPr/>
          <p:nvPr/>
        </p:nvSpPr>
        <p:spPr>
          <a:xfrm>
            <a:off x="4475378" y="1700784"/>
            <a:ext cx="3240938" cy="1243584"/>
          </a:xfrm>
          <a:prstGeom prst="rect">
            <a:avLst/>
          </a:prstGeom>
          <a:solidFill>
            <a:srgbClr val="EFF6FC"/>
          </a:solidFill>
          <a:ln w="2540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Shape"/>
          <p:cNvSpPr/>
          <p:nvPr/>
        </p:nvSpPr>
        <p:spPr>
          <a:xfrm>
            <a:off x="4777130" y="1965960"/>
            <a:ext cx="713232" cy="7132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4919777" y="2108606"/>
            <a:ext cx="427939" cy="427939"/>
          </a:xfrm>
          <a:prstGeom prst="rect">
            <a:avLst/>
          </a:prstGeom>
        </p:spPr>
      </p:pic>
      <p:sp>
        <p:nvSpPr>
          <p:cNvPr id="24" name="TextBox"/>
          <p:cNvSpPr txBox="1"/>
          <p:nvPr/>
        </p:nvSpPr>
        <p:spPr>
          <a:xfrm>
            <a:off x="5664098" y="1792224"/>
            <a:ext cx="1915058" cy="10607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Azure Firewall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hub · decide aqui</a:t>
            </a:r>
          </a:p>
        </p:txBody>
      </p:sp>
      <p:sp>
        <p:nvSpPr>
          <p:cNvPr id="25" name="Shape"/>
          <p:cNvSpPr/>
          <p:nvPr/>
        </p:nvSpPr>
        <p:spPr>
          <a:xfrm>
            <a:off x="7789469" y="2309774"/>
            <a:ext cx="451714" cy="25603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6" name="Shape"/>
          <p:cNvSpPr/>
          <p:nvPr/>
        </p:nvSpPr>
        <p:spPr>
          <a:xfrm rot="5400000">
            <a:off x="8182661" y="2249424"/>
            <a:ext cx="146304" cy="146304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>
            <a:off x="8402117" y="1700784"/>
            <a:ext cx="3240938" cy="124358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TextBox"/>
          <p:cNvSpPr txBox="1"/>
          <p:nvPr/>
        </p:nvSpPr>
        <p:spPr>
          <a:xfrm>
            <a:off x="8676437" y="1792224"/>
            <a:ext cx="2829458" cy="10607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Consolas"/>
              </a:rPr>
              <a:t>www.microsoft.com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Internet · HTTPS 443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548640" y="3218688"/>
            <a:ext cx="548640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Premissas do cenário</a:t>
            </a:r>
          </a:p>
        </p:txBody>
      </p:sp>
      <p:sp>
        <p:nvSpPr>
          <p:cNvPr id="30" name="Shape"/>
          <p:cNvSpPr/>
          <p:nvPr/>
        </p:nvSpPr>
        <p:spPr>
          <a:xfrm>
            <a:off x="548640" y="3675888"/>
            <a:ext cx="3515258" cy="12984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371600" y="3712464"/>
            <a:ext cx="2555138" cy="122529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Rota 0.0.0.0/0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aponta para o firewall</a:t>
            </a:r>
          </a:p>
        </p:txBody>
      </p:sp>
      <p:sp>
        <p:nvSpPr>
          <p:cNvPr id="33" name="Shape"/>
          <p:cNvSpPr/>
          <p:nvPr/>
        </p:nvSpPr>
        <p:spPr>
          <a:xfrm>
            <a:off x="4338218" y="3675888"/>
            <a:ext cx="3515258" cy="12984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4566818" y="4096512"/>
            <a:ext cx="457200" cy="457200"/>
          </a:xfrm>
          <a:prstGeom prst="ellipse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5161178" y="3712464"/>
            <a:ext cx="2555138" cy="122529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DNS resolve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Consolas"/>
              </a:rPr>
              <a:t>www.microsoft.com</a:t>
            </a:r>
          </a:p>
        </p:txBody>
      </p:sp>
      <p:sp>
        <p:nvSpPr>
          <p:cNvPr id="36" name="Shape"/>
          <p:cNvSpPr/>
          <p:nvPr/>
        </p:nvSpPr>
        <p:spPr>
          <a:xfrm>
            <a:off x="8127797" y="3675888"/>
            <a:ext cx="3515258" cy="12984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>
            <a:off x="8356397" y="4096512"/>
            <a:ext cx="457200" cy="457200"/>
          </a:xfrm>
          <a:prstGeom prst="ellipse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8950757" y="3712464"/>
            <a:ext cx="2555138" cy="122529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FQDN lido no SNI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da conexão HTTPS</a:t>
            </a:r>
          </a:p>
        </p:txBody>
      </p:sp>
      <p:sp>
        <p:nvSpPr>
          <p:cNvPr id="39" name="Shape"/>
          <p:cNvSpPr/>
          <p:nvPr/>
        </p:nvSpPr>
        <p:spPr>
          <a:xfrm>
            <a:off x="548640" y="5376672"/>
            <a:ext cx="11094415" cy="768096"/>
          </a:xfrm>
          <a:prstGeom prst="roundRect">
            <a:avLst/>
          </a:prstGeom>
          <a:solidFill>
            <a:srgbClr val="0E1A33"/>
          </a:solidFill>
        </p:spPr>
        <p:txBody>
          <a:bodyPr/>
          <a:lstStyle/>
          <a:p>
            <a:endParaRPr/>
          </a:p>
        </p:txBody>
      </p:sp>
      <p:sp>
        <p:nvSpPr>
          <p:cNvPr id="40" name="Shape"/>
          <p:cNvSpPr/>
          <p:nvPr/>
        </p:nvSpPr>
        <p:spPr>
          <a:xfrm rot="5400000">
            <a:off x="749808" y="567842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41" name="TextBox"/>
          <p:cNvSpPr txBox="1"/>
          <p:nvPr/>
        </p:nvSpPr>
        <p:spPr>
          <a:xfrm>
            <a:off x="1005840" y="5376672"/>
            <a:ext cx="1828800" cy="76809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50E6FF"/>
                </a:solidFill>
                <a:latin typeface="Segoe UI"/>
              </a:rPr>
              <a:t>Teste na VM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2880360" y="5376672"/>
            <a:ext cx="8534095" cy="76809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Invoke-WebRequest https://www.microsoft.com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Caso A: duas Application rules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Acessa ou não?</a:t>
            </a:r>
            <a:endParaRPr lang="en-US" sz="1600"/>
          </a:p>
        </p:txBody>
      </p:sp>
      <p:sp>
        <p:nvSpPr>
          <p:cNvPr id="14" name="A1_s20_11_card"/>
          <p:cNvSpPr/>
          <p:nvPr/>
        </p:nvSpPr>
        <p:spPr>
          <a:xfrm>
            <a:off x="6816852" y="2587752"/>
            <a:ext cx="36576" cy="1920240"/>
          </a:xfrm>
          <a:prstGeom prst="roundRect">
            <a:avLst>
              <a:gd name="adj" fmla="val 3684"/>
            </a:avLst>
          </a:prstGeom>
          <a:solidFill>
            <a:srgbClr val="0078D4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1_s20_12_texto"/>
          <p:cNvSpPr txBox="1"/>
          <p:nvPr/>
        </p:nvSpPr>
        <p:spPr>
          <a:xfrm>
            <a:off x="5897880" y="1645920"/>
            <a:ext cx="5029200" cy="43891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0B1B3F"/>
                </a:solidFill>
                <a:latin typeface="Segoe UI"/>
              </a:rPr>
              <a:t>Como o firewall avalia</a:t>
            </a:r>
            <a:endParaRPr lang="en-US" sz="1800"/>
          </a:p>
        </p:txBody>
      </p:sp>
      <p:sp>
        <p:nvSpPr>
          <p:cNvPr id="16" name="A1_s20_13_panel"/>
          <p:cNvSpPr/>
          <p:nvPr/>
        </p:nvSpPr>
        <p:spPr>
          <a:xfrm>
            <a:off x="5897880" y="224028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1_s20_14_texto"/>
          <p:cNvSpPr txBox="1"/>
          <p:nvPr/>
        </p:nvSpPr>
        <p:spPr>
          <a:xfrm>
            <a:off x="5897880" y="224028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DNAT</a:t>
            </a:r>
            <a:endParaRPr lang="en-US" sz="1800"/>
          </a:p>
        </p:txBody>
      </p:sp>
      <p:sp>
        <p:nvSpPr>
          <p:cNvPr id="18" name="A1_s20_15_outline"/>
          <p:cNvSpPr/>
          <p:nvPr/>
        </p:nvSpPr>
        <p:spPr>
          <a:xfrm>
            <a:off x="8065008" y="224028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1_s20_16_texto"/>
          <p:cNvSpPr txBox="1"/>
          <p:nvPr/>
        </p:nvSpPr>
        <p:spPr>
          <a:xfrm>
            <a:off x="8065008" y="224028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nenhuma regra</a:t>
            </a:r>
            <a:endParaRPr lang="en-US" sz="1550"/>
          </a:p>
        </p:txBody>
      </p:sp>
      <p:sp>
        <p:nvSpPr>
          <p:cNvPr id="20" name="A1_s20_17_panel"/>
          <p:cNvSpPr/>
          <p:nvPr/>
        </p:nvSpPr>
        <p:spPr>
          <a:xfrm>
            <a:off x="5897880" y="320040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1_s20_18_texto"/>
          <p:cNvSpPr txBox="1"/>
          <p:nvPr/>
        </p:nvSpPr>
        <p:spPr>
          <a:xfrm>
            <a:off x="5897880" y="320040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Network</a:t>
            </a:r>
            <a:endParaRPr lang="en-US" sz="1800"/>
          </a:p>
        </p:txBody>
      </p:sp>
      <p:sp>
        <p:nvSpPr>
          <p:cNvPr id="22" name="A1_s20_19_outline"/>
          <p:cNvSpPr/>
          <p:nvPr/>
        </p:nvSpPr>
        <p:spPr>
          <a:xfrm>
            <a:off x="8065008" y="320040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1_s20_20_texto"/>
          <p:cNvSpPr txBox="1"/>
          <p:nvPr/>
        </p:nvSpPr>
        <p:spPr>
          <a:xfrm>
            <a:off x="8065008" y="320040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nenhuma regra</a:t>
            </a:r>
            <a:endParaRPr lang="en-US" sz="1550"/>
          </a:p>
        </p:txBody>
      </p:sp>
      <p:sp>
        <p:nvSpPr>
          <p:cNvPr id="24" name="A1_s20_21_panel"/>
          <p:cNvSpPr/>
          <p:nvPr/>
        </p:nvSpPr>
        <p:spPr>
          <a:xfrm>
            <a:off x="5897880" y="416052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1_s20_22_texto"/>
          <p:cNvSpPr txBox="1"/>
          <p:nvPr/>
        </p:nvSpPr>
        <p:spPr>
          <a:xfrm>
            <a:off x="5897880" y="416052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Application</a:t>
            </a:r>
            <a:endParaRPr lang="en-US" sz="1800"/>
          </a:p>
        </p:txBody>
      </p:sp>
      <p:sp>
        <p:nvSpPr>
          <p:cNvPr id="26" name="A1_s20_23_solid"/>
          <p:cNvSpPr/>
          <p:nvPr/>
        </p:nvSpPr>
        <p:spPr>
          <a:xfrm>
            <a:off x="8065008" y="416052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107C1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1_s20_24_texto"/>
          <p:cNvSpPr txBox="1"/>
          <p:nvPr/>
        </p:nvSpPr>
        <p:spPr>
          <a:xfrm>
            <a:off x="8065008" y="416052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Segoe UI"/>
              </a:rPr>
              <a:t>Allow no RCG 200</a:t>
            </a:r>
            <a:endParaRPr lang="en-US" sz="1800"/>
          </a:p>
        </p:txBody>
      </p:sp>
      <p:sp>
        <p:nvSpPr>
          <p:cNvPr id="28" name="A2_s20_25_solid"/>
          <p:cNvSpPr/>
          <p:nvPr/>
        </p:nvSpPr>
        <p:spPr>
          <a:xfrm>
            <a:off x="548640" y="5138928"/>
            <a:ext cx="11094415" cy="1005840"/>
          </a:xfrm>
          <a:prstGeom prst="roundRect">
            <a:avLst>
              <a:gd name="adj" fmla="val 13158"/>
            </a:avLst>
          </a:prstGeom>
          <a:solidFill>
            <a:srgbClr val="107C1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2_s20_26_texto"/>
          <p:cNvSpPr txBox="1"/>
          <p:nvPr/>
        </p:nvSpPr>
        <p:spPr>
          <a:xfrm>
            <a:off x="960120" y="5230368"/>
            <a:ext cx="10271455" cy="4572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Segoe UI"/>
              </a:rPr>
              <a:t>Acessa www.microsoft.com</a:t>
            </a:r>
            <a:endParaRPr lang="en-US" sz="1800"/>
          </a:p>
        </p:txBody>
      </p:sp>
      <p:sp>
        <p:nvSpPr>
          <p:cNvPr id="30" name="A2_s20_27_texto"/>
          <p:cNvSpPr txBox="1"/>
          <p:nvPr/>
        </p:nvSpPr>
        <p:spPr>
          <a:xfrm>
            <a:off x="960120" y="5669280"/>
            <a:ext cx="10271455" cy="36576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FFFFFF"/>
                </a:solidFill>
                <a:latin typeface="Segoe UI"/>
              </a:rPr>
              <a:t>Mesmo tipo: o RCG 200 é avaliado antes do 300, e o Deny nunca é alcançado</a:t>
            </a:r>
            <a:endParaRPr lang="en-US" sz="1550"/>
          </a:p>
        </p:txBody>
      </p:sp>
      <p:sp>
        <p:nvSpPr>
          <p:cNvPr id="32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5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6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9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21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pic>
        <p:nvPicPr>
          <p:cNvPr id="41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548640" y="1700784"/>
            <a:ext cx="329184" cy="329184"/>
          </a:xfrm>
          <a:prstGeom prst="rect">
            <a:avLst/>
          </a:prstGeom>
        </p:spPr>
      </p:pic>
      <p:sp>
        <p:nvSpPr>
          <p:cNvPr id="42" name="TextBox"/>
          <p:cNvSpPr txBox="1"/>
          <p:nvPr/>
        </p:nvSpPr>
        <p:spPr>
          <a:xfrm>
            <a:off x="987552" y="1645920"/>
            <a:ext cx="4114800" cy="43891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Regras configuradas</a:t>
            </a:r>
          </a:p>
        </p:txBody>
      </p:sp>
      <p:sp>
        <p:nvSpPr>
          <p:cNvPr id="43" name="Shape"/>
          <p:cNvSpPr/>
          <p:nvPr/>
        </p:nvSpPr>
        <p:spPr>
          <a:xfrm>
            <a:off x="548640" y="2240280"/>
            <a:ext cx="4983480" cy="1207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Box"/>
          <p:cNvSpPr txBox="1"/>
          <p:nvPr/>
        </p:nvSpPr>
        <p:spPr>
          <a:xfrm>
            <a:off x="841248" y="2368296"/>
            <a:ext cx="44348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05A9E"/>
                </a:solidFill>
                <a:latin typeface="Segoe UI"/>
              </a:rPr>
              <a:t>RCG 200 · Application</a:t>
            </a:r>
          </a:p>
        </p:txBody>
      </p:sp>
      <p:sp>
        <p:nvSpPr>
          <p:cNvPr id="45" name="Shape"/>
          <p:cNvSpPr/>
          <p:nvPr/>
        </p:nvSpPr>
        <p:spPr>
          <a:xfrm>
            <a:off x="841248" y="2880360"/>
            <a:ext cx="914400" cy="384048"/>
          </a:xfrm>
          <a:prstGeom prst="roundRect">
            <a:avLst/>
          </a:prstGeom>
          <a:solidFill>
            <a:srgbClr val="107C10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1920240" y="2843784"/>
            <a:ext cx="342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0">
                <a:solidFill>
                  <a:srgbClr val="1B2333"/>
                </a:solidFill>
                <a:latin typeface="Consolas"/>
              </a:rPr>
              <a:t>www.microsoft.com</a:t>
            </a:r>
          </a:p>
        </p:txBody>
      </p:sp>
      <p:sp>
        <p:nvSpPr>
          <p:cNvPr id="47" name="Shape"/>
          <p:cNvSpPr/>
          <p:nvPr/>
        </p:nvSpPr>
        <p:spPr>
          <a:xfrm>
            <a:off x="548640" y="3639312"/>
            <a:ext cx="4983480" cy="1207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B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"/>
          <p:cNvSpPr txBox="1"/>
          <p:nvPr/>
        </p:nvSpPr>
        <p:spPr>
          <a:xfrm>
            <a:off x="841248" y="3767328"/>
            <a:ext cx="44348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RCG 300 · Application</a:t>
            </a:r>
          </a:p>
        </p:txBody>
      </p:sp>
      <p:sp>
        <p:nvSpPr>
          <p:cNvPr id="49" name="Shape"/>
          <p:cNvSpPr/>
          <p:nvPr/>
        </p:nvSpPr>
        <p:spPr>
          <a:xfrm>
            <a:off x="841248" y="4279392"/>
            <a:ext cx="914400" cy="384048"/>
          </a:xfrm>
          <a:prstGeom prst="roundRect">
            <a:avLst/>
          </a:prstGeom>
          <a:solidFill>
            <a:srgbClr val="C42B1C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Deny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920240" y="4242816"/>
            <a:ext cx="342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0">
                <a:solidFill>
                  <a:srgbClr val="1B2333"/>
                </a:solidFill>
                <a:latin typeface="Consolas"/>
              </a:rPr>
              <a:t>*.microsoft.com</a:t>
            </a:r>
          </a:p>
        </p:txBody>
      </p:sp>
      <p:sp>
        <p:nvSpPr>
          <p:cNvPr id="51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Caso B: Network Allow e Application Deny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Acessa ou não?</a:t>
            </a:r>
            <a:endParaRPr lang="en-US" sz="1600"/>
          </a:p>
        </p:txBody>
      </p:sp>
      <p:sp>
        <p:nvSpPr>
          <p:cNvPr id="14" name="A1_s21_11_card"/>
          <p:cNvSpPr/>
          <p:nvPr/>
        </p:nvSpPr>
        <p:spPr>
          <a:xfrm>
            <a:off x="6816852" y="2587752"/>
            <a:ext cx="36576" cy="1920240"/>
          </a:xfrm>
          <a:prstGeom prst="roundRect">
            <a:avLst>
              <a:gd name="adj" fmla="val 3684"/>
            </a:avLst>
          </a:prstGeom>
          <a:solidFill>
            <a:srgbClr val="0078D4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1_s21_12_texto"/>
          <p:cNvSpPr txBox="1"/>
          <p:nvPr/>
        </p:nvSpPr>
        <p:spPr>
          <a:xfrm>
            <a:off x="5897880" y="1645920"/>
            <a:ext cx="5029200" cy="43891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0B1B3F"/>
                </a:solidFill>
                <a:latin typeface="Segoe UI"/>
              </a:rPr>
              <a:t>Como o firewall avalia</a:t>
            </a:r>
            <a:endParaRPr lang="en-US" sz="1800"/>
          </a:p>
        </p:txBody>
      </p:sp>
      <p:sp>
        <p:nvSpPr>
          <p:cNvPr id="16" name="A1_s21_13_panel"/>
          <p:cNvSpPr/>
          <p:nvPr/>
        </p:nvSpPr>
        <p:spPr>
          <a:xfrm>
            <a:off x="5897880" y="224028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1_s21_14_texto"/>
          <p:cNvSpPr txBox="1"/>
          <p:nvPr/>
        </p:nvSpPr>
        <p:spPr>
          <a:xfrm>
            <a:off x="5897880" y="224028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DNAT</a:t>
            </a:r>
            <a:endParaRPr lang="en-US" sz="1800"/>
          </a:p>
        </p:txBody>
      </p:sp>
      <p:sp>
        <p:nvSpPr>
          <p:cNvPr id="18" name="A1_s21_15_outline"/>
          <p:cNvSpPr/>
          <p:nvPr/>
        </p:nvSpPr>
        <p:spPr>
          <a:xfrm>
            <a:off x="8065008" y="224028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1_s21_16_texto"/>
          <p:cNvSpPr txBox="1"/>
          <p:nvPr/>
        </p:nvSpPr>
        <p:spPr>
          <a:xfrm>
            <a:off x="8065008" y="224028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nenhuma regra</a:t>
            </a:r>
            <a:endParaRPr lang="en-US" sz="1550"/>
          </a:p>
        </p:txBody>
      </p:sp>
      <p:sp>
        <p:nvSpPr>
          <p:cNvPr id="20" name="A1_s21_17_panel"/>
          <p:cNvSpPr/>
          <p:nvPr/>
        </p:nvSpPr>
        <p:spPr>
          <a:xfrm>
            <a:off x="5897880" y="320040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1_s21_18_texto"/>
          <p:cNvSpPr txBox="1"/>
          <p:nvPr/>
        </p:nvSpPr>
        <p:spPr>
          <a:xfrm>
            <a:off x="5897880" y="320040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Network</a:t>
            </a:r>
            <a:endParaRPr lang="en-US" sz="1800"/>
          </a:p>
        </p:txBody>
      </p:sp>
      <p:sp>
        <p:nvSpPr>
          <p:cNvPr id="22" name="A1_s21_19_solid"/>
          <p:cNvSpPr/>
          <p:nvPr/>
        </p:nvSpPr>
        <p:spPr>
          <a:xfrm>
            <a:off x="8065008" y="320040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107C1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1_s21_20_texto"/>
          <p:cNvSpPr txBox="1"/>
          <p:nvPr/>
        </p:nvSpPr>
        <p:spPr>
          <a:xfrm>
            <a:off x="8065008" y="320040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Segoe UI"/>
              </a:rPr>
              <a:t>Allow no RCG 300</a:t>
            </a:r>
            <a:endParaRPr lang="en-US" sz="1800"/>
          </a:p>
        </p:txBody>
      </p:sp>
      <p:sp>
        <p:nvSpPr>
          <p:cNvPr id="24" name="A1_s21_21_panel"/>
          <p:cNvSpPr/>
          <p:nvPr/>
        </p:nvSpPr>
        <p:spPr>
          <a:xfrm>
            <a:off x="5897880" y="416052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1_s21_22_texto"/>
          <p:cNvSpPr txBox="1"/>
          <p:nvPr/>
        </p:nvSpPr>
        <p:spPr>
          <a:xfrm>
            <a:off x="5897880" y="416052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Application</a:t>
            </a:r>
            <a:endParaRPr lang="en-US" sz="1800"/>
          </a:p>
        </p:txBody>
      </p:sp>
      <p:sp>
        <p:nvSpPr>
          <p:cNvPr id="26" name="A1_s21_23_outline"/>
          <p:cNvSpPr/>
          <p:nvPr/>
        </p:nvSpPr>
        <p:spPr>
          <a:xfrm>
            <a:off x="8065008" y="416052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A97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A1_s21_24_texto"/>
          <p:cNvSpPr txBox="1"/>
          <p:nvPr/>
        </p:nvSpPr>
        <p:spPr>
          <a:xfrm>
            <a:off x="8065008" y="416052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não é avaliada</a:t>
            </a:r>
            <a:endParaRPr lang="en-US" sz="1550"/>
          </a:p>
        </p:txBody>
      </p:sp>
      <p:sp>
        <p:nvSpPr>
          <p:cNvPr id="28" name="A2_s21_25_solid"/>
          <p:cNvSpPr/>
          <p:nvPr/>
        </p:nvSpPr>
        <p:spPr>
          <a:xfrm>
            <a:off x="548640" y="5138928"/>
            <a:ext cx="11094415" cy="1005840"/>
          </a:xfrm>
          <a:prstGeom prst="roundRect">
            <a:avLst>
              <a:gd name="adj" fmla="val 13158"/>
            </a:avLst>
          </a:prstGeom>
          <a:solidFill>
            <a:srgbClr val="107C1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2_s21_26_texto"/>
          <p:cNvSpPr txBox="1"/>
          <p:nvPr/>
        </p:nvSpPr>
        <p:spPr>
          <a:xfrm>
            <a:off x="960120" y="5230368"/>
            <a:ext cx="10271455" cy="4572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Segoe UI"/>
              </a:rPr>
              <a:t>Acessa www.microsoft.com</a:t>
            </a:r>
            <a:endParaRPr lang="en-US" sz="1800"/>
          </a:p>
        </p:txBody>
      </p:sp>
      <p:sp>
        <p:nvSpPr>
          <p:cNvPr id="30" name="A2_s21_27_texto"/>
          <p:cNvSpPr txBox="1"/>
          <p:nvPr/>
        </p:nvSpPr>
        <p:spPr>
          <a:xfrm>
            <a:off x="960120" y="5669280"/>
            <a:ext cx="10271455" cy="36576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FFFFFF"/>
                </a:solidFill>
                <a:latin typeface="Segoe UI"/>
              </a:rPr>
              <a:t>O tipo vence o número: o Network Allow decide antes, e o Deny nunca é avaliado</a:t>
            </a:r>
            <a:endParaRPr lang="en-US" sz="1550"/>
          </a:p>
        </p:txBody>
      </p:sp>
      <p:sp>
        <p:nvSpPr>
          <p:cNvPr id="32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5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6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9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22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pic>
        <p:nvPicPr>
          <p:cNvPr id="41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548640" y="1700784"/>
            <a:ext cx="329184" cy="329184"/>
          </a:xfrm>
          <a:prstGeom prst="rect">
            <a:avLst/>
          </a:prstGeom>
        </p:spPr>
      </p:pic>
      <p:sp>
        <p:nvSpPr>
          <p:cNvPr id="42" name="TextBox"/>
          <p:cNvSpPr txBox="1"/>
          <p:nvPr/>
        </p:nvSpPr>
        <p:spPr>
          <a:xfrm>
            <a:off x="987552" y="1645920"/>
            <a:ext cx="4114800" cy="43891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Regras configuradas</a:t>
            </a:r>
          </a:p>
        </p:txBody>
      </p:sp>
      <p:sp>
        <p:nvSpPr>
          <p:cNvPr id="43" name="Shape"/>
          <p:cNvSpPr/>
          <p:nvPr/>
        </p:nvSpPr>
        <p:spPr>
          <a:xfrm>
            <a:off x="548640" y="2240280"/>
            <a:ext cx="4983480" cy="1207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Box"/>
          <p:cNvSpPr txBox="1"/>
          <p:nvPr/>
        </p:nvSpPr>
        <p:spPr>
          <a:xfrm>
            <a:off x="841248" y="2368296"/>
            <a:ext cx="44348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05A9E"/>
                </a:solidFill>
                <a:latin typeface="Segoe UI"/>
              </a:rPr>
              <a:t>RCG 200 · Application</a:t>
            </a:r>
          </a:p>
        </p:txBody>
      </p:sp>
      <p:sp>
        <p:nvSpPr>
          <p:cNvPr id="45" name="Shape"/>
          <p:cNvSpPr/>
          <p:nvPr/>
        </p:nvSpPr>
        <p:spPr>
          <a:xfrm>
            <a:off x="841248" y="2880360"/>
            <a:ext cx="914400" cy="384048"/>
          </a:xfrm>
          <a:prstGeom prst="roundRect">
            <a:avLst/>
          </a:prstGeom>
          <a:solidFill>
            <a:srgbClr val="C42B1C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Deny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1920240" y="2843784"/>
            <a:ext cx="342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0">
                <a:solidFill>
                  <a:srgbClr val="1B2333"/>
                </a:solidFill>
                <a:latin typeface="Consolas"/>
              </a:rPr>
              <a:t>www.microsoft.com</a:t>
            </a:r>
          </a:p>
        </p:txBody>
      </p:sp>
      <p:sp>
        <p:nvSpPr>
          <p:cNvPr id="47" name="Shape"/>
          <p:cNvSpPr/>
          <p:nvPr/>
        </p:nvSpPr>
        <p:spPr>
          <a:xfrm>
            <a:off x="548640" y="3639312"/>
            <a:ext cx="4983480" cy="1207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B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"/>
          <p:cNvSpPr txBox="1"/>
          <p:nvPr/>
        </p:nvSpPr>
        <p:spPr>
          <a:xfrm>
            <a:off x="841248" y="3767328"/>
            <a:ext cx="44348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RCG 300 · Network</a:t>
            </a:r>
          </a:p>
        </p:txBody>
      </p:sp>
      <p:sp>
        <p:nvSpPr>
          <p:cNvPr id="49" name="Shape"/>
          <p:cNvSpPr/>
          <p:nvPr/>
        </p:nvSpPr>
        <p:spPr>
          <a:xfrm>
            <a:off x="841248" y="4279392"/>
            <a:ext cx="914400" cy="384048"/>
          </a:xfrm>
          <a:prstGeom prst="roundRect">
            <a:avLst/>
          </a:prstGeom>
          <a:solidFill>
            <a:srgbClr val="107C10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920240" y="4242816"/>
            <a:ext cx="342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0">
                <a:solidFill>
                  <a:srgbClr val="1B2333"/>
                </a:solidFill>
                <a:latin typeface="Segoe UI"/>
              </a:rPr>
              <a:t>TCP 443 para qualquer destino</a:t>
            </a:r>
          </a:p>
        </p:txBody>
      </p:sp>
      <p:sp>
        <p:nvSpPr>
          <p:cNvPr id="51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Caso C: Network Deny e Application Allow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Acessa ou não?</a:t>
            </a:r>
            <a:endParaRPr lang="en-US" sz="1600"/>
          </a:p>
        </p:txBody>
      </p:sp>
      <p:sp>
        <p:nvSpPr>
          <p:cNvPr id="14" name="A1_s22_11_card"/>
          <p:cNvSpPr/>
          <p:nvPr/>
        </p:nvSpPr>
        <p:spPr>
          <a:xfrm>
            <a:off x="6816852" y="2587752"/>
            <a:ext cx="36576" cy="1920240"/>
          </a:xfrm>
          <a:prstGeom prst="roundRect">
            <a:avLst>
              <a:gd name="adj" fmla="val 3684"/>
            </a:avLst>
          </a:prstGeom>
          <a:solidFill>
            <a:srgbClr val="0078D4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1_s22_12_texto"/>
          <p:cNvSpPr txBox="1"/>
          <p:nvPr/>
        </p:nvSpPr>
        <p:spPr>
          <a:xfrm>
            <a:off x="5897880" y="1645920"/>
            <a:ext cx="5029200" cy="43891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0B1B3F"/>
                </a:solidFill>
                <a:latin typeface="Segoe UI"/>
              </a:rPr>
              <a:t>Como o firewall avalia</a:t>
            </a:r>
            <a:endParaRPr lang="en-US" sz="1800"/>
          </a:p>
        </p:txBody>
      </p:sp>
      <p:sp>
        <p:nvSpPr>
          <p:cNvPr id="16" name="A1_s22_13_panel"/>
          <p:cNvSpPr/>
          <p:nvPr/>
        </p:nvSpPr>
        <p:spPr>
          <a:xfrm>
            <a:off x="5897880" y="224028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1_s22_14_texto"/>
          <p:cNvSpPr txBox="1"/>
          <p:nvPr/>
        </p:nvSpPr>
        <p:spPr>
          <a:xfrm>
            <a:off x="5897880" y="224028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DNAT</a:t>
            </a:r>
            <a:endParaRPr lang="en-US" sz="1800"/>
          </a:p>
        </p:txBody>
      </p:sp>
      <p:sp>
        <p:nvSpPr>
          <p:cNvPr id="18" name="A1_s22_15_outline"/>
          <p:cNvSpPr/>
          <p:nvPr/>
        </p:nvSpPr>
        <p:spPr>
          <a:xfrm>
            <a:off x="8065008" y="224028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1_s22_16_texto"/>
          <p:cNvSpPr txBox="1"/>
          <p:nvPr/>
        </p:nvSpPr>
        <p:spPr>
          <a:xfrm>
            <a:off x="8065008" y="224028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nenhuma regra</a:t>
            </a:r>
            <a:endParaRPr lang="en-US" sz="1550"/>
          </a:p>
        </p:txBody>
      </p:sp>
      <p:sp>
        <p:nvSpPr>
          <p:cNvPr id="20" name="A1_s22_17_panel"/>
          <p:cNvSpPr/>
          <p:nvPr/>
        </p:nvSpPr>
        <p:spPr>
          <a:xfrm>
            <a:off x="5897880" y="320040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1_s22_18_texto"/>
          <p:cNvSpPr txBox="1"/>
          <p:nvPr/>
        </p:nvSpPr>
        <p:spPr>
          <a:xfrm>
            <a:off x="5897880" y="320040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Network</a:t>
            </a:r>
            <a:endParaRPr lang="en-US" sz="1800"/>
          </a:p>
        </p:txBody>
      </p:sp>
      <p:sp>
        <p:nvSpPr>
          <p:cNvPr id="22" name="A1_s22_19_solid"/>
          <p:cNvSpPr/>
          <p:nvPr/>
        </p:nvSpPr>
        <p:spPr>
          <a:xfrm>
            <a:off x="8065008" y="320040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C42B1C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1_s22_20_texto"/>
          <p:cNvSpPr txBox="1"/>
          <p:nvPr/>
        </p:nvSpPr>
        <p:spPr>
          <a:xfrm>
            <a:off x="8065008" y="320040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Segoe UI"/>
              </a:rPr>
              <a:t>Deny no RCG 300</a:t>
            </a:r>
            <a:endParaRPr lang="en-US" sz="1800"/>
          </a:p>
        </p:txBody>
      </p:sp>
      <p:sp>
        <p:nvSpPr>
          <p:cNvPr id="24" name="A1_s22_21_panel"/>
          <p:cNvSpPr/>
          <p:nvPr/>
        </p:nvSpPr>
        <p:spPr>
          <a:xfrm>
            <a:off x="5897880" y="416052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1_s22_22_texto"/>
          <p:cNvSpPr txBox="1"/>
          <p:nvPr/>
        </p:nvSpPr>
        <p:spPr>
          <a:xfrm>
            <a:off x="5897880" y="416052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Application</a:t>
            </a:r>
            <a:endParaRPr lang="en-US" sz="1800"/>
          </a:p>
        </p:txBody>
      </p:sp>
      <p:sp>
        <p:nvSpPr>
          <p:cNvPr id="26" name="A1_s22_23_outline"/>
          <p:cNvSpPr/>
          <p:nvPr/>
        </p:nvSpPr>
        <p:spPr>
          <a:xfrm>
            <a:off x="8065008" y="416052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A97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A1_s22_24_texto"/>
          <p:cNvSpPr txBox="1"/>
          <p:nvPr/>
        </p:nvSpPr>
        <p:spPr>
          <a:xfrm>
            <a:off x="8065008" y="416052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não é avaliada</a:t>
            </a:r>
            <a:endParaRPr lang="en-US" sz="1550"/>
          </a:p>
        </p:txBody>
      </p:sp>
      <p:sp>
        <p:nvSpPr>
          <p:cNvPr id="28" name="A2_s22_25_solid"/>
          <p:cNvSpPr/>
          <p:nvPr/>
        </p:nvSpPr>
        <p:spPr>
          <a:xfrm>
            <a:off x="548640" y="5138928"/>
            <a:ext cx="11094415" cy="1005840"/>
          </a:xfrm>
          <a:prstGeom prst="roundRect">
            <a:avLst>
              <a:gd name="adj" fmla="val 13158"/>
            </a:avLst>
          </a:prstGeom>
          <a:solidFill>
            <a:srgbClr val="C42B1C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2_s22_26_texto"/>
          <p:cNvSpPr txBox="1"/>
          <p:nvPr/>
        </p:nvSpPr>
        <p:spPr>
          <a:xfrm>
            <a:off x="960120" y="5230368"/>
            <a:ext cx="10271455" cy="4572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Segoe UI"/>
              </a:rPr>
              <a:t>Bloqueia www.microsoft.com</a:t>
            </a:r>
            <a:endParaRPr lang="en-US" sz="1800"/>
          </a:p>
        </p:txBody>
      </p:sp>
      <p:sp>
        <p:nvSpPr>
          <p:cNvPr id="30" name="A2_s22_27_texto"/>
          <p:cNvSpPr txBox="1"/>
          <p:nvPr/>
        </p:nvSpPr>
        <p:spPr>
          <a:xfrm>
            <a:off x="960120" y="5669280"/>
            <a:ext cx="10271455" cy="36576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FFFFFF"/>
                </a:solidFill>
                <a:latin typeface="Segoe UI"/>
              </a:rPr>
              <a:t>O tipo vence o número: o Network Deny decide antes, e o Allow nunca é avaliado</a:t>
            </a:r>
            <a:endParaRPr lang="en-US" sz="1550"/>
          </a:p>
        </p:txBody>
      </p:sp>
      <p:sp>
        <p:nvSpPr>
          <p:cNvPr id="32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5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6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9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23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pic>
        <p:nvPicPr>
          <p:cNvPr id="41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548640" y="1700784"/>
            <a:ext cx="329184" cy="329184"/>
          </a:xfrm>
          <a:prstGeom prst="rect">
            <a:avLst/>
          </a:prstGeom>
        </p:spPr>
      </p:pic>
      <p:sp>
        <p:nvSpPr>
          <p:cNvPr id="42" name="TextBox"/>
          <p:cNvSpPr txBox="1"/>
          <p:nvPr/>
        </p:nvSpPr>
        <p:spPr>
          <a:xfrm>
            <a:off x="987552" y="1645920"/>
            <a:ext cx="4114800" cy="43891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Regras configuradas</a:t>
            </a:r>
          </a:p>
        </p:txBody>
      </p:sp>
      <p:sp>
        <p:nvSpPr>
          <p:cNvPr id="43" name="Shape"/>
          <p:cNvSpPr/>
          <p:nvPr/>
        </p:nvSpPr>
        <p:spPr>
          <a:xfrm>
            <a:off x="548640" y="2240280"/>
            <a:ext cx="4983480" cy="1207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Box"/>
          <p:cNvSpPr txBox="1"/>
          <p:nvPr/>
        </p:nvSpPr>
        <p:spPr>
          <a:xfrm>
            <a:off x="841248" y="2368296"/>
            <a:ext cx="44348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05A9E"/>
                </a:solidFill>
                <a:latin typeface="Segoe UI"/>
              </a:rPr>
              <a:t>RCG 200 · Application</a:t>
            </a:r>
          </a:p>
        </p:txBody>
      </p:sp>
      <p:sp>
        <p:nvSpPr>
          <p:cNvPr id="45" name="Shape"/>
          <p:cNvSpPr/>
          <p:nvPr/>
        </p:nvSpPr>
        <p:spPr>
          <a:xfrm>
            <a:off x="841248" y="2880360"/>
            <a:ext cx="914400" cy="384048"/>
          </a:xfrm>
          <a:prstGeom prst="roundRect">
            <a:avLst/>
          </a:prstGeom>
          <a:solidFill>
            <a:srgbClr val="107C10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1920240" y="2843784"/>
            <a:ext cx="342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0">
                <a:solidFill>
                  <a:srgbClr val="1B2333"/>
                </a:solidFill>
                <a:latin typeface="Consolas"/>
              </a:rPr>
              <a:t>www.microsoft.com</a:t>
            </a:r>
          </a:p>
        </p:txBody>
      </p:sp>
      <p:sp>
        <p:nvSpPr>
          <p:cNvPr id="47" name="Shape"/>
          <p:cNvSpPr/>
          <p:nvPr/>
        </p:nvSpPr>
        <p:spPr>
          <a:xfrm>
            <a:off x="548640" y="3639312"/>
            <a:ext cx="4983480" cy="1207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B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"/>
          <p:cNvSpPr txBox="1"/>
          <p:nvPr/>
        </p:nvSpPr>
        <p:spPr>
          <a:xfrm>
            <a:off x="841248" y="3767328"/>
            <a:ext cx="44348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RCG 300 · Network</a:t>
            </a:r>
          </a:p>
        </p:txBody>
      </p:sp>
      <p:sp>
        <p:nvSpPr>
          <p:cNvPr id="49" name="Shape"/>
          <p:cNvSpPr/>
          <p:nvPr/>
        </p:nvSpPr>
        <p:spPr>
          <a:xfrm>
            <a:off x="841248" y="4279392"/>
            <a:ext cx="914400" cy="384048"/>
          </a:xfrm>
          <a:prstGeom prst="roundRect">
            <a:avLst/>
          </a:prstGeom>
          <a:solidFill>
            <a:srgbClr val="C42B1C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Deny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920240" y="4242816"/>
            <a:ext cx="342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0">
                <a:solidFill>
                  <a:srgbClr val="1B2333"/>
                </a:solidFill>
                <a:latin typeface="Segoe UI"/>
              </a:rPr>
              <a:t>TCP 443 para qualquer destino</a:t>
            </a:r>
          </a:p>
        </p:txBody>
      </p:sp>
      <p:sp>
        <p:nvSpPr>
          <p:cNvPr id="51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Herança: policy pai e policy filha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O pai define o que ninguém pode furar; a filha acrescenta o resto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24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O pai define o que ninguém pode furar; a filha acrescenta o resto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Pai e filha na mesma região · o tipo continua valendo mais que a herança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5120640" cy="932688"/>
          </a:xfrm>
          <a:prstGeom prst="roundRect">
            <a:avLst/>
          </a:prstGeom>
          <a:solidFill>
            <a:srgbClr val="4F52B2"/>
          </a:solidFill>
        </p:spPr>
        <p:txBody>
          <a:bodyPr/>
          <a:lstStyle/>
          <a:p>
            <a:endParaRPr/>
          </a:p>
        </p:txBody>
      </p:sp>
      <p:sp>
        <p:nvSpPr>
          <p:cNvPr id="18" name="Shape"/>
          <p:cNvSpPr/>
          <p:nvPr/>
        </p:nvSpPr>
        <p:spPr>
          <a:xfrm>
            <a:off x="768096" y="1828800"/>
            <a:ext cx="566928" cy="566928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19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75812" y="1936516"/>
            <a:ext cx="351495" cy="351495"/>
          </a:xfrm>
          <a:prstGeom prst="rect">
            <a:avLst/>
          </a:prstGeom>
        </p:spPr>
      </p:pic>
      <p:sp>
        <p:nvSpPr>
          <p:cNvPr id="20" name="TextBox"/>
          <p:cNvSpPr txBox="1"/>
          <p:nvPr/>
        </p:nvSpPr>
        <p:spPr>
          <a:xfrm>
            <a:off x="1508760" y="1719072"/>
            <a:ext cx="3977640" cy="7863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Policy pai</a:t>
            </a:r>
          </a:p>
          <a:p>
            <a:pPr algn="l"/>
            <a:r>
              <a:rPr sz="1400" b="0">
                <a:solidFill>
                  <a:srgbClr val="E6E6F8"/>
                </a:solidFill>
                <a:latin typeface="Segoe UI"/>
              </a:rPr>
              <a:t>time central · regras obrigatórias</a:t>
            </a:r>
          </a:p>
        </p:txBody>
      </p:sp>
      <p:sp>
        <p:nvSpPr>
          <p:cNvPr id="21" name="Shape"/>
          <p:cNvSpPr/>
          <p:nvPr/>
        </p:nvSpPr>
        <p:spPr>
          <a:xfrm>
            <a:off x="548640" y="3218688"/>
            <a:ext cx="5120640" cy="932688"/>
          </a:xfrm>
          <a:prstGeom prst="roundRect">
            <a:avLst/>
          </a:prstGeom>
          <a:solidFill>
            <a:srgbClr val="0B7A75"/>
          </a:solidFill>
        </p:spPr>
        <p:txBody>
          <a:bodyPr/>
          <a:lstStyle/>
          <a:p>
            <a:endParaRPr/>
          </a:p>
        </p:txBody>
      </p:sp>
      <p:sp>
        <p:nvSpPr>
          <p:cNvPr id="22" name="Shape"/>
          <p:cNvSpPr/>
          <p:nvPr/>
        </p:nvSpPr>
        <p:spPr>
          <a:xfrm>
            <a:off x="768096" y="3401568"/>
            <a:ext cx="566928" cy="566928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23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75812" y="3509284"/>
            <a:ext cx="351495" cy="351495"/>
          </a:xfrm>
          <a:prstGeom prst="rect">
            <a:avLst/>
          </a:prstGeom>
        </p:spPr>
      </p:pic>
      <p:sp>
        <p:nvSpPr>
          <p:cNvPr id="25" name="Shape"/>
          <p:cNvSpPr/>
          <p:nvPr/>
        </p:nvSpPr>
        <p:spPr>
          <a:xfrm>
            <a:off x="1037844" y="2615184"/>
            <a:ext cx="27432" cy="484632"/>
          </a:xfrm>
          <a:prstGeom prst="rect">
            <a:avLst/>
          </a:prstGeom>
          <a:solidFill>
            <a:srgbClr val="4F52B2"/>
          </a:solidFill>
        </p:spPr>
        <p:txBody>
          <a:bodyPr/>
          <a:lstStyle/>
          <a:p>
            <a:endParaRPr/>
          </a:p>
        </p:txBody>
      </p:sp>
      <p:sp>
        <p:nvSpPr>
          <p:cNvPr id="26" name="Shape"/>
          <p:cNvSpPr/>
          <p:nvPr/>
        </p:nvSpPr>
        <p:spPr>
          <a:xfrm rot="10800000">
            <a:off x="982980" y="3044952"/>
            <a:ext cx="137160" cy="137160"/>
          </a:xfrm>
          <a:prstGeom prst="triangle">
            <a:avLst/>
          </a:prstGeom>
          <a:solidFill>
            <a:srgbClr val="4F52B2"/>
          </a:solidFill>
        </p:spPr>
        <p:txBody>
          <a:bodyPr/>
          <a:lstStyle/>
          <a:p>
            <a:endParaRPr/>
          </a:p>
        </p:txBody>
      </p:sp>
      <p:sp>
        <p:nvSpPr>
          <p:cNvPr id="27" name="TextBox"/>
          <p:cNvSpPr txBox="1"/>
          <p:nvPr/>
        </p:nvSpPr>
        <p:spPr>
          <a:xfrm>
            <a:off x="1325880" y="2724912"/>
            <a:ext cx="274320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3E419A"/>
                </a:solidFill>
                <a:latin typeface="Segoe UI"/>
              </a:rPr>
              <a:t>herda tudo</a:t>
            </a:r>
          </a:p>
        </p:txBody>
      </p:sp>
      <p:sp>
        <p:nvSpPr>
          <p:cNvPr id="28" name="Shape"/>
          <p:cNvSpPr/>
          <p:nvPr/>
        </p:nvSpPr>
        <p:spPr>
          <a:xfrm>
            <a:off x="1037844" y="4187952"/>
            <a:ext cx="27432" cy="466344"/>
          </a:xfrm>
          <a:prstGeom prst="rect">
            <a:avLst/>
          </a:prstGeom>
          <a:solidFill>
            <a:srgbClr val="0B7A75"/>
          </a:solidFill>
        </p:spPr>
        <p:txBody>
          <a:bodyPr/>
          <a:lstStyle/>
          <a:p>
            <a:endParaRPr/>
          </a:p>
        </p:txBody>
      </p:sp>
      <p:sp>
        <p:nvSpPr>
          <p:cNvPr id="29" name="Shape"/>
          <p:cNvSpPr/>
          <p:nvPr/>
        </p:nvSpPr>
        <p:spPr>
          <a:xfrm rot="10800000">
            <a:off x="982980" y="4599432"/>
            <a:ext cx="137160" cy="137160"/>
          </a:xfrm>
          <a:prstGeom prst="triangle">
            <a:avLst/>
          </a:prstGeom>
          <a:solidFill>
            <a:srgbClr val="0B7A75"/>
          </a:solidFill>
        </p:spPr>
        <p:txBody>
          <a:bodyPr/>
          <a:lstStyle/>
          <a:p>
            <a:endParaRPr/>
          </a:p>
        </p:txBody>
      </p:sp>
      <p:sp>
        <p:nvSpPr>
          <p:cNvPr id="30" name="TextBox"/>
          <p:cNvSpPr txBox="1"/>
          <p:nvPr/>
        </p:nvSpPr>
        <p:spPr>
          <a:xfrm>
            <a:off x="1325880" y="4279392"/>
            <a:ext cx="2743200" cy="3474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0A6B66"/>
                </a:solidFill>
                <a:latin typeface="Segoe UI"/>
              </a:rPr>
              <a:t>associada</a:t>
            </a:r>
          </a:p>
        </p:txBody>
      </p:sp>
      <p:sp>
        <p:nvSpPr>
          <p:cNvPr id="31" name="Shape"/>
          <p:cNvSpPr/>
          <p:nvPr/>
        </p:nvSpPr>
        <p:spPr>
          <a:xfrm>
            <a:off x="768096" y="4745736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2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881482" y="4859122"/>
            <a:ext cx="340157" cy="340157"/>
          </a:xfrm>
          <a:prstGeom prst="rect">
            <a:avLst/>
          </a:prstGeom>
        </p:spPr>
      </p:pic>
      <p:sp>
        <p:nvSpPr>
          <p:cNvPr id="33" name="TextBox"/>
          <p:cNvSpPr txBox="1"/>
          <p:nvPr/>
        </p:nvSpPr>
        <p:spPr>
          <a:xfrm>
            <a:off x="1490472" y="4846320"/>
            <a:ext cx="3200400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B1B3F"/>
                </a:solidFill>
                <a:latin typeface="Segoe UI"/>
              </a:rPr>
              <a:t>Azure Firewall</a:t>
            </a:r>
          </a:p>
        </p:txBody>
      </p:sp>
      <p:sp>
        <p:nvSpPr>
          <p:cNvPr id="34" name="Shape"/>
          <p:cNvSpPr/>
          <p:nvPr/>
        </p:nvSpPr>
        <p:spPr>
          <a:xfrm>
            <a:off x="6172200" y="1645920"/>
            <a:ext cx="5470855" cy="1042416"/>
          </a:xfrm>
          <a:prstGeom prst="rect">
            <a:avLst/>
          </a:prstGeom>
          <a:solidFill>
            <a:srgbClr val="EEEEF9"/>
          </a:solidFill>
          <a:ln w="19050">
            <a:solidFill>
              <a:srgbClr val="4F52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Box"/>
          <p:cNvSpPr txBox="1"/>
          <p:nvPr/>
        </p:nvSpPr>
        <p:spPr>
          <a:xfrm>
            <a:off x="6446520" y="1682496"/>
            <a:ext cx="4922215" cy="96926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3E419A"/>
                </a:solidFill>
                <a:latin typeface="Segoe UI"/>
              </a:rPr>
              <a:t>Mesmo tipo: pai antes</a:t>
            </a:r>
          </a:p>
          <a:p>
            <a:pPr algn="l"/>
            <a:r>
              <a:rPr sz="1450" b="0">
                <a:solidFill>
                  <a:srgbClr val="1B2333"/>
                </a:solidFill>
                <a:latin typeface="Segoe UI"/>
              </a:rPr>
              <a:t>qualquer prioridade da filha</a:t>
            </a:r>
          </a:p>
        </p:txBody>
      </p:sp>
      <p:sp>
        <p:nvSpPr>
          <p:cNvPr id="36" name="Shape"/>
          <p:cNvSpPr/>
          <p:nvPr/>
        </p:nvSpPr>
        <p:spPr>
          <a:xfrm>
            <a:off x="6172200" y="2953512"/>
            <a:ext cx="5470855" cy="1042416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Box"/>
          <p:cNvSpPr txBox="1"/>
          <p:nvPr/>
        </p:nvSpPr>
        <p:spPr>
          <a:xfrm>
            <a:off x="6446520" y="2990088"/>
            <a:ext cx="4922215" cy="96926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NAT não é herdado</a:t>
            </a:r>
          </a:p>
          <a:p>
            <a:pPr algn="l"/>
            <a:r>
              <a:rPr sz="1450" b="0">
                <a:solidFill>
                  <a:srgbClr val="3B4A5E"/>
                </a:solidFill>
                <a:latin typeface="Segoe UI"/>
              </a:rPr>
              <a:t>DNAT fica na filha</a:t>
            </a:r>
          </a:p>
        </p:txBody>
      </p:sp>
      <p:sp>
        <p:nvSpPr>
          <p:cNvPr id="38" name="Shape"/>
          <p:cNvSpPr/>
          <p:nvPr/>
        </p:nvSpPr>
        <p:spPr>
          <a:xfrm>
            <a:off x="6172200" y="4261104"/>
            <a:ext cx="5470855" cy="1042416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Box"/>
          <p:cNvSpPr txBox="1"/>
          <p:nvPr/>
        </p:nvSpPr>
        <p:spPr>
          <a:xfrm>
            <a:off x="6446520" y="4297680"/>
            <a:ext cx="4922215" cy="96926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Threat Intel herdado</a:t>
            </a:r>
          </a:p>
          <a:p>
            <a:pPr algn="l"/>
            <a:r>
              <a:rPr sz="1450" b="0">
                <a:solidFill>
                  <a:srgbClr val="3B4A5E"/>
                </a:solidFill>
                <a:latin typeface="Segoe UI"/>
              </a:rPr>
              <a:t>a filha só endurece o modo</a:t>
            </a:r>
          </a:p>
        </p:txBody>
      </p:sp>
      <p:sp>
        <p:nvSpPr>
          <p:cNvPr id="40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089F2D7-0512-7B14-9E8C-5C3F9C21591D}"/>
              </a:ext>
            </a:extLst>
          </p:cNvPr>
          <p:cNvSpPr/>
          <p:nvPr/>
        </p:nvSpPr>
        <p:spPr>
          <a:xfrm>
            <a:off x="1417320" y="3246120"/>
            <a:ext cx="4160520" cy="8778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Policy filha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time do workload · regras locais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Ordem de processamento com pai e filha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Em cada etapa, a policy pai vem antes da filha, mesmo com número maior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25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O primeiro match encerra a avaliação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Sem match em nenhum tipo: deny padrão · dentro do RCG, a collection de menor número vem antes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27632"/>
            <a:ext cx="1737360" cy="3291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1B3F"/>
            </a:solidFill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Pacote</a:t>
            </a:r>
          </a:p>
        </p:txBody>
      </p:sp>
      <p:sp>
        <p:nvSpPr>
          <p:cNvPr id="18" name="Shape"/>
          <p:cNvSpPr/>
          <p:nvPr/>
        </p:nvSpPr>
        <p:spPr>
          <a:xfrm>
            <a:off x="1407262" y="1965960"/>
            <a:ext cx="20117" cy="113386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19" name="Shape"/>
          <p:cNvSpPr/>
          <p:nvPr/>
        </p:nvSpPr>
        <p:spPr>
          <a:xfrm rot="10800000">
            <a:off x="1367028" y="2039112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0" name="Shape"/>
          <p:cNvSpPr/>
          <p:nvPr/>
        </p:nvSpPr>
        <p:spPr>
          <a:xfrm>
            <a:off x="548640" y="2157984"/>
            <a:ext cx="3466490" cy="29809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Box"/>
          <p:cNvSpPr txBox="1"/>
          <p:nvPr/>
        </p:nvSpPr>
        <p:spPr>
          <a:xfrm>
            <a:off x="777240" y="2267712"/>
            <a:ext cx="300929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1 · DNAT</a:t>
            </a:r>
          </a:p>
        </p:txBody>
      </p:sp>
      <p:pic>
        <p:nvPicPr>
          <p:cNvPr id="22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77240" y="2761488"/>
            <a:ext cx="256032" cy="256032"/>
          </a:xfrm>
          <a:prstGeom prst="rect">
            <a:avLst/>
          </a:prstGeom>
        </p:spPr>
      </p:pic>
      <p:sp>
        <p:nvSpPr>
          <p:cNvPr id="23" name="TextBox"/>
          <p:cNvSpPr txBox="1"/>
          <p:nvPr/>
        </p:nvSpPr>
        <p:spPr>
          <a:xfrm>
            <a:off x="1106424" y="2724912"/>
            <a:ext cx="22860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3E419A"/>
                </a:solidFill>
                <a:latin typeface="Segoe UI"/>
              </a:rPr>
              <a:t>Policy pai</a:t>
            </a:r>
          </a:p>
        </p:txBody>
      </p:sp>
      <p:sp>
        <p:nvSpPr>
          <p:cNvPr id="24" name="Shape"/>
          <p:cNvSpPr/>
          <p:nvPr/>
        </p:nvSpPr>
        <p:spPr>
          <a:xfrm>
            <a:off x="777240" y="3090672"/>
            <a:ext cx="300929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 lIns="0" tIns="0" rIns="0" bIns="0" anchor="ctr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NAT não é herdado</a:t>
            </a:r>
          </a:p>
        </p:txBody>
      </p:sp>
      <p:sp>
        <p:nvSpPr>
          <p:cNvPr id="25" name="Shape"/>
          <p:cNvSpPr/>
          <p:nvPr/>
        </p:nvSpPr>
        <p:spPr>
          <a:xfrm>
            <a:off x="2271827" y="3785616"/>
            <a:ext cx="20117" cy="213970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6" name="Shape"/>
          <p:cNvSpPr/>
          <p:nvPr/>
        </p:nvSpPr>
        <p:spPr>
          <a:xfrm rot="10800000">
            <a:off x="2231593" y="3959352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pic>
        <p:nvPicPr>
          <p:cNvPr id="27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77240" y="4133088"/>
            <a:ext cx="256032" cy="256032"/>
          </a:xfrm>
          <a:prstGeom prst="rect">
            <a:avLst/>
          </a:prstGeom>
        </p:spPr>
      </p:pic>
      <p:sp>
        <p:nvSpPr>
          <p:cNvPr id="28" name="TextBox"/>
          <p:cNvSpPr txBox="1"/>
          <p:nvPr/>
        </p:nvSpPr>
        <p:spPr>
          <a:xfrm>
            <a:off x="1106424" y="4096512"/>
            <a:ext cx="22860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A6B66"/>
                </a:solidFill>
                <a:latin typeface="Segoe UI"/>
              </a:rPr>
              <a:t>Policy filha</a:t>
            </a:r>
          </a:p>
        </p:txBody>
      </p:sp>
      <p:sp>
        <p:nvSpPr>
          <p:cNvPr id="29" name="Shape"/>
          <p:cNvSpPr/>
          <p:nvPr/>
        </p:nvSpPr>
        <p:spPr>
          <a:xfrm>
            <a:off x="777240" y="4462272"/>
            <a:ext cx="3009290" cy="658368"/>
          </a:xfrm>
          <a:prstGeom prst="roundRect">
            <a:avLst/>
          </a:prstGeom>
          <a:solidFill>
            <a:srgbClr val="0B7A75"/>
          </a:solidFill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RCG 100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RC 100 → RC 200</a:t>
            </a:r>
          </a:p>
        </p:txBody>
      </p:sp>
      <p:sp>
        <p:nvSpPr>
          <p:cNvPr id="30" name="Shape"/>
          <p:cNvSpPr/>
          <p:nvPr/>
        </p:nvSpPr>
        <p:spPr>
          <a:xfrm>
            <a:off x="4060850" y="3637026"/>
            <a:ext cx="184709" cy="22860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1" name="Shape"/>
          <p:cNvSpPr/>
          <p:nvPr/>
        </p:nvSpPr>
        <p:spPr>
          <a:xfrm rot="5400000">
            <a:off x="4198010" y="3589020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2" name="Shape"/>
          <p:cNvSpPr/>
          <p:nvPr/>
        </p:nvSpPr>
        <p:spPr>
          <a:xfrm>
            <a:off x="4362602" y="2157984"/>
            <a:ext cx="3466490" cy="29809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Box"/>
          <p:cNvSpPr txBox="1"/>
          <p:nvPr/>
        </p:nvSpPr>
        <p:spPr>
          <a:xfrm>
            <a:off x="4591202" y="2267712"/>
            <a:ext cx="300929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2 · Network</a:t>
            </a:r>
          </a:p>
        </p:txBody>
      </p:sp>
      <p:pic>
        <p:nvPicPr>
          <p:cNvPr id="34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4591202" y="2761488"/>
            <a:ext cx="256032" cy="256032"/>
          </a:xfrm>
          <a:prstGeom prst="rect">
            <a:avLst/>
          </a:prstGeom>
        </p:spPr>
      </p:pic>
      <p:sp>
        <p:nvSpPr>
          <p:cNvPr id="35" name="TextBox"/>
          <p:cNvSpPr txBox="1"/>
          <p:nvPr/>
        </p:nvSpPr>
        <p:spPr>
          <a:xfrm>
            <a:off x="4920386" y="2724912"/>
            <a:ext cx="22860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3E419A"/>
                </a:solidFill>
                <a:latin typeface="Segoe UI"/>
              </a:rPr>
              <a:t>Policy pai</a:t>
            </a:r>
          </a:p>
        </p:txBody>
      </p:sp>
      <p:sp>
        <p:nvSpPr>
          <p:cNvPr id="36" name="Shape"/>
          <p:cNvSpPr/>
          <p:nvPr/>
        </p:nvSpPr>
        <p:spPr>
          <a:xfrm>
            <a:off x="4591202" y="3090672"/>
            <a:ext cx="3009290" cy="658368"/>
          </a:xfrm>
          <a:prstGeom prst="roundRect">
            <a:avLst/>
          </a:prstGeom>
          <a:solidFill>
            <a:srgbClr val="4F52B2"/>
          </a:solidFill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RCG 300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RC 100 → RC 200</a:t>
            </a:r>
          </a:p>
        </p:txBody>
      </p:sp>
      <p:sp>
        <p:nvSpPr>
          <p:cNvPr id="37" name="Shape"/>
          <p:cNvSpPr/>
          <p:nvPr/>
        </p:nvSpPr>
        <p:spPr>
          <a:xfrm>
            <a:off x="6085789" y="3785616"/>
            <a:ext cx="20117" cy="213970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 rot="10800000">
            <a:off x="6045556" y="3959352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pic>
        <p:nvPicPr>
          <p:cNvPr id="39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4591202" y="4133088"/>
            <a:ext cx="256032" cy="256032"/>
          </a:xfrm>
          <a:prstGeom prst="rect">
            <a:avLst/>
          </a:prstGeom>
        </p:spPr>
      </p:pic>
      <p:sp>
        <p:nvSpPr>
          <p:cNvPr id="40" name="TextBox"/>
          <p:cNvSpPr txBox="1"/>
          <p:nvPr/>
        </p:nvSpPr>
        <p:spPr>
          <a:xfrm>
            <a:off x="4920386" y="4096512"/>
            <a:ext cx="22860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A6B66"/>
                </a:solidFill>
                <a:latin typeface="Segoe UI"/>
              </a:rPr>
              <a:t>Policy filha</a:t>
            </a:r>
          </a:p>
        </p:txBody>
      </p:sp>
      <p:sp>
        <p:nvSpPr>
          <p:cNvPr id="41" name="Shape"/>
          <p:cNvSpPr/>
          <p:nvPr/>
        </p:nvSpPr>
        <p:spPr>
          <a:xfrm>
            <a:off x="4591202" y="4462272"/>
            <a:ext cx="3009290" cy="658368"/>
          </a:xfrm>
          <a:prstGeom prst="roundRect">
            <a:avLst/>
          </a:prstGeom>
          <a:solidFill>
            <a:srgbClr val="0B7A75"/>
          </a:solidFill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RCG 100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RC 100 → RC 200</a:t>
            </a:r>
          </a:p>
        </p:txBody>
      </p:sp>
      <p:sp>
        <p:nvSpPr>
          <p:cNvPr id="42" name="Shape"/>
          <p:cNvSpPr/>
          <p:nvPr/>
        </p:nvSpPr>
        <p:spPr>
          <a:xfrm>
            <a:off x="7874813" y="3637026"/>
            <a:ext cx="184709" cy="22860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3" name="Shape"/>
          <p:cNvSpPr/>
          <p:nvPr/>
        </p:nvSpPr>
        <p:spPr>
          <a:xfrm rot="5400000">
            <a:off x="8011973" y="3589020"/>
            <a:ext cx="118872" cy="118872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4" name="Shape"/>
          <p:cNvSpPr/>
          <p:nvPr/>
        </p:nvSpPr>
        <p:spPr>
          <a:xfrm>
            <a:off x="8176565" y="2157984"/>
            <a:ext cx="3466490" cy="29809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"/>
          <p:cNvSpPr txBox="1"/>
          <p:nvPr/>
        </p:nvSpPr>
        <p:spPr>
          <a:xfrm>
            <a:off x="8405165" y="2267712"/>
            <a:ext cx="300929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3 · Application</a:t>
            </a:r>
          </a:p>
        </p:txBody>
      </p:sp>
      <p:pic>
        <p:nvPicPr>
          <p:cNvPr id="46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405165" y="2761488"/>
            <a:ext cx="256032" cy="256032"/>
          </a:xfrm>
          <a:prstGeom prst="rect">
            <a:avLst/>
          </a:prstGeom>
        </p:spPr>
      </p:pic>
      <p:sp>
        <p:nvSpPr>
          <p:cNvPr id="47" name="TextBox"/>
          <p:cNvSpPr txBox="1"/>
          <p:nvPr/>
        </p:nvSpPr>
        <p:spPr>
          <a:xfrm>
            <a:off x="8734349" y="2724912"/>
            <a:ext cx="22860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3E419A"/>
                </a:solidFill>
                <a:latin typeface="Segoe UI"/>
              </a:rPr>
              <a:t>Policy pai</a:t>
            </a:r>
          </a:p>
        </p:txBody>
      </p:sp>
      <p:sp>
        <p:nvSpPr>
          <p:cNvPr id="48" name="Shape"/>
          <p:cNvSpPr/>
          <p:nvPr/>
        </p:nvSpPr>
        <p:spPr>
          <a:xfrm>
            <a:off x="8405165" y="3090672"/>
            <a:ext cx="3009290" cy="658368"/>
          </a:xfrm>
          <a:prstGeom prst="roundRect">
            <a:avLst/>
          </a:prstGeom>
          <a:solidFill>
            <a:srgbClr val="4F52B2"/>
          </a:solidFill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RCG 300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RC 100 → RC 200</a:t>
            </a:r>
          </a:p>
        </p:txBody>
      </p:sp>
      <p:sp>
        <p:nvSpPr>
          <p:cNvPr id="49" name="Shape"/>
          <p:cNvSpPr/>
          <p:nvPr/>
        </p:nvSpPr>
        <p:spPr>
          <a:xfrm>
            <a:off x="9899752" y="3785616"/>
            <a:ext cx="20117" cy="213970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0" name="Shape"/>
          <p:cNvSpPr/>
          <p:nvPr/>
        </p:nvSpPr>
        <p:spPr>
          <a:xfrm rot="10800000">
            <a:off x="9859518" y="3959352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pic>
        <p:nvPicPr>
          <p:cNvPr id="51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405165" y="4133088"/>
            <a:ext cx="256032" cy="256032"/>
          </a:xfrm>
          <a:prstGeom prst="rect">
            <a:avLst/>
          </a:prstGeom>
        </p:spPr>
      </p:pic>
      <p:sp>
        <p:nvSpPr>
          <p:cNvPr id="52" name="TextBox"/>
          <p:cNvSpPr txBox="1"/>
          <p:nvPr/>
        </p:nvSpPr>
        <p:spPr>
          <a:xfrm>
            <a:off x="8734349" y="4096512"/>
            <a:ext cx="22860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A6B66"/>
                </a:solidFill>
                <a:latin typeface="Segoe UI"/>
              </a:rPr>
              <a:t>Policy filha</a:t>
            </a:r>
          </a:p>
        </p:txBody>
      </p:sp>
      <p:sp>
        <p:nvSpPr>
          <p:cNvPr id="53" name="Shape"/>
          <p:cNvSpPr/>
          <p:nvPr/>
        </p:nvSpPr>
        <p:spPr>
          <a:xfrm>
            <a:off x="8405165" y="4462272"/>
            <a:ext cx="3009290" cy="658368"/>
          </a:xfrm>
          <a:prstGeom prst="roundRect">
            <a:avLst/>
          </a:prstGeom>
          <a:solidFill>
            <a:srgbClr val="0B7A75"/>
          </a:solidFill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RCG 100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RC 100 → RC 200</a:t>
            </a:r>
          </a:p>
        </p:txBody>
      </p:sp>
      <p:sp>
        <p:nvSpPr>
          <p:cNvPr id="54" name="Shape"/>
          <p:cNvSpPr/>
          <p:nvPr/>
        </p:nvSpPr>
        <p:spPr>
          <a:xfrm>
            <a:off x="9899752" y="5166360"/>
            <a:ext cx="20117" cy="213970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5" name="Shape"/>
          <p:cNvSpPr/>
          <p:nvPr/>
        </p:nvSpPr>
        <p:spPr>
          <a:xfrm rot="10800000">
            <a:off x="9859518" y="5340096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6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Exemplo simples de pai e filha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Um RCG no pai, um na filha, quatro passos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26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O pai vem antes, mesmo com RCG 300 contra RCG 100 da filha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O tipo continua mandando: todo Network, do pai e da filha, antes de qualquer Application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591056"/>
            <a:ext cx="5432908" cy="1225296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49808" y="1664208"/>
            <a:ext cx="274320" cy="274320"/>
          </a:xfrm>
          <a:prstGeom prst="rect">
            <a:avLst/>
          </a:prstGeom>
        </p:spPr>
      </p:pic>
      <p:sp>
        <p:nvSpPr>
          <p:cNvPr id="19" name="TextBox"/>
          <p:cNvSpPr txBox="1"/>
          <p:nvPr/>
        </p:nvSpPr>
        <p:spPr>
          <a:xfrm>
            <a:off x="1115568" y="1636776"/>
            <a:ext cx="27432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3E419A"/>
                </a:solidFill>
                <a:latin typeface="Segoe UI"/>
              </a:rPr>
              <a:t>Policy pai</a:t>
            </a:r>
          </a:p>
        </p:txBody>
      </p:sp>
      <p:sp>
        <p:nvSpPr>
          <p:cNvPr id="20" name="Shape"/>
          <p:cNvSpPr/>
          <p:nvPr/>
        </p:nvSpPr>
        <p:spPr>
          <a:xfrm>
            <a:off x="749808" y="2029968"/>
            <a:ext cx="5030572" cy="676656"/>
          </a:xfrm>
          <a:prstGeom prst="rect">
            <a:avLst/>
          </a:prstGeom>
          <a:solidFill>
            <a:srgbClr val="EEEEF9"/>
          </a:solidFill>
          <a:ln w="12700">
            <a:solidFill>
              <a:srgbClr val="4F52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Box"/>
          <p:cNvSpPr txBox="1"/>
          <p:nvPr/>
        </p:nvSpPr>
        <p:spPr>
          <a:xfrm>
            <a:off x="960120" y="2029968"/>
            <a:ext cx="1188720" cy="6766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3E419A"/>
                </a:solidFill>
                <a:latin typeface="Segoe UI"/>
              </a:rPr>
              <a:t>RCG 300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2240280" y="2048256"/>
            <a:ext cx="3421228" cy="640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00" b="0">
                <a:solidFill>
                  <a:srgbClr val="1B2333"/>
                </a:solidFill>
                <a:latin typeface="Segoe UI"/>
              </a:rPr>
              <a:t>RC 100 · Network</a:t>
            </a:r>
          </a:p>
          <a:p>
            <a:pPr algn="l"/>
            <a:r>
              <a:rPr sz="1300" b="0">
                <a:solidFill>
                  <a:srgbClr val="1B2333"/>
                </a:solidFill>
                <a:latin typeface="Segoe UI"/>
              </a:rPr>
              <a:t>RC 200 · Application</a:t>
            </a:r>
          </a:p>
        </p:txBody>
      </p:sp>
      <p:sp>
        <p:nvSpPr>
          <p:cNvPr id="23" name="Shape"/>
          <p:cNvSpPr/>
          <p:nvPr/>
        </p:nvSpPr>
        <p:spPr>
          <a:xfrm>
            <a:off x="6210148" y="1591056"/>
            <a:ext cx="5432908" cy="1225296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6411316" y="1664208"/>
            <a:ext cx="274320" cy="274320"/>
          </a:xfrm>
          <a:prstGeom prst="rect">
            <a:avLst/>
          </a:prstGeom>
        </p:spPr>
      </p:pic>
      <p:sp>
        <p:nvSpPr>
          <p:cNvPr id="25" name="TextBox"/>
          <p:cNvSpPr txBox="1"/>
          <p:nvPr/>
        </p:nvSpPr>
        <p:spPr>
          <a:xfrm>
            <a:off x="6777076" y="1636776"/>
            <a:ext cx="27432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0A6B66"/>
                </a:solidFill>
                <a:latin typeface="Segoe UI"/>
              </a:rPr>
              <a:t>Policy filha</a:t>
            </a:r>
          </a:p>
        </p:txBody>
      </p:sp>
      <p:sp>
        <p:nvSpPr>
          <p:cNvPr id="26" name="Shape"/>
          <p:cNvSpPr/>
          <p:nvPr/>
        </p:nvSpPr>
        <p:spPr>
          <a:xfrm>
            <a:off x="6411316" y="2029968"/>
            <a:ext cx="5030572" cy="676656"/>
          </a:xfrm>
          <a:prstGeom prst="rect">
            <a:avLst/>
          </a:prstGeom>
          <a:solidFill>
            <a:srgbClr val="E3F2F1"/>
          </a:solidFill>
          <a:ln w="12700">
            <a:solidFill>
              <a:srgbClr val="0B7A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Box"/>
          <p:cNvSpPr txBox="1"/>
          <p:nvPr/>
        </p:nvSpPr>
        <p:spPr>
          <a:xfrm>
            <a:off x="6621628" y="2029968"/>
            <a:ext cx="1188720" cy="6766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0A6B66"/>
                </a:solidFill>
                <a:latin typeface="Segoe UI"/>
              </a:rPr>
              <a:t>RCG 100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7901788" y="2048256"/>
            <a:ext cx="3421228" cy="640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00" b="0">
                <a:solidFill>
                  <a:srgbClr val="1B2333"/>
                </a:solidFill>
                <a:latin typeface="Segoe UI"/>
              </a:rPr>
              <a:t>RC 100 · Network</a:t>
            </a:r>
          </a:p>
          <a:p>
            <a:pPr algn="l"/>
            <a:r>
              <a:rPr sz="1300" b="0">
                <a:solidFill>
                  <a:srgbClr val="1B2333"/>
                </a:solidFill>
                <a:latin typeface="Segoe UI"/>
              </a:rPr>
              <a:t>RC 100 · Application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548640" y="2871216"/>
            <a:ext cx="11094415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Em cada passada, o pai é avaliado antes da filha</a:t>
            </a:r>
          </a:p>
        </p:txBody>
      </p:sp>
      <p:sp>
        <p:nvSpPr>
          <p:cNvPr id="30" name="Shape"/>
          <p:cNvSpPr/>
          <p:nvPr/>
        </p:nvSpPr>
        <p:spPr>
          <a:xfrm>
            <a:off x="548640" y="3218688"/>
            <a:ext cx="11094415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Box"/>
          <p:cNvSpPr txBox="1"/>
          <p:nvPr/>
        </p:nvSpPr>
        <p:spPr>
          <a:xfrm>
            <a:off x="731520" y="3236976"/>
            <a:ext cx="1600200" cy="49377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DNAT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1ª passada</a:t>
            </a:r>
          </a:p>
        </p:txBody>
      </p:sp>
      <p:sp>
        <p:nvSpPr>
          <p:cNvPr id="32" name="Shape"/>
          <p:cNvSpPr/>
          <p:nvPr/>
        </p:nvSpPr>
        <p:spPr>
          <a:xfrm>
            <a:off x="2286000" y="3473806"/>
            <a:ext cx="287122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 rot="5400000">
            <a:off x="2532888" y="3433572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2697480" y="3255264"/>
            <a:ext cx="2377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nenhuma regra</a:t>
            </a:r>
          </a:p>
        </p:txBody>
      </p:sp>
      <p:sp>
        <p:nvSpPr>
          <p:cNvPr id="35" name="Shape"/>
          <p:cNvSpPr/>
          <p:nvPr/>
        </p:nvSpPr>
        <p:spPr>
          <a:xfrm>
            <a:off x="548640" y="3822192"/>
            <a:ext cx="11094415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"/>
          <p:cNvSpPr txBox="1"/>
          <p:nvPr/>
        </p:nvSpPr>
        <p:spPr>
          <a:xfrm>
            <a:off x="731520" y="3840480"/>
            <a:ext cx="1600200" cy="49377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Network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2ª passada</a:t>
            </a:r>
          </a:p>
        </p:txBody>
      </p:sp>
      <p:sp>
        <p:nvSpPr>
          <p:cNvPr id="37" name="Shape"/>
          <p:cNvSpPr/>
          <p:nvPr/>
        </p:nvSpPr>
        <p:spPr>
          <a:xfrm>
            <a:off x="2286000" y="4077310"/>
            <a:ext cx="287122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 rot="5400000">
            <a:off x="2532888" y="4037076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9" name="Shape"/>
          <p:cNvSpPr/>
          <p:nvPr/>
        </p:nvSpPr>
        <p:spPr>
          <a:xfrm>
            <a:off x="2697480" y="3858768"/>
            <a:ext cx="2377440" cy="457200"/>
          </a:xfrm>
          <a:prstGeom prst="roundRect">
            <a:avLst/>
          </a:prstGeom>
          <a:solidFill>
            <a:srgbClr val="4F52B2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Pai · RC 100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RCG 300 · passo 1</a:t>
            </a:r>
          </a:p>
        </p:txBody>
      </p:sp>
      <p:sp>
        <p:nvSpPr>
          <p:cNvPr id="40" name="Shape"/>
          <p:cNvSpPr/>
          <p:nvPr/>
        </p:nvSpPr>
        <p:spPr>
          <a:xfrm>
            <a:off x="5120640" y="4077310"/>
            <a:ext cx="232258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1" name="Shape"/>
          <p:cNvSpPr/>
          <p:nvPr/>
        </p:nvSpPr>
        <p:spPr>
          <a:xfrm rot="5400000">
            <a:off x="5312664" y="4037076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2" name="Shape"/>
          <p:cNvSpPr/>
          <p:nvPr/>
        </p:nvSpPr>
        <p:spPr>
          <a:xfrm>
            <a:off x="5458968" y="3858768"/>
            <a:ext cx="2377440" cy="457200"/>
          </a:xfrm>
          <a:prstGeom prst="roundRect">
            <a:avLst/>
          </a:prstGeom>
          <a:solidFill>
            <a:srgbClr val="0B7A75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Filha · RC 100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RCG 100 · passo 2</a:t>
            </a:r>
          </a:p>
        </p:txBody>
      </p:sp>
      <p:sp>
        <p:nvSpPr>
          <p:cNvPr id="43" name="Shape"/>
          <p:cNvSpPr/>
          <p:nvPr/>
        </p:nvSpPr>
        <p:spPr>
          <a:xfrm>
            <a:off x="548640" y="4425696"/>
            <a:ext cx="11094415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Box"/>
          <p:cNvSpPr txBox="1"/>
          <p:nvPr/>
        </p:nvSpPr>
        <p:spPr>
          <a:xfrm>
            <a:off x="731520" y="4443984"/>
            <a:ext cx="1600200" cy="49377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Application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3ª passada</a:t>
            </a:r>
          </a:p>
        </p:txBody>
      </p:sp>
      <p:sp>
        <p:nvSpPr>
          <p:cNvPr id="45" name="Shape"/>
          <p:cNvSpPr/>
          <p:nvPr/>
        </p:nvSpPr>
        <p:spPr>
          <a:xfrm>
            <a:off x="2286000" y="4680814"/>
            <a:ext cx="287122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6" name="Shape"/>
          <p:cNvSpPr/>
          <p:nvPr/>
        </p:nvSpPr>
        <p:spPr>
          <a:xfrm rot="5400000">
            <a:off x="2532888" y="4640580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7" name="Shape"/>
          <p:cNvSpPr/>
          <p:nvPr/>
        </p:nvSpPr>
        <p:spPr>
          <a:xfrm>
            <a:off x="2697480" y="4462272"/>
            <a:ext cx="2377440" cy="457200"/>
          </a:xfrm>
          <a:prstGeom prst="roundRect">
            <a:avLst/>
          </a:prstGeom>
          <a:solidFill>
            <a:srgbClr val="4F52B2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Pai · RC 200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RCG 300 · passo 3</a:t>
            </a:r>
          </a:p>
        </p:txBody>
      </p:sp>
      <p:sp>
        <p:nvSpPr>
          <p:cNvPr id="48" name="Shape"/>
          <p:cNvSpPr/>
          <p:nvPr/>
        </p:nvSpPr>
        <p:spPr>
          <a:xfrm>
            <a:off x="5120640" y="4680814"/>
            <a:ext cx="232258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9" name="Shape"/>
          <p:cNvSpPr/>
          <p:nvPr/>
        </p:nvSpPr>
        <p:spPr>
          <a:xfrm rot="5400000">
            <a:off x="5312664" y="4640580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50" name="Shape"/>
          <p:cNvSpPr/>
          <p:nvPr/>
        </p:nvSpPr>
        <p:spPr>
          <a:xfrm>
            <a:off x="5458968" y="4462272"/>
            <a:ext cx="2377440" cy="457200"/>
          </a:xfrm>
          <a:prstGeom prst="roundRect">
            <a:avLst/>
          </a:prstGeom>
          <a:solidFill>
            <a:srgbClr val="0B7A75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Filha · RC 100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RCG 100 · passo 4</a:t>
            </a:r>
          </a:p>
        </p:txBody>
      </p:sp>
      <p:sp>
        <p:nvSpPr>
          <p:cNvPr id="51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Pai Allow e filha Deny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Acessa ou não?</a:t>
            </a:r>
            <a:endParaRPr lang="en-US" sz="1600"/>
          </a:p>
        </p:txBody>
      </p:sp>
      <p:sp>
        <p:nvSpPr>
          <p:cNvPr id="14" name="A1_s26_11_card"/>
          <p:cNvSpPr/>
          <p:nvPr/>
        </p:nvSpPr>
        <p:spPr>
          <a:xfrm>
            <a:off x="6816852" y="2587752"/>
            <a:ext cx="36576" cy="1920240"/>
          </a:xfrm>
          <a:prstGeom prst="roundRect">
            <a:avLst>
              <a:gd name="adj" fmla="val 3684"/>
            </a:avLst>
          </a:prstGeom>
          <a:solidFill>
            <a:srgbClr val="0078D4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1_s26_12_texto"/>
          <p:cNvSpPr txBox="1"/>
          <p:nvPr/>
        </p:nvSpPr>
        <p:spPr>
          <a:xfrm>
            <a:off x="5897880" y="1645920"/>
            <a:ext cx="5029200" cy="43891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0B1B3F"/>
                </a:solidFill>
                <a:latin typeface="Segoe UI"/>
              </a:rPr>
              <a:t>Como o firewall avalia</a:t>
            </a:r>
            <a:endParaRPr lang="en-US" sz="1800"/>
          </a:p>
        </p:txBody>
      </p:sp>
      <p:sp>
        <p:nvSpPr>
          <p:cNvPr id="16" name="A1_s26_13_panel"/>
          <p:cNvSpPr/>
          <p:nvPr/>
        </p:nvSpPr>
        <p:spPr>
          <a:xfrm>
            <a:off x="5897880" y="224028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1_s26_14_texto"/>
          <p:cNvSpPr txBox="1"/>
          <p:nvPr/>
        </p:nvSpPr>
        <p:spPr>
          <a:xfrm>
            <a:off x="5897880" y="224028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DNAT</a:t>
            </a:r>
            <a:endParaRPr lang="en-US" sz="1800"/>
          </a:p>
        </p:txBody>
      </p:sp>
      <p:sp>
        <p:nvSpPr>
          <p:cNvPr id="18" name="A1_s26_15_outline"/>
          <p:cNvSpPr/>
          <p:nvPr/>
        </p:nvSpPr>
        <p:spPr>
          <a:xfrm>
            <a:off x="8065008" y="224028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1_s26_16_texto"/>
          <p:cNvSpPr txBox="1"/>
          <p:nvPr/>
        </p:nvSpPr>
        <p:spPr>
          <a:xfrm>
            <a:off x="8065008" y="224028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nenhuma regra</a:t>
            </a:r>
            <a:endParaRPr lang="en-US" sz="1550"/>
          </a:p>
        </p:txBody>
      </p:sp>
      <p:sp>
        <p:nvSpPr>
          <p:cNvPr id="20" name="A1_s26_17_panel"/>
          <p:cNvSpPr/>
          <p:nvPr/>
        </p:nvSpPr>
        <p:spPr>
          <a:xfrm>
            <a:off x="5897880" y="320040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1_s26_18_texto"/>
          <p:cNvSpPr txBox="1"/>
          <p:nvPr/>
        </p:nvSpPr>
        <p:spPr>
          <a:xfrm>
            <a:off x="5897880" y="320040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Network</a:t>
            </a:r>
            <a:endParaRPr lang="en-US" sz="1800"/>
          </a:p>
        </p:txBody>
      </p:sp>
      <p:sp>
        <p:nvSpPr>
          <p:cNvPr id="22" name="A1_s26_19_outline"/>
          <p:cNvSpPr/>
          <p:nvPr/>
        </p:nvSpPr>
        <p:spPr>
          <a:xfrm>
            <a:off x="8065008" y="320040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1_s26_20_texto"/>
          <p:cNvSpPr txBox="1"/>
          <p:nvPr/>
        </p:nvSpPr>
        <p:spPr>
          <a:xfrm>
            <a:off x="8065008" y="320040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nenhuma regra</a:t>
            </a:r>
            <a:endParaRPr lang="en-US" sz="1550"/>
          </a:p>
        </p:txBody>
      </p:sp>
      <p:sp>
        <p:nvSpPr>
          <p:cNvPr id="24" name="A1_s26_21_panel"/>
          <p:cNvSpPr/>
          <p:nvPr/>
        </p:nvSpPr>
        <p:spPr>
          <a:xfrm>
            <a:off x="5897880" y="416052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1_s26_22_texto"/>
          <p:cNvSpPr txBox="1"/>
          <p:nvPr/>
        </p:nvSpPr>
        <p:spPr>
          <a:xfrm>
            <a:off x="5897880" y="416052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Application</a:t>
            </a:r>
            <a:endParaRPr lang="en-US" sz="1800"/>
          </a:p>
        </p:txBody>
      </p:sp>
      <p:sp>
        <p:nvSpPr>
          <p:cNvPr id="26" name="A1_s26_23_solid"/>
          <p:cNvSpPr/>
          <p:nvPr/>
        </p:nvSpPr>
        <p:spPr>
          <a:xfrm>
            <a:off x="8065008" y="416052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107C1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1_s26_24_texto"/>
          <p:cNvSpPr txBox="1"/>
          <p:nvPr/>
        </p:nvSpPr>
        <p:spPr>
          <a:xfrm>
            <a:off x="8065008" y="416052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Segoe UI"/>
              </a:rPr>
              <a:t>Allow no pai</a:t>
            </a:r>
            <a:endParaRPr lang="en-US" sz="1800"/>
          </a:p>
        </p:txBody>
      </p:sp>
      <p:sp>
        <p:nvSpPr>
          <p:cNvPr id="28" name="A2_s26_25_solid"/>
          <p:cNvSpPr/>
          <p:nvPr/>
        </p:nvSpPr>
        <p:spPr>
          <a:xfrm>
            <a:off x="548640" y="5138928"/>
            <a:ext cx="11094415" cy="1005840"/>
          </a:xfrm>
          <a:prstGeom prst="roundRect">
            <a:avLst>
              <a:gd name="adj" fmla="val 13158"/>
            </a:avLst>
          </a:prstGeom>
          <a:solidFill>
            <a:srgbClr val="107C1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2_s26_26_texto"/>
          <p:cNvSpPr txBox="1"/>
          <p:nvPr/>
        </p:nvSpPr>
        <p:spPr>
          <a:xfrm>
            <a:off x="960120" y="5230368"/>
            <a:ext cx="10271455" cy="4572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Segoe UI"/>
              </a:rPr>
              <a:t>Acessa www.microsoft.com</a:t>
            </a:r>
            <a:endParaRPr lang="en-US" sz="1800"/>
          </a:p>
        </p:txBody>
      </p:sp>
      <p:sp>
        <p:nvSpPr>
          <p:cNvPr id="30" name="A2_s26_27_texto"/>
          <p:cNvSpPr txBox="1"/>
          <p:nvPr/>
        </p:nvSpPr>
        <p:spPr>
          <a:xfrm>
            <a:off x="960120" y="5669280"/>
            <a:ext cx="10271455" cy="36576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FFFFFF"/>
                </a:solidFill>
                <a:latin typeface="Segoe UI"/>
              </a:rPr>
              <a:t>O pai vem antes: o Deny da filha nunca é alcançado, mesmo com RCG 100</a:t>
            </a:r>
            <a:endParaRPr lang="en-US" sz="1550"/>
          </a:p>
        </p:txBody>
      </p:sp>
      <p:sp>
        <p:nvSpPr>
          <p:cNvPr id="32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5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6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9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27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pic>
        <p:nvPicPr>
          <p:cNvPr id="41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548640" y="1700784"/>
            <a:ext cx="329184" cy="329184"/>
          </a:xfrm>
          <a:prstGeom prst="rect">
            <a:avLst/>
          </a:prstGeom>
        </p:spPr>
      </p:pic>
      <p:sp>
        <p:nvSpPr>
          <p:cNvPr id="42" name="TextBox"/>
          <p:cNvSpPr txBox="1"/>
          <p:nvPr/>
        </p:nvSpPr>
        <p:spPr>
          <a:xfrm>
            <a:off x="987552" y="1645920"/>
            <a:ext cx="4114800" cy="43891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Regras configuradas</a:t>
            </a:r>
          </a:p>
        </p:txBody>
      </p:sp>
      <p:sp>
        <p:nvSpPr>
          <p:cNvPr id="43" name="Shape"/>
          <p:cNvSpPr/>
          <p:nvPr/>
        </p:nvSpPr>
        <p:spPr>
          <a:xfrm>
            <a:off x="548640" y="2240280"/>
            <a:ext cx="4983480" cy="1207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52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Box"/>
          <p:cNvSpPr txBox="1"/>
          <p:nvPr/>
        </p:nvSpPr>
        <p:spPr>
          <a:xfrm>
            <a:off x="841248" y="2368296"/>
            <a:ext cx="44348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3E419A"/>
                </a:solidFill>
                <a:latin typeface="Segoe UI"/>
              </a:rPr>
              <a:t>Pai · RCG 300 · Application</a:t>
            </a:r>
          </a:p>
        </p:txBody>
      </p:sp>
      <p:sp>
        <p:nvSpPr>
          <p:cNvPr id="45" name="Shape"/>
          <p:cNvSpPr/>
          <p:nvPr/>
        </p:nvSpPr>
        <p:spPr>
          <a:xfrm>
            <a:off x="841248" y="2880360"/>
            <a:ext cx="914400" cy="384048"/>
          </a:xfrm>
          <a:prstGeom prst="roundRect">
            <a:avLst/>
          </a:prstGeom>
          <a:solidFill>
            <a:srgbClr val="107C10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1920240" y="2843784"/>
            <a:ext cx="342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0">
                <a:solidFill>
                  <a:srgbClr val="1B2333"/>
                </a:solidFill>
                <a:latin typeface="Consolas"/>
              </a:rPr>
              <a:t>www.microsoft.com</a:t>
            </a:r>
          </a:p>
        </p:txBody>
      </p:sp>
      <p:sp>
        <p:nvSpPr>
          <p:cNvPr id="47" name="Shape"/>
          <p:cNvSpPr/>
          <p:nvPr/>
        </p:nvSpPr>
        <p:spPr>
          <a:xfrm>
            <a:off x="548640" y="3639312"/>
            <a:ext cx="4983480" cy="1207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7A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"/>
          <p:cNvSpPr txBox="1"/>
          <p:nvPr/>
        </p:nvSpPr>
        <p:spPr>
          <a:xfrm>
            <a:off x="841248" y="3767328"/>
            <a:ext cx="44348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A6B66"/>
                </a:solidFill>
                <a:latin typeface="Segoe UI"/>
              </a:rPr>
              <a:t>Filha · RCG 100 · Application</a:t>
            </a:r>
          </a:p>
        </p:txBody>
      </p:sp>
      <p:sp>
        <p:nvSpPr>
          <p:cNvPr id="49" name="Shape"/>
          <p:cNvSpPr/>
          <p:nvPr/>
        </p:nvSpPr>
        <p:spPr>
          <a:xfrm>
            <a:off x="841248" y="4279392"/>
            <a:ext cx="914400" cy="384048"/>
          </a:xfrm>
          <a:prstGeom prst="roundRect">
            <a:avLst/>
          </a:prstGeom>
          <a:solidFill>
            <a:srgbClr val="C42B1C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Deny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920240" y="4242816"/>
            <a:ext cx="342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0">
                <a:solidFill>
                  <a:srgbClr val="1B2333"/>
                </a:solidFill>
                <a:latin typeface="Consolas"/>
              </a:rPr>
              <a:t>www.microsoft.com</a:t>
            </a:r>
          </a:p>
        </p:txBody>
      </p:sp>
      <p:sp>
        <p:nvSpPr>
          <p:cNvPr id="51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Pai Deny e filha Allow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Acessa ou não?</a:t>
            </a:r>
            <a:endParaRPr lang="en-US" sz="1600"/>
          </a:p>
        </p:txBody>
      </p:sp>
      <p:sp>
        <p:nvSpPr>
          <p:cNvPr id="14" name="A1_s27_11_card"/>
          <p:cNvSpPr/>
          <p:nvPr/>
        </p:nvSpPr>
        <p:spPr>
          <a:xfrm>
            <a:off x="6816852" y="2587752"/>
            <a:ext cx="36576" cy="1920240"/>
          </a:xfrm>
          <a:prstGeom prst="roundRect">
            <a:avLst>
              <a:gd name="adj" fmla="val 3684"/>
            </a:avLst>
          </a:prstGeom>
          <a:solidFill>
            <a:srgbClr val="0078D4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1_s27_12_texto"/>
          <p:cNvSpPr txBox="1"/>
          <p:nvPr/>
        </p:nvSpPr>
        <p:spPr>
          <a:xfrm>
            <a:off x="5897880" y="1645920"/>
            <a:ext cx="5029200" cy="43891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0B1B3F"/>
                </a:solidFill>
                <a:latin typeface="Segoe UI"/>
              </a:rPr>
              <a:t>Como o firewall avalia</a:t>
            </a:r>
            <a:endParaRPr lang="en-US" sz="1800"/>
          </a:p>
        </p:txBody>
      </p:sp>
      <p:sp>
        <p:nvSpPr>
          <p:cNvPr id="16" name="A1_s27_13_panel"/>
          <p:cNvSpPr/>
          <p:nvPr/>
        </p:nvSpPr>
        <p:spPr>
          <a:xfrm>
            <a:off x="5897880" y="224028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1_s27_14_texto"/>
          <p:cNvSpPr txBox="1"/>
          <p:nvPr/>
        </p:nvSpPr>
        <p:spPr>
          <a:xfrm>
            <a:off x="5897880" y="224028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DNAT</a:t>
            </a:r>
            <a:endParaRPr lang="en-US" sz="1800"/>
          </a:p>
        </p:txBody>
      </p:sp>
      <p:sp>
        <p:nvSpPr>
          <p:cNvPr id="18" name="A1_s27_15_outline"/>
          <p:cNvSpPr/>
          <p:nvPr/>
        </p:nvSpPr>
        <p:spPr>
          <a:xfrm>
            <a:off x="8065008" y="224028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1_s27_16_texto"/>
          <p:cNvSpPr txBox="1"/>
          <p:nvPr/>
        </p:nvSpPr>
        <p:spPr>
          <a:xfrm>
            <a:off x="8065008" y="224028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nenhuma regra</a:t>
            </a:r>
            <a:endParaRPr lang="en-US" sz="1550"/>
          </a:p>
        </p:txBody>
      </p:sp>
      <p:sp>
        <p:nvSpPr>
          <p:cNvPr id="20" name="A1_s27_17_panel"/>
          <p:cNvSpPr/>
          <p:nvPr/>
        </p:nvSpPr>
        <p:spPr>
          <a:xfrm>
            <a:off x="5897880" y="320040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1_s27_18_texto"/>
          <p:cNvSpPr txBox="1"/>
          <p:nvPr/>
        </p:nvSpPr>
        <p:spPr>
          <a:xfrm>
            <a:off x="5897880" y="320040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Network</a:t>
            </a:r>
            <a:endParaRPr lang="en-US" sz="1800"/>
          </a:p>
        </p:txBody>
      </p:sp>
      <p:sp>
        <p:nvSpPr>
          <p:cNvPr id="22" name="A1_s27_19_outline"/>
          <p:cNvSpPr/>
          <p:nvPr/>
        </p:nvSpPr>
        <p:spPr>
          <a:xfrm>
            <a:off x="8065008" y="320040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1_s27_20_texto"/>
          <p:cNvSpPr txBox="1"/>
          <p:nvPr/>
        </p:nvSpPr>
        <p:spPr>
          <a:xfrm>
            <a:off x="8065008" y="320040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nenhuma regra</a:t>
            </a:r>
            <a:endParaRPr lang="en-US" sz="1550"/>
          </a:p>
        </p:txBody>
      </p:sp>
      <p:sp>
        <p:nvSpPr>
          <p:cNvPr id="24" name="A1_s27_21_panel"/>
          <p:cNvSpPr/>
          <p:nvPr/>
        </p:nvSpPr>
        <p:spPr>
          <a:xfrm>
            <a:off x="5897880" y="4160520"/>
            <a:ext cx="1874520" cy="694944"/>
          </a:xfrm>
          <a:prstGeom prst="roundRect">
            <a:avLst>
              <a:gd name="adj" fmla="val 15000"/>
            </a:avLst>
          </a:prstGeom>
          <a:solidFill>
            <a:srgbClr val="DEEC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1_s27_22_texto"/>
          <p:cNvSpPr txBox="1"/>
          <p:nvPr/>
        </p:nvSpPr>
        <p:spPr>
          <a:xfrm>
            <a:off x="5897880" y="4160520"/>
            <a:ext cx="1874520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B1B3F"/>
                </a:solidFill>
                <a:latin typeface="Segoe UI"/>
              </a:rPr>
              <a:t>Application</a:t>
            </a:r>
            <a:endParaRPr lang="en-US" sz="1800"/>
          </a:p>
        </p:txBody>
      </p:sp>
      <p:sp>
        <p:nvSpPr>
          <p:cNvPr id="26" name="A1_s27_23_solid"/>
          <p:cNvSpPr/>
          <p:nvPr/>
        </p:nvSpPr>
        <p:spPr>
          <a:xfrm>
            <a:off x="8065008" y="4160520"/>
            <a:ext cx="3578047" cy="694944"/>
          </a:xfrm>
          <a:prstGeom prst="roundRect">
            <a:avLst>
              <a:gd name="adj" fmla="val 15000"/>
            </a:avLst>
          </a:prstGeom>
          <a:solidFill>
            <a:srgbClr val="C42B1C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1_s27_24_texto"/>
          <p:cNvSpPr txBox="1"/>
          <p:nvPr/>
        </p:nvSpPr>
        <p:spPr>
          <a:xfrm>
            <a:off x="8065008" y="4160520"/>
            <a:ext cx="3578047" cy="6949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Segoe UI"/>
              </a:rPr>
              <a:t>Deny no pai</a:t>
            </a:r>
            <a:endParaRPr lang="en-US" sz="1800"/>
          </a:p>
        </p:txBody>
      </p:sp>
      <p:sp>
        <p:nvSpPr>
          <p:cNvPr id="28" name="A2_s27_25_solid"/>
          <p:cNvSpPr/>
          <p:nvPr/>
        </p:nvSpPr>
        <p:spPr>
          <a:xfrm>
            <a:off x="548640" y="5138928"/>
            <a:ext cx="11094415" cy="1005840"/>
          </a:xfrm>
          <a:prstGeom prst="roundRect">
            <a:avLst>
              <a:gd name="adj" fmla="val 13158"/>
            </a:avLst>
          </a:prstGeom>
          <a:solidFill>
            <a:srgbClr val="C42B1C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2_s27_26_texto"/>
          <p:cNvSpPr txBox="1"/>
          <p:nvPr/>
        </p:nvSpPr>
        <p:spPr>
          <a:xfrm>
            <a:off x="960120" y="5230368"/>
            <a:ext cx="10271455" cy="4572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Segoe UI"/>
              </a:rPr>
              <a:t>Bloqueia www.microsoft.com</a:t>
            </a:r>
            <a:endParaRPr lang="en-US" sz="1800"/>
          </a:p>
        </p:txBody>
      </p:sp>
      <p:sp>
        <p:nvSpPr>
          <p:cNvPr id="30" name="A2_s27_27_texto"/>
          <p:cNvSpPr txBox="1"/>
          <p:nvPr/>
        </p:nvSpPr>
        <p:spPr>
          <a:xfrm>
            <a:off x="960120" y="5669280"/>
            <a:ext cx="10271455" cy="36576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FFFFFF"/>
                </a:solidFill>
                <a:latin typeface="Segoe UI"/>
              </a:rPr>
              <a:t>A filha não consegue liberar o que o pai bloqueia</a:t>
            </a:r>
            <a:endParaRPr lang="en-US" sz="1550"/>
          </a:p>
        </p:txBody>
      </p:sp>
      <p:sp>
        <p:nvSpPr>
          <p:cNvPr id="32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35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6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39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28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pic>
        <p:nvPicPr>
          <p:cNvPr id="41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548640" y="1700784"/>
            <a:ext cx="329184" cy="329184"/>
          </a:xfrm>
          <a:prstGeom prst="rect">
            <a:avLst/>
          </a:prstGeom>
        </p:spPr>
      </p:pic>
      <p:sp>
        <p:nvSpPr>
          <p:cNvPr id="42" name="TextBox"/>
          <p:cNvSpPr txBox="1"/>
          <p:nvPr/>
        </p:nvSpPr>
        <p:spPr>
          <a:xfrm>
            <a:off x="987552" y="1645920"/>
            <a:ext cx="4114800" cy="43891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Regras configuradas</a:t>
            </a:r>
          </a:p>
        </p:txBody>
      </p:sp>
      <p:sp>
        <p:nvSpPr>
          <p:cNvPr id="43" name="Shape"/>
          <p:cNvSpPr/>
          <p:nvPr/>
        </p:nvSpPr>
        <p:spPr>
          <a:xfrm>
            <a:off x="548640" y="2240280"/>
            <a:ext cx="4983480" cy="1207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52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Box"/>
          <p:cNvSpPr txBox="1"/>
          <p:nvPr/>
        </p:nvSpPr>
        <p:spPr>
          <a:xfrm>
            <a:off x="841248" y="2368296"/>
            <a:ext cx="44348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3E419A"/>
                </a:solidFill>
                <a:latin typeface="Segoe UI"/>
              </a:rPr>
              <a:t>Pai · RCG 300 · Application</a:t>
            </a:r>
          </a:p>
        </p:txBody>
      </p:sp>
      <p:sp>
        <p:nvSpPr>
          <p:cNvPr id="45" name="Shape"/>
          <p:cNvSpPr/>
          <p:nvPr/>
        </p:nvSpPr>
        <p:spPr>
          <a:xfrm>
            <a:off x="841248" y="2880360"/>
            <a:ext cx="914400" cy="384048"/>
          </a:xfrm>
          <a:prstGeom prst="roundRect">
            <a:avLst/>
          </a:prstGeom>
          <a:solidFill>
            <a:srgbClr val="C42B1C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Deny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1920240" y="2843784"/>
            <a:ext cx="342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0">
                <a:solidFill>
                  <a:srgbClr val="1B2333"/>
                </a:solidFill>
                <a:latin typeface="Consolas"/>
              </a:rPr>
              <a:t>www.microsoft.com</a:t>
            </a:r>
          </a:p>
        </p:txBody>
      </p:sp>
      <p:sp>
        <p:nvSpPr>
          <p:cNvPr id="47" name="Shape"/>
          <p:cNvSpPr/>
          <p:nvPr/>
        </p:nvSpPr>
        <p:spPr>
          <a:xfrm>
            <a:off x="548640" y="3639312"/>
            <a:ext cx="4983480" cy="1207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7A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"/>
          <p:cNvSpPr txBox="1"/>
          <p:nvPr/>
        </p:nvSpPr>
        <p:spPr>
          <a:xfrm>
            <a:off x="841248" y="3767328"/>
            <a:ext cx="4434840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A6B66"/>
                </a:solidFill>
                <a:latin typeface="Segoe UI"/>
              </a:rPr>
              <a:t>Filha · RCG 100 · Application</a:t>
            </a:r>
          </a:p>
        </p:txBody>
      </p:sp>
      <p:sp>
        <p:nvSpPr>
          <p:cNvPr id="49" name="Shape"/>
          <p:cNvSpPr/>
          <p:nvPr/>
        </p:nvSpPr>
        <p:spPr>
          <a:xfrm>
            <a:off x="841248" y="4279392"/>
            <a:ext cx="914400" cy="384048"/>
          </a:xfrm>
          <a:prstGeom prst="roundRect">
            <a:avLst/>
          </a:prstGeom>
          <a:solidFill>
            <a:srgbClr val="107C10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920240" y="4242816"/>
            <a:ext cx="342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0">
                <a:solidFill>
                  <a:srgbClr val="1B2333"/>
                </a:solidFill>
                <a:latin typeface="Consolas"/>
              </a:rPr>
              <a:t>www.microsoft.com</a:t>
            </a:r>
          </a:p>
        </p:txBody>
      </p:sp>
      <p:sp>
        <p:nvSpPr>
          <p:cNvPr id="51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 err="1">
                <a:solidFill>
                  <a:srgbClr val="0B1B3F"/>
                </a:solidFill>
                <a:latin typeface="Segoe UI"/>
              </a:rPr>
              <a:t>Juntando</a:t>
            </a:r>
            <a:r>
              <a:rPr lang="en-US" sz="3000" b="1">
                <a:solidFill>
                  <a:srgbClr val="0B1B3F"/>
                </a:solidFill>
                <a:latin typeface="Segoe UI"/>
              </a:rPr>
              <a:t> </a:t>
            </a:r>
            <a:r>
              <a:rPr lang="en-US" sz="3000" b="1" err="1">
                <a:solidFill>
                  <a:srgbClr val="0B1B3F"/>
                </a:solidFill>
                <a:latin typeface="Segoe UI"/>
              </a:rPr>
              <a:t>tudo</a:t>
            </a:r>
            <a:endParaRPr lang="en-US" sz="3000" b="1" err="1">
              <a:solidFill>
                <a:srgbClr val="0B1B3F"/>
              </a:solidFill>
              <a:latin typeface="Segoe UI"/>
              <a:cs typeface="Segoe UI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Quatro RCGs em pai e filha, dez passos</a:t>
            </a:r>
            <a:endParaRPr lang="en-US" sz="1600"/>
          </a:p>
        </p:txBody>
      </p:sp>
      <p:sp>
        <p:nvSpPr>
          <p:cNvPr id="108" name="Shape"/>
          <p:cNvSpPr/>
          <p:nvPr/>
        </p:nvSpPr>
        <p:spPr>
          <a:xfrm>
            <a:off x="548640" y="3273552"/>
            <a:ext cx="11094415" cy="51206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Shape"/>
          <p:cNvSpPr/>
          <p:nvPr/>
        </p:nvSpPr>
        <p:spPr>
          <a:xfrm>
            <a:off x="548640" y="3840480"/>
            <a:ext cx="11094415" cy="51206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Shape"/>
          <p:cNvSpPr/>
          <p:nvPr/>
        </p:nvSpPr>
        <p:spPr>
          <a:xfrm>
            <a:off x="548640" y="4407408"/>
            <a:ext cx="11094415" cy="51206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A1_s28_31_seta"/>
          <p:cNvSpPr/>
          <p:nvPr/>
        </p:nvSpPr>
        <p:spPr>
          <a:xfrm>
            <a:off x="2203704" y="3529584"/>
            <a:ext cx="256032" cy="0"/>
          </a:xfrm>
          <a:prstGeom prst="line">
            <a:avLst/>
          </a:prstGeom>
          <a:noFill/>
          <a:ln w="15875">
            <a:solidFill>
              <a:srgbClr val="8A97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A1_s28_32_solid"/>
          <p:cNvSpPr/>
          <p:nvPr/>
        </p:nvSpPr>
        <p:spPr>
          <a:xfrm>
            <a:off x="2514600" y="3310128"/>
            <a:ext cx="1938528" cy="438912"/>
          </a:xfrm>
          <a:prstGeom prst="roundRect">
            <a:avLst>
              <a:gd name="adj" fmla="val 13636"/>
            </a:avLst>
          </a:prstGeom>
          <a:solidFill>
            <a:srgbClr val="4F52B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A1_s28_33_texto"/>
          <p:cNvSpPr txBox="1"/>
          <p:nvPr/>
        </p:nvSpPr>
        <p:spPr>
          <a:xfrm>
            <a:off x="2514600" y="3328416"/>
            <a:ext cx="1938528" cy="2286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DNATRC1</a:t>
            </a:r>
            <a:endParaRPr lang="en-US" sz="1350"/>
          </a:p>
        </p:txBody>
      </p:sp>
      <p:sp>
        <p:nvSpPr>
          <p:cNvPr id="37" name="A1_s28_34_texto"/>
          <p:cNvSpPr txBox="1"/>
          <p:nvPr/>
        </p:nvSpPr>
        <p:spPr>
          <a:xfrm>
            <a:off x="2514600" y="3538728"/>
            <a:ext cx="1938528" cy="201168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200" b="0">
                <a:solidFill>
                  <a:srgbClr val="FFFFFF"/>
                </a:solidFill>
                <a:latin typeface="Segoe UI"/>
              </a:rPr>
              <a:t>passo 1</a:t>
            </a:r>
            <a:endParaRPr lang="en-US" sz="1150"/>
          </a:p>
        </p:txBody>
      </p:sp>
      <p:sp>
        <p:nvSpPr>
          <p:cNvPr id="38" name="A1_s28_35_seta"/>
          <p:cNvSpPr/>
          <p:nvPr/>
        </p:nvSpPr>
        <p:spPr>
          <a:xfrm>
            <a:off x="4507992" y="3529584"/>
            <a:ext cx="256032" cy="0"/>
          </a:xfrm>
          <a:prstGeom prst="line">
            <a:avLst/>
          </a:prstGeom>
          <a:noFill/>
          <a:ln w="15875">
            <a:solidFill>
              <a:srgbClr val="8A97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A1_s28_36_solid"/>
          <p:cNvSpPr/>
          <p:nvPr/>
        </p:nvSpPr>
        <p:spPr>
          <a:xfrm>
            <a:off x="4818888" y="3310128"/>
            <a:ext cx="1938528" cy="438912"/>
          </a:xfrm>
          <a:prstGeom prst="roundRect">
            <a:avLst>
              <a:gd name="adj" fmla="val 13636"/>
            </a:avLst>
          </a:prstGeom>
          <a:solidFill>
            <a:srgbClr val="4F52B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A1_s28_37_texto"/>
          <p:cNvSpPr txBox="1"/>
          <p:nvPr/>
        </p:nvSpPr>
        <p:spPr>
          <a:xfrm>
            <a:off x="4818888" y="3328416"/>
            <a:ext cx="1938528" cy="2286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DNATRC3</a:t>
            </a:r>
            <a:endParaRPr lang="en-US" sz="1350"/>
          </a:p>
        </p:txBody>
      </p:sp>
      <p:sp>
        <p:nvSpPr>
          <p:cNvPr id="41" name="A1_s28_38_texto"/>
          <p:cNvSpPr txBox="1"/>
          <p:nvPr/>
        </p:nvSpPr>
        <p:spPr>
          <a:xfrm>
            <a:off x="4818888" y="3538728"/>
            <a:ext cx="1938528" cy="201168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200" b="0">
                <a:solidFill>
                  <a:srgbClr val="FFFFFF"/>
                </a:solidFill>
                <a:latin typeface="Segoe UI"/>
              </a:rPr>
              <a:t>passo 2</a:t>
            </a:r>
            <a:endParaRPr lang="en-US" sz="1150"/>
          </a:p>
        </p:txBody>
      </p:sp>
      <p:sp>
        <p:nvSpPr>
          <p:cNvPr id="42" name="A1_s28_39_seta"/>
          <p:cNvSpPr/>
          <p:nvPr/>
        </p:nvSpPr>
        <p:spPr>
          <a:xfrm>
            <a:off x="6812280" y="3529584"/>
            <a:ext cx="256032" cy="0"/>
          </a:xfrm>
          <a:prstGeom prst="line">
            <a:avLst/>
          </a:prstGeom>
          <a:noFill/>
          <a:ln w="15875">
            <a:solidFill>
              <a:srgbClr val="8A97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A1_s28_40_solid"/>
          <p:cNvSpPr/>
          <p:nvPr/>
        </p:nvSpPr>
        <p:spPr>
          <a:xfrm>
            <a:off x="7123176" y="3310128"/>
            <a:ext cx="1938528" cy="438912"/>
          </a:xfrm>
          <a:prstGeom prst="roundRect">
            <a:avLst>
              <a:gd name="adj" fmla="val 13636"/>
            </a:avLst>
          </a:prstGeom>
          <a:solidFill>
            <a:srgbClr val="0B7A7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A1_s28_41_texto"/>
          <p:cNvSpPr txBox="1"/>
          <p:nvPr/>
        </p:nvSpPr>
        <p:spPr>
          <a:xfrm>
            <a:off x="7123176" y="3328416"/>
            <a:ext cx="1938528" cy="2286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ChDNATRC3</a:t>
            </a:r>
            <a:endParaRPr lang="en-US" sz="1350"/>
          </a:p>
        </p:txBody>
      </p:sp>
      <p:sp>
        <p:nvSpPr>
          <p:cNvPr id="45" name="A1_s28_42_texto"/>
          <p:cNvSpPr txBox="1"/>
          <p:nvPr/>
        </p:nvSpPr>
        <p:spPr>
          <a:xfrm>
            <a:off x="7123176" y="3538728"/>
            <a:ext cx="1938528" cy="201168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200" b="0">
                <a:solidFill>
                  <a:srgbClr val="FFFFFF"/>
                </a:solidFill>
                <a:latin typeface="Segoe UI"/>
              </a:rPr>
              <a:t>passo 3</a:t>
            </a:r>
            <a:endParaRPr lang="en-US" sz="1150"/>
          </a:p>
        </p:txBody>
      </p:sp>
      <p:sp>
        <p:nvSpPr>
          <p:cNvPr id="49" name="A2_s28_46_seta"/>
          <p:cNvSpPr/>
          <p:nvPr/>
        </p:nvSpPr>
        <p:spPr>
          <a:xfrm>
            <a:off x="2203704" y="4096512"/>
            <a:ext cx="256032" cy="0"/>
          </a:xfrm>
          <a:prstGeom prst="line">
            <a:avLst/>
          </a:prstGeom>
          <a:noFill/>
          <a:ln w="15875">
            <a:solidFill>
              <a:srgbClr val="8A97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A2_s28_47_solid"/>
          <p:cNvSpPr/>
          <p:nvPr/>
        </p:nvSpPr>
        <p:spPr>
          <a:xfrm>
            <a:off x="2514600" y="3877056"/>
            <a:ext cx="1938528" cy="438912"/>
          </a:xfrm>
          <a:prstGeom prst="roundRect">
            <a:avLst>
              <a:gd name="adj" fmla="val 13636"/>
            </a:avLst>
          </a:prstGeom>
          <a:solidFill>
            <a:srgbClr val="4F52B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A2_s28_48_texto"/>
          <p:cNvSpPr txBox="1"/>
          <p:nvPr/>
        </p:nvSpPr>
        <p:spPr>
          <a:xfrm>
            <a:off x="2514600" y="3895344"/>
            <a:ext cx="1938528" cy="2286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NetworkRC1</a:t>
            </a:r>
            <a:endParaRPr lang="en-US" sz="1350"/>
          </a:p>
        </p:txBody>
      </p:sp>
      <p:sp>
        <p:nvSpPr>
          <p:cNvPr id="52" name="A2_s28_49_texto"/>
          <p:cNvSpPr txBox="1"/>
          <p:nvPr/>
        </p:nvSpPr>
        <p:spPr>
          <a:xfrm>
            <a:off x="2514600" y="4105656"/>
            <a:ext cx="1938528" cy="201168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200" b="0">
                <a:solidFill>
                  <a:srgbClr val="FFFFFF"/>
                </a:solidFill>
                <a:latin typeface="Segoe UI"/>
              </a:rPr>
              <a:t>passo 4</a:t>
            </a:r>
            <a:endParaRPr lang="en-US" sz="1150"/>
          </a:p>
        </p:txBody>
      </p:sp>
      <p:sp>
        <p:nvSpPr>
          <p:cNvPr id="53" name="A2_s28_50_seta"/>
          <p:cNvSpPr/>
          <p:nvPr/>
        </p:nvSpPr>
        <p:spPr>
          <a:xfrm>
            <a:off x="4507992" y="4096512"/>
            <a:ext cx="256032" cy="0"/>
          </a:xfrm>
          <a:prstGeom prst="line">
            <a:avLst/>
          </a:prstGeom>
          <a:noFill/>
          <a:ln w="15875">
            <a:solidFill>
              <a:srgbClr val="8A97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A2_s28_51_solid"/>
          <p:cNvSpPr/>
          <p:nvPr/>
        </p:nvSpPr>
        <p:spPr>
          <a:xfrm>
            <a:off x="4818888" y="3877056"/>
            <a:ext cx="1938528" cy="438912"/>
          </a:xfrm>
          <a:prstGeom prst="roundRect">
            <a:avLst>
              <a:gd name="adj" fmla="val 13636"/>
            </a:avLst>
          </a:prstGeom>
          <a:solidFill>
            <a:srgbClr val="4F52B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A2_s28_52_texto"/>
          <p:cNvSpPr txBox="1"/>
          <p:nvPr/>
        </p:nvSpPr>
        <p:spPr>
          <a:xfrm>
            <a:off x="4818888" y="3895344"/>
            <a:ext cx="1938528" cy="2286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NetworkRC2</a:t>
            </a:r>
            <a:endParaRPr lang="en-US" sz="1350"/>
          </a:p>
        </p:txBody>
      </p:sp>
      <p:sp>
        <p:nvSpPr>
          <p:cNvPr id="56" name="A2_s28_53_texto"/>
          <p:cNvSpPr txBox="1"/>
          <p:nvPr/>
        </p:nvSpPr>
        <p:spPr>
          <a:xfrm>
            <a:off x="4818888" y="4105656"/>
            <a:ext cx="1938528" cy="201168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200" b="0">
                <a:solidFill>
                  <a:srgbClr val="FFFFFF"/>
                </a:solidFill>
                <a:latin typeface="Segoe UI"/>
              </a:rPr>
              <a:t>passo 5</a:t>
            </a:r>
            <a:endParaRPr lang="en-US" sz="1150"/>
          </a:p>
        </p:txBody>
      </p:sp>
      <p:sp>
        <p:nvSpPr>
          <p:cNvPr id="57" name="A2_s28_54_seta"/>
          <p:cNvSpPr/>
          <p:nvPr/>
        </p:nvSpPr>
        <p:spPr>
          <a:xfrm>
            <a:off x="6812280" y="4096512"/>
            <a:ext cx="256032" cy="0"/>
          </a:xfrm>
          <a:prstGeom prst="line">
            <a:avLst/>
          </a:prstGeom>
          <a:noFill/>
          <a:ln w="15875">
            <a:solidFill>
              <a:srgbClr val="8A97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A2_s28_55_solid"/>
          <p:cNvSpPr/>
          <p:nvPr/>
        </p:nvSpPr>
        <p:spPr>
          <a:xfrm>
            <a:off x="7123176" y="3877056"/>
            <a:ext cx="1938528" cy="438912"/>
          </a:xfrm>
          <a:prstGeom prst="roundRect">
            <a:avLst>
              <a:gd name="adj" fmla="val 13636"/>
            </a:avLst>
          </a:prstGeom>
          <a:solidFill>
            <a:srgbClr val="0B7A7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A2_s28_56_texto"/>
          <p:cNvSpPr txBox="1"/>
          <p:nvPr/>
        </p:nvSpPr>
        <p:spPr>
          <a:xfrm>
            <a:off x="7123176" y="3895344"/>
            <a:ext cx="1938528" cy="2286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ChNetRC1</a:t>
            </a:r>
            <a:endParaRPr lang="en-US" sz="1350"/>
          </a:p>
        </p:txBody>
      </p:sp>
      <p:sp>
        <p:nvSpPr>
          <p:cNvPr id="60" name="A2_s28_57_texto"/>
          <p:cNvSpPr txBox="1"/>
          <p:nvPr/>
        </p:nvSpPr>
        <p:spPr>
          <a:xfrm>
            <a:off x="7123176" y="4105656"/>
            <a:ext cx="1938528" cy="201168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200" b="0">
                <a:solidFill>
                  <a:srgbClr val="FFFFFF"/>
                </a:solidFill>
                <a:latin typeface="Segoe UI"/>
              </a:rPr>
              <a:t>passo 6</a:t>
            </a:r>
            <a:endParaRPr lang="en-US" sz="1150"/>
          </a:p>
        </p:txBody>
      </p:sp>
      <p:sp>
        <p:nvSpPr>
          <p:cNvPr id="61" name="A2_s28_58_seta"/>
          <p:cNvSpPr/>
          <p:nvPr/>
        </p:nvSpPr>
        <p:spPr>
          <a:xfrm>
            <a:off x="9116568" y="4096512"/>
            <a:ext cx="256032" cy="0"/>
          </a:xfrm>
          <a:prstGeom prst="line">
            <a:avLst/>
          </a:prstGeom>
          <a:noFill/>
          <a:ln w="15875">
            <a:solidFill>
              <a:srgbClr val="8A97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A2_s28_59_solid"/>
          <p:cNvSpPr/>
          <p:nvPr/>
        </p:nvSpPr>
        <p:spPr>
          <a:xfrm>
            <a:off x="9427464" y="3877056"/>
            <a:ext cx="1938528" cy="438912"/>
          </a:xfrm>
          <a:prstGeom prst="roundRect">
            <a:avLst>
              <a:gd name="adj" fmla="val 13636"/>
            </a:avLst>
          </a:prstGeom>
          <a:solidFill>
            <a:srgbClr val="0B7A7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A2_s28_60_texto"/>
          <p:cNvSpPr txBox="1"/>
          <p:nvPr/>
        </p:nvSpPr>
        <p:spPr>
          <a:xfrm>
            <a:off x="9427464" y="3895344"/>
            <a:ext cx="1938528" cy="2286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ChNetRC2</a:t>
            </a:r>
            <a:endParaRPr lang="en-US" sz="1350"/>
          </a:p>
        </p:txBody>
      </p:sp>
      <p:sp>
        <p:nvSpPr>
          <p:cNvPr id="64" name="A2_s28_61_texto"/>
          <p:cNvSpPr txBox="1"/>
          <p:nvPr/>
        </p:nvSpPr>
        <p:spPr>
          <a:xfrm>
            <a:off x="9427464" y="4105656"/>
            <a:ext cx="1938528" cy="201168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200" b="0">
                <a:solidFill>
                  <a:srgbClr val="FFFFFF"/>
                </a:solidFill>
                <a:latin typeface="Segoe UI"/>
              </a:rPr>
              <a:t>passo 7</a:t>
            </a:r>
            <a:endParaRPr lang="en-US" sz="1150"/>
          </a:p>
        </p:txBody>
      </p:sp>
      <p:sp>
        <p:nvSpPr>
          <p:cNvPr id="68" name="A3_s28_65_seta"/>
          <p:cNvSpPr/>
          <p:nvPr/>
        </p:nvSpPr>
        <p:spPr>
          <a:xfrm>
            <a:off x="2203704" y="4663440"/>
            <a:ext cx="256032" cy="0"/>
          </a:xfrm>
          <a:prstGeom prst="line">
            <a:avLst/>
          </a:prstGeom>
          <a:noFill/>
          <a:ln w="15875">
            <a:solidFill>
              <a:srgbClr val="8A97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A3_s28_66_solid"/>
          <p:cNvSpPr/>
          <p:nvPr/>
        </p:nvSpPr>
        <p:spPr>
          <a:xfrm>
            <a:off x="2514600" y="4443984"/>
            <a:ext cx="1938528" cy="438912"/>
          </a:xfrm>
          <a:prstGeom prst="roundRect">
            <a:avLst>
              <a:gd name="adj" fmla="val 13636"/>
            </a:avLst>
          </a:prstGeom>
          <a:solidFill>
            <a:srgbClr val="4F52B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A3_s28_67_texto"/>
          <p:cNvSpPr txBox="1"/>
          <p:nvPr/>
        </p:nvSpPr>
        <p:spPr>
          <a:xfrm>
            <a:off x="2514600" y="4462272"/>
            <a:ext cx="1938528" cy="2286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AppRC2</a:t>
            </a:r>
            <a:endParaRPr lang="en-US" sz="1350"/>
          </a:p>
        </p:txBody>
      </p:sp>
      <p:sp>
        <p:nvSpPr>
          <p:cNvPr id="71" name="A3_s28_68_texto"/>
          <p:cNvSpPr txBox="1"/>
          <p:nvPr/>
        </p:nvSpPr>
        <p:spPr>
          <a:xfrm>
            <a:off x="2514600" y="4672584"/>
            <a:ext cx="1938528" cy="201168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200" b="0">
                <a:solidFill>
                  <a:srgbClr val="FFFFFF"/>
                </a:solidFill>
                <a:latin typeface="Segoe UI"/>
              </a:rPr>
              <a:t>passo 8</a:t>
            </a:r>
            <a:endParaRPr lang="en-US" sz="1150"/>
          </a:p>
        </p:txBody>
      </p:sp>
      <p:sp>
        <p:nvSpPr>
          <p:cNvPr id="72" name="A3_s28_69_seta"/>
          <p:cNvSpPr/>
          <p:nvPr/>
        </p:nvSpPr>
        <p:spPr>
          <a:xfrm>
            <a:off x="4507992" y="4663440"/>
            <a:ext cx="256032" cy="0"/>
          </a:xfrm>
          <a:prstGeom prst="line">
            <a:avLst/>
          </a:prstGeom>
          <a:noFill/>
          <a:ln w="15875">
            <a:solidFill>
              <a:srgbClr val="8A97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A3_s28_70_solid"/>
          <p:cNvSpPr/>
          <p:nvPr/>
        </p:nvSpPr>
        <p:spPr>
          <a:xfrm>
            <a:off x="4818888" y="4443984"/>
            <a:ext cx="1938528" cy="438912"/>
          </a:xfrm>
          <a:prstGeom prst="roundRect">
            <a:avLst>
              <a:gd name="adj" fmla="val 13636"/>
            </a:avLst>
          </a:prstGeom>
          <a:solidFill>
            <a:srgbClr val="0B7A7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3_s28_71_texto"/>
          <p:cNvSpPr txBox="1"/>
          <p:nvPr/>
        </p:nvSpPr>
        <p:spPr>
          <a:xfrm>
            <a:off x="4818888" y="4462272"/>
            <a:ext cx="1938528" cy="2286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ChAppRC1</a:t>
            </a:r>
            <a:endParaRPr lang="en-US" sz="1350"/>
          </a:p>
        </p:txBody>
      </p:sp>
      <p:sp>
        <p:nvSpPr>
          <p:cNvPr id="75" name="A3_s28_72_texto"/>
          <p:cNvSpPr txBox="1"/>
          <p:nvPr/>
        </p:nvSpPr>
        <p:spPr>
          <a:xfrm>
            <a:off x="4818888" y="4672584"/>
            <a:ext cx="1938528" cy="201168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200" b="0">
                <a:solidFill>
                  <a:srgbClr val="FFFFFF"/>
                </a:solidFill>
                <a:latin typeface="Segoe UI"/>
              </a:rPr>
              <a:t>passo 9</a:t>
            </a:r>
            <a:endParaRPr lang="en-US" sz="1150"/>
          </a:p>
        </p:txBody>
      </p:sp>
      <p:sp>
        <p:nvSpPr>
          <p:cNvPr id="76" name="A3_s28_73_seta"/>
          <p:cNvSpPr/>
          <p:nvPr/>
        </p:nvSpPr>
        <p:spPr>
          <a:xfrm>
            <a:off x="6812280" y="4663440"/>
            <a:ext cx="256032" cy="0"/>
          </a:xfrm>
          <a:prstGeom prst="line">
            <a:avLst/>
          </a:prstGeom>
          <a:noFill/>
          <a:ln w="15875">
            <a:solidFill>
              <a:srgbClr val="8A97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A3_s28_74_solid"/>
          <p:cNvSpPr/>
          <p:nvPr/>
        </p:nvSpPr>
        <p:spPr>
          <a:xfrm>
            <a:off x="7123176" y="4443984"/>
            <a:ext cx="1938528" cy="438912"/>
          </a:xfrm>
          <a:prstGeom prst="roundRect">
            <a:avLst>
              <a:gd name="adj" fmla="val 13636"/>
            </a:avLst>
          </a:prstGeom>
          <a:solidFill>
            <a:srgbClr val="0B7A7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A3_s28_75_texto"/>
          <p:cNvSpPr txBox="1"/>
          <p:nvPr/>
        </p:nvSpPr>
        <p:spPr>
          <a:xfrm>
            <a:off x="7123176" y="4462272"/>
            <a:ext cx="1938528" cy="2286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ChAppRC2</a:t>
            </a:r>
            <a:endParaRPr lang="en-US" sz="1350"/>
          </a:p>
        </p:txBody>
      </p:sp>
      <p:sp>
        <p:nvSpPr>
          <p:cNvPr id="79" name="A3_s28_76_texto"/>
          <p:cNvSpPr txBox="1"/>
          <p:nvPr/>
        </p:nvSpPr>
        <p:spPr>
          <a:xfrm>
            <a:off x="7123176" y="4672584"/>
            <a:ext cx="1938528" cy="201168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ctr">
              <a:buNone/>
            </a:pPr>
            <a:r>
              <a:rPr lang="en-US" sz="1200" b="0">
                <a:solidFill>
                  <a:srgbClr val="FFFFFF"/>
                </a:solidFill>
                <a:latin typeface="Segoe UI"/>
              </a:rPr>
              <a:t>passo 10</a:t>
            </a:r>
            <a:endParaRPr lang="en-US" sz="1150"/>
          </a:p>
        </p:txBody>
      </p:sp>
      <p:sp>
        <p:nvSpPr>
          <p:cNvPr id="80" name="A4_s28_77_msg"/>
          <p:cNvSpPr/>
          <p:nvPr/>
        </p:nvSpPr>
        <p:spPr>
          <a:xfrm>
            <a:off x="548640" y="5047488"/>
            <a:ext cx="11094415" cy="603504"/>
          </a:xfrm>
          <a:prstGeom prst="roundRect">
            <a:avLst>
              <a:gd name="adj" fmla="val 13333"/>
            </a:avLst>
          </a:prstGeom>
          <a:solidFill>
            <a:srgbClr val="0B1B3F"/>
          </a:solidFill>
          <a:ln w="19050">
            <a:noFill/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A4_s28_78_texto"/>
          <p:cNvSpPr txBox="1"/>
          <p:nvPr/>
        </p:nvSpPr>
        <p:spPr>
          <a:xfrm>
            <a:off x="868680" y="5111496"/>
            <a:ext cx="10545775" cy="2377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ChDNATRC3 tem prioridade 3000 e roda no passo 3: o tipo vence o número</a:t>
            </a:r>
            <a:endParaRPr lang="en-US" sz="1150"/>
          </a:p>
        </p:txBody>
      </p:sp>
      <p:sp>
        <p:nvSpPr>
          <p:cNvPr id="82" name="A4_s28_79_texto"/>
          <p:cNvSpPr txBox="1"/>
          <p:nvPr/>
        </p:nvSpPr>
        <p:spPr>
          <a:xfrm>
            <a:off x="868680" y="5358384"/>
            <a:ext cx="10545775" cy="23774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BaseRCG2 e ChildRCG1 empatam em 300: o pai roda antes</a:t>
            </a:r>
            <a:endParaRPr lang="en-US" sz="1150"/>
          </a:p>
        </p:txBody>
      </p:sp>
      <p:sp>
        <p:nvSpPr>
          <p:cNvPr id="84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5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6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7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88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89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90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91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92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29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93" name="Shape"/>
          <p:cNvSpPr/>
          <p:nvPr/>
        </p:nvSpPr>
        <p:spPr>
          <a:xfrm>
            <a:off x="548640" y="1536192"/>
            <a:ext cx="5432908" cy="1371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94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31520" y="1609344"/>
            <a:ext cx="256032" cy="256032"/>
          </a:xfrm>
          <a:prstGeom prst="rect">
            <a:avLst/>
          </a:prstGeom>
        </p:spPr>
      </p:pic>
      <p:sp>
        <p:nvSpPr>
          <p:cNvPr id="95" name="TextBox"/>
          <p:cNvSpPr txBox="1"/>
          <p:nvPr/>
        </p:nvSpPr>
        <p:spPr>
          <a:xfrm>
            <a:off x="1060704" y="1572768"/>
            <a:ext cx="27432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3E419A"/>
                </a:solidFill>
                <a:latin typeface="Segoe UI"/>
              </a:rPr>
              <a:t>Policy pai</a:t>
            </a:r>
          </a:p>
        </p:txBody>
      </p:sp>
      <p:sp>
        <p:nvSpPr>
          <p:cNvPr id="96" name="Shape"/>
          <p:cNvSpPr/>
          <p:nvPr/>
        </p:nvSpPr>
        <p:spPr>
          <a:xfrm>
            <a:off x="731520" y="1938528"/>
            <a:ext cx="2460422" cy="877824"/>
          </a:xfrm>
          <a:prstGeom prst="rect">
            <a:avLst/>
          </a:prstGeom>
          <a:solidFill>
            <a:srgbClr val="EEEEF9"/>
          </a:solidFill>
          <a:ln w="12700">
            <a:solidFill>
              <a:srgbClr val="4F52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" name="TextBox"/>
          <p:cNvSpPr txBox="1"/>
          <p:nvPr/>
        </p:nvSpPr>
        <p:spPr>
          <a:xfrm>
            <a:off x="868680" y="1956816"/>
            <a:ext cx="2231822" cy="8412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00" b="1">
                <a:solidFill>
                  <a:srgbClr val="3E419A"/>
                </a:solidFill>
                <a:latin typeface="Segoe UI"/>
              </a:rPr>
              <a:t>BaseRCG1 · 200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Consolas"/>
              </a:rPr>
              <a:t>DNATRC1 · 600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Consolas"/>
              </a:rPr>
              <a:t>DNATRC3 · 610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Consolas"/>
              </a:rPr>
              <a:t>NetworkRC1 · 800</a:t>
            </a:r>
          </a:p>
        </p:txBody>
      </p:sp>
      <p:sp>
        <p:nvSpPr>
          <p:cNvPr id="98" name="Shape"/>
          <p:cNvSpPr/>
          <p:nvPr/>
        </p:nvSpPr>
        <p:spPr>
          <a:xfrm>
            <a:off x="3338246" y="1938528"/>
            <a:ext cx="2460422" cy="877824"/>
          </a:xfrm>
          <a:prstGeom prst="rect">
            <a:avLst/>
          </a:prstGeom>
          <a:solidFill>
            <a:srgbClr val="EEEEF9"/>
          </a:solidFill>
          <a:ln w="12700">
            <a:solidFill>
              <a:srgbClr val="4F52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" name="TextBox"/>
          <p:cNvSpPr txBox="1"/>
          <p:nvPr/>
        </p:nvSpPr>
        <p:spPr>
          <a:xfrm>
            <a:off x="3475406" y="1956816"/>
            <a:ext cx="2231822" cy="8412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00" b="1">
                <a:solidFill>
                  <a:srgbClr val="3E419A"/>
                </a:solidFill>
                <a:latin typeface="Segoe UI"/>
              </a:rPr>
              <a:t>BaseRCG2 · 300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Consolas"/>
              </a:rPr>
              <a:t>AppRC2 · 1200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Consolas"/>
              </a:rPr>
              <a:t>NetworkRC2 · 1300</a:t>
            </a:r>
          </a:p>
        </p:txBody>
      </p:sp>
      <p:sp>
        <p:nvSpPr>
          <p:cNvPr id="100" name="Shape"/>
          <p:cNvSpPr/>
          <p:nvPr/>
        </p:nvSpPr>
        <p:spPr>
          <a:xfrm>
            <a:off x="6210148" y="1536192"/>
            <a:ext cx="5432908" cy="1371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01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6393028" y="1609344"/>
            <a:ext cx="256032" cy="256032"/>
          </a:xfrm>
          <a:prstGeom prst="rect">
            <a:avLst/>
          </a:prstGeom>
        </p:spPr>
      </p:pic>
      <p:sp>
        <p:nvSpPr>
          <p:cNvPr id="102" name="TextBox"/>
          <p:cNvSpPr txBox="1"/>
          <p:nvPr/>
        </p:nvSpPr>
        <p:spPr>
          <a:xfrm>
            <a:off x="6722212" y="1572768"/>
            <a:ext cx="2743200" cy="32918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A6B66"/>
                </a:solidFill>
                <a:latin typeface="Segoe UI"/>
              </a:rPr>
              <a:t>Policy filha</a:t>
            </a:r>
          </a:p>
        </p:txBody>
      </p:sp>
      <p:sp>
        <p:nvSpPr>
          <p:cNvPr id="103" name="Shape"/>
          <p:cNvSpPr/>
          <p:nvPr/>
        </p:nvSpPr>
        <p:spPr>
          <a:xfrm>
            <a:off x="6393028" y="1938528"/>
            <a:ext cx="2460422" cy="877824"/>
          </a:xfrm>
          <a:prstGeom prst="rect">
            <a:avLst/>
          </a:prstGeom>
          <a:solidFill>
            <a:srgbClr val="E3F2F1"/>
          </a:solidFill>
          <a:ln w="12700">
            <a:solidFill>
              <a:srgbClr val="0B7A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TextBox"/>
          <p:cNvSpPr txBox="1"/>
          <p:nvPr/>
        </p:nvSpPr>
        <p:spPr>
          <a:xfrm>
            <a:off x="6530188" y="1956816"/>
            <a:ext cx="2231822" cy="8412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00" b="1">
                <a:solidFill>
                  <a:srgbClr val="0A6B66"/>
                </a:solidFill>
                <a:latin typeface="Segoe UI"/>
              </a:rPr>
              <a:t>ChildRCG1 · 300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Consolas"/>
              </a:rPr>
              <a:t>ChNetRC1 · 700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Consolas"/>
              </a:rPr>
              <a:t>ChAppRC1 · 900</a:t>
            </a:r>
          </a:p>
        </p:txBody>
      </p:sp>
      <p:sp>
        <p:nvSpPr>
          <p:cNvPr id="105" name="Shape"/>
          <p:cNvSpPr/>
          <p:nvPr/>
        </p:nvSpPr>
        <p:spPr>
          <a:xfrm>
            <a:off x="8999753" y="1938528"/>
            <a:ext cx="2460422" cy="877824"/>
          </a:xfrm>
          <a:prstGeom prst="rect">
            <a:avLst/>
          </a:prstGeom>
          <a:solidFill>
            <a:srgbClr val="E3F2F1"/>
          </a:solidFill>
          <a:ln w="12700">
            <a:solidFill>
              <a:srgbClr val="0B7A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TextBox"/>
          <p:cNvSpPr txBox="1"/>
          <p:nvPr/>
        </p:nvSpPr>
        <p:spPr>
          <a:xfrm>
            <a:off x="9136913" y="1956816"/>
            <a:ext cx="2231822" cy="8412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00" b="1">
                <a:solidFill>
                  <a:srgbClr val="0A6B66"/>
                </a:solidFill>
                <a:latin typeface="Segoe UI"/>
              </a:rPr>
              <a:t>ChildRCG2 · 650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Consolas"/>
              </a:rPr>
              <a:t>ChNetRC2 · 1100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Consolas"/>
              </a:rPr>
              <a:t>ChAppRC2 · 2000</a:t>
            </a:r>
          </a:p>
          <a:p>
            <a:pPr algn="l"/>
            <a:r>
              <a:rPr sz="1200" b="0">
                <a:solidFill>
                  <a:srgbClr val="1B2333"/>
                </a:solidFill>
                <a:latin typeface="Consolas"/>
              </a:rPr>
              <a:t>ChDNATRC3 · 3000</a:t>
            </a:r>
          </a:p>
        </p:txBody>
      </p:sp>
      <p:sp>
        <p:nvSpPr>
          <p:cNvPr id="107" name="TextBox"/>
          <p:cNvSpPr txBox="1"/>
          <p:nvPr/>
        </p:nvSpPr>
        <p:spPr>
          <a:xfrm>
            <a:off x="548640" y="2962656"/>
            <a:ext cx="11094415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O firewall percorre os grupos três vezes, uma por tipo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731520" y="3291840"/>
            <a:ext cx="1463040" cy="4754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DNAT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1ª passada</a:t>
            </a:r>
          </a:p>
        </p:txBody>
      </p:sp>
      <p:sp>
        <p:nvSpPr>
          <p:cNvPr id="111" name="TextBox"/>
          <p:cNvSpPr txBox="1"/>
          <p:nvPr/>
        </p:nvSpPr>
        <p:spPr>
          <a:xfrm>
            <a:off x="731520" y="3858768"/>
            <a:ext cx="1463040" cy="4754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Network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2ª passada</a:t>
            </a:r>
          </a:p>
        </p:txBody>
      </p:sp>
      <p:sp>
        <p:nvSpPr>
          <p:cNvPr id="113" name="TextBox"/>
          <p:cNvSpPr txBox="1"/>
          <p:nvPr/>
        </p:nvSpPr>
        <p:spPr>
          <a:xfrm>
            <a:off x="731520" y="4425696"/>
            <a:ext cx="1463040" cy="4754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Application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3ª passada</a:t>
            </a:r>
          </a:p>
        </p:txBody>
      </p:sp>
      <p:sp>
        <p:nvSpPr>
          <p:cNvPr id="114" name="TextBox"/>
          <p:cNvSpPr txBox="1"/>
          <p:nvPr/>
        </p:nvSpPr>
        <p:spPr>
          <a:xfrm>
            <a:off x="548640" y="5724144"/>
            <a:ext cx="11094415" cy="60350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Fonte: Microsoft Learn — Configure Azure Firewall rules (exemplo de processamento).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Nota: a página Azure Firewall Manager policy overview diz que coleções DNAT não são herdadas do pai;</a:t>
            </a:r>
          </a:p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o exemplo acima mostra DNAT no pai, como publicado na página de processamento de regras.</a:t>
            </a:r>
          </a:p>
        </p:txBody>
      </p:sp>
      <p:sp>
        <p:nvSpPr>
          <p:cNvPr id="115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16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IP Groups, service tags e FQDN tags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Mude o grupo, não a regra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30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Mude o grupo, não a regra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Um IP Group vale para vários firewalls e regiões · limite flexível de 50 firewalls por grupo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3484778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Shape"/>
          <p:cNvSpPr/>
          <p:nvPr/>
        </p:nvSpPr>
        <p:spPr>
          <a:xfrm>
            <a:off x="1897837" y="1819656"/>
            <a:ext cx="786384" cy="7863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9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2047250" y="1969069"/>
            <a:ext cx="487558" cy="487558"/>
          </a:xfrm>
          <a:prstGeom prst="rect">
            <a:avLst/>
          </a:prstGeom>
        </p:spPr>
      </p:pic>
      <p:sp>
        <p:nvSpPr>
          <p:cNvPr id="20" name="TextBox"/>
          <p:cNvSpPr txBox="1"/>
          <p:nvPr/>
        </p:nvSpPr>
        <p:spPr>
          <a:xfrm>
            <a:off x="731520" y="2706624"/>
            <a:ext cx="3119018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900" b="1">
                <a:solidFill>
                  <a:srgbClr val="0B1B3F"/>
                </a:solidFill>
                <a:latin typeface="Segoe UI"/>
              </a:rPr>
              <a:t>IP Groups</a:t>
            </a:r>
          </a:p>
        </p:txBody>
      </p:sp>
      <p:sp>
        <p:nvSpPr>
          <p:cNvPr id="21" name="Shape"/>
          <p:cNvSpPr/>
          <p:nvPr/>
        </p:nvSpPr>
        <p:spPr>
          <a:xfrm>
            <a:off x="1436275" y="3163824"/>
            <a:ext cx="1709509" cy="329184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você mantém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731520" y="3639312"/>
            <a:ext cx="3119018" cy="786384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IPs, faixas e CIDRs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origem: DNAT, Network, App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destino: Network</a:t>
            </a:r>
          </a:p>
        </p:txBody>
      </p:sp>
      <p:sp>
        <p:nvSpPr>
          <p:cNvPr id="23" name="Shape"/>
          <p:cNvSpPr/>
          <p:nvPr/>
        </p:nvSpPr>
        <p:spPr>
          <a:xfrm>
            <a:off x="822960" y="4608576"/>
            <a:ext cx="2936138" cy="438912"/>
          </a:xfrm>
          <a:prstGeom prst="roundRect">
            <a:avLst/>
          </a:prstGeom>
          <a:solidFill>
            <a:srgbClr val="0E1A33"/>
          </a:solidFill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E6EDF7"/>
                </a:solidFill>
                <a:latin typeface="Consolas"/>
              </a:rPr>
              <a:t>10.2.0.0-10.2.0.31</a:t>
            </a:r>
          </a:p>
        </p:txBody>
      </p:sp>
      <p:sp>
        <p:nvSpPr>
          <p:cNvPr id="24" name="Shape"/>
          <p:cNvSpPr/>
          <p:nvPr/>
        </p:nvSpPr>
        <p:spPr>
          <a:xfrm>
            <a:off x="4353458" y="1645920"/>
            <a:ext cx="3484778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Shape"/>
          <p:cNvSpPr/>
          <p:nvPr/>
        </p:nvSpPr>
        <p:spPr>
          <a:xfrm>
            <a:off x="5702656" y="1819656"/>
            <a:ext cx="786384" cy="786384"/>
          </a:xfrm>
          <a:prstGeom prst="ellipse">
            <a:avLst/>
          </a:prstGeom>
          <a:solidFill>
            <a:srgbClr val="DEECF9"/>
          </a:solidFill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005A9E"/>
                </a:solidFill>
                <a:latin typeface="Segoe UI"/>
              </a:rPr>
              <a:t>tag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4536338" y="2706624"/>
            <a:ext cx="3119018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900" b="1">
                <a:solidFill>
                  <a:srgbClr val="0B1B3F"/>
                </a:solidFill>
                <a:latin typeface="Segoe UI"/>
              </a:rPr>
              <a:t>Service tags</a:t>
            </a:r>
          </a:p>
        </p:txBody>
      </p:sp>
      <p:sp>
        <p:nvSpPr>
          <p:cNvPr id="27" name="Shape"/>
          <p:cNvSpPr/>
          <p:nvPr/>
        </p:nvSpPr>
        <p:spPr>
          <a:xfrm>
            <a:off x="4934052" y="3163824"/>
            <a:ext cx="2323591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3B4A5E"/>
                </a:solidFill>
                <a:latin typeface="Segoe UI"/>
              </a:rPr>
              <a:t>a Microsoft mantém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4536338" y="3639312"/>
            <a:ext cx="3119018" cy="786384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prefixos IP de serviços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Azure e Office 365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destino em network rules</a:t>
            </a:r>
          </a:p>
        </p:txBody>
      </p:sp>
      <p:sp>
        <p:nvSpPr>
          <p:cNvPr id="29" name="Shape"/>
          <p:cNvSpPr/>
          <p:nvPr/>
        </p:nvSpPr>
        <p:spPr>
          <a:xfrm>
            <a:off x="4627778" y="4608576"/>
            <a:ext cx="2936138" cy="438912"/>
          </a:xfrm>
          <a:prstGeom prst="roundRect">
            <a:avLst/>
          </a:prstGeom>
          <a:solidFill>
            <a:srgbClr val="0E1A33"/>
          </a:solidFill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E6EDF7"/>
                </a:solidFill>
                <a:latin typeface="Consolas"/>
              </a:rPr>
              <a:t>AzureMonitor</a:t>
            </a:r>
          </a:p>
        </p:txBody>
      </p:sp>
      <p:sp>
        <p:nvSpPr>
          <p:cNvPr id="30" name="Shape"/>
          <p:cNvSpPr/>
          <p:nvPr/>
        </p:nvSpPr>
        <p:spPr>
          <a:xfrm>
            <a:off x="8158277" y="1645920"/>
            <a:ext cx="3484778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"/>
          <p:cNvSpPr/>
          <p:nvPr/>
        </p:nvSpPr>
        <p:spPr>
          <a:xfrm>
            <a:off x="9507474" y="1819656"/>
            <a:ext cx="786384" cy="786384"/>
          </a:xfrm>
          <a:prstGeom prst="ellipse">
            <a:avLst/>
          </a:prstGeom>
          <a:solidFill>
            <a:srgbClr val="DEECF9"/>
          </a:solidFill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005A9E"/>
                </a:solidFill>
                <a:latin typeface="Segoe UI"/>
              </a:rPr>
              <a:t>tag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8341157" y="2706624"/>
            <a:ext cx="3119018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900" b="1">
                <a:solidFill>
                  <a:srgbClr val="0B1B3F"/>
                </a:solidFill>
                <a:latin typeface="Segoe UI"/>
              </a:rPr>
              <a:t>FQDN tags</a:t>
            </a:r>
          </a:p>
        </p:txBody>
      </p:sp>
      <p:sp>
        <p:nvSpPr>
          <p:cNvPr id="33" name="Shape"/>
          <p:cNvSpPr/>
          <p:nvPr/>
        </p:nvSpPr>
        <p:spPr>
          <a:xfrm>
            <a:off x="8738870" y="3163824"/>
            <a:ext cx="2323591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3B4A5E"/>
                </a:solidFill>
                <a:latin typeface="Segoe UI"/>
              </a:rPr>
              <a:t>a Microsoft mantém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8341157" y="3639312"/>
            <a:ext cx="3119018" cy="786384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FQDNs de serviços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da Microsoft</a:t>
            </a:r>
          </a:p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em application rules</a:t>
            </a:r>
          </a:p>
        </p:txBody>
      </p:sp>
      <p:sp>
        <p:nvSpPr>
          <p:cNvPr id="35" name="Shape"/>
          <p:cNvSpPr/>
          <p:nvPr/>
        </p:nvSpPr>
        <p:spPr>
          <a:xfrm>
            <a:off x="8432597" y="4608576"/>
            <a:ext cx="2936138" cy="438912"/>
          </a:xfrm>
          <a:prstGeom prst="roundRect">
            <a:avLst/>
          </a:prstGeom>
          <a:solidFill>
            <a:srgbClr val="0E1A33"/>
          </a:solidFill>
        </p:spPr>
        <p:txBody>
          <a:bodyPr lIns="0" tIns="0" rIns="0" bIns="0" anchor="ctr"/>
          <a:lstStyle/>
          <a:p>
            <a:pPr algn="ctr"/>
            <a:r>
              <a:rPr sz="1500" b="0">
                <a:solidFill>
                  <a:srgbClr val="E6EDF7"/>
                </a:solidFill>
                <a:latin typeface="Consolas"/>
              </a:rPr>
              <a:t>WindowsUpdate</a:t>
            </a:r>
          </a:p>
        </p:txBody>
      </p:sp>
      <p:sp>
        <p:nvSpPr>
          <p:cNvPr id="36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Policy Analytics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Quais regras trabalham e quais só ocupam espaço</a:t>
            </a:r>
            <a:endParaRPr lang="en-US" sz="1600"/>
          </a:p>
        </p:txBody>
      </p:sp>
      <p:sp>
        <p:nvSpPr>
          <p:cNvPr id="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  <p:sp>
        <p:nvSpPr>
          <p:cNvPr id="6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31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5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6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7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Descubra quais regras trabalham e quais só ocupam espaço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Cobre regras DNAT, Network e Application</a:t>
            </a:r>
          </a:p>
        </p:txBody>
      </p:sp>
      <p:sp>
        <p:nvSpPr>
          <p:cNvPr id="1429" name="pa-card-1">
            <a:extLst>
              <a:ext uri="{FF2B5EF4-FFF2-40B4-BE49-F238E27FC236}">
                <a16:creationId xmlns:a16="http://schemas.microsoft.com/office/drawing/2014/main" id="{FAD25B90-3129-1B37-AE03-BB99CBB6BA94}"/>
              </a:ext>
            </a:extLst>
          </p:cNvPr>
          <p:cNvSpPr/>
          <p:nvPr/>
        </p:nvSpPr>
        <p:spPr>
          <a:xfrm>
            <a:off x="548640" y="1600200"/>
            <a:ext cx="2670733" cy="29718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pa-badge-1">
            <a:extLst>
              <a:ext uri="{FF2B5EF4-FFF2-40B4-BE49-F238E27FC236}">
                <a16:creationId xmlns:a16="http://schemas.microsoft.com/office/drawing/2014/main" id="{DA55989B-37E3-A748-085F-49AE82EBBCCA}"/>
              </a:ext>
            </a:extLst>
          </p:cNvPr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34" name="pa-title-1">
            <a:extLst>
              <a:ext uri="{FF2B5EF4-FFF2-40B4-BE49-F238E27FC236}">
                <a16:creationId xmlns:a16="http://schemas.microsoft.com/office/drawing/2014/main" id="{3C7F4D20-7818-6537-7731-EAC699DA1333}"/>
              </a:ext>
            </a:extLst>
          </p:cNvPr>
          <p:cNvSpPr/>
          <p:nvPr/>
        </p:nvSpPr>
        <p:spPr>
          <a:xfrm>
            <a:off x="960120" y="1691640"/>
            <a:ext cx="2259253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B1B3F"/>
                </a:solidFill>
                <a:effectLst/>
                <a:latin typeface="Segoe UI" panose="020B0502040204020203" pitchFamily="34" charset="0"/>
              </a:rPr>
              <a:t>Policy insight panel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38" name="pa-panel-1">
            <a:extLst>
              <a:ext uri="{FF2B5EF4-FFF2-40B4-BE49-F238E27FC236}">
                <a16:creationId xmlns:a16="http://schemas.microsoft.com/office/drawing/2014/main" id="{75BFD8FE-9F7B-51D2-2271-9E6E4D9E05AA}"/>
              </a:ext>
            </a:extLst>
          </p:cNvPr>
          <p:cNvSpPr/>
          <p:nvPr/>
        </p:nvSpPr>
        <p:spPr>
          <a:xfrm>
            <a:off x="640080" y="2121408"/>
            <a:ext cx="2487853" cy="1856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3" name="pa-band-1">
            <a:extLst>
              <a:ext uri="{FF2B5EF4-FFF2-40B4-BE49-F238E27FC236}">
                <a16:creationId xmlns:a16="http://schemas.microsoft.com/office/drawing/2014/main" id="{DB3A5EDA-919A-92B8-0393-D59519BA5A96}"/>
              </a:ext>
            </a:extLst>
          </p:cNvPr>
          <p:cNvSpPr/>
          <p:nvPr/>
        </p:nvSpPr>
        <p:spPr>
          <a:xfrm>
            <a:off x="649605" y="2130933"/>
            <a:ext cx="2468803" cy="365760"/>
          </a:xfrm>
          <a:prstGeom prst="rect">
            <a:avLst/>
          </a:prstGeom>
          <a:solidFill>
            <a:srgbClr val="DEEC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9" name="pa-bandtext-1">
            <a:extLst>
              <a:ext uri="{FF2B5EF4-FFF2-40B4-BE49-F238E27FC236}">
                <a16:creationId xmlns:a16="http://schemas.microsoft.com/office/drawing/2014/main" id="{A5402741-D2F2-E5B6-E8C4-CA12968FDAFB}"/>
              </a:ext>
            </a:extLst>
          </p:cNvPr>
          <p:cNvSpPr/>
          <p:nvPr/>
        </p:nvSpPr>
        <p:spPr>
          <a:xfrm>
            <a:off x="649605" y="2130933"/>
            <a:ext cx="2468803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005A9E"/>
                </a:solidFill>
                <a:effectLst/>
                <a:latin typeface="Segoe UI" panose="020B0502040204020203" pitchFamily="34" charset="0"/>
              </a:rPr>
              <a:t>insights da policy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56" name="pa-caption-1">
            <a:extLst>
              <a:ext uri="{FF2B5EF4-FFF2-40B4-BE49-F238E27FC236}">
                <a16:creationId xmlns:a16="http://schemas.microsoft.com/office/drawing/2014/main" id="{C0F81A5D-EC4B-54D7-97D0-A144D4196B88}"/>
              </a:ext>
            </a:extLst>
          </p:cNvPr>
          <p:cNvSpPr/>
          <p:nvPr/>
        </p:nvSpPr>
        <p:spPr>
          <a:xfrm>
            <a:off x="640080" y="4023360"/>
            <a:ext cx="2487853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resumo e recomendações</a:t>
            </a:r>
          </a:p>
          <a:p>
            <a:pPr algn="l">
              <a:buNone/>
            </a:pPr>
            <a:r>
              <a:rPr lang="en-US" sz="12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de cada policy</a:t>
            </a:r>
            <a:endParaRPr lang="en-US"/>
          </a:p>
        </p:txBody>
      </p:sp>
      <p:sp>
        <p:nvSpPr>
          <p:cNvPr id="1464" name="pa1-row-0">
            <a:extLst>
              <a:ext uri="{FF2B5EF4-FFF2-40B4-BE49-F238E27FC236}">
                <a16:creationId xmlns:a16="http://schemas.microsoft.com/office/drawing/2014/main" id="{59C565D0-0875-2748-7051-E1EFED5B8917}"/>
              </a:ext>
            </a:extLst>
          </p:cNvPr>
          <p:cNvSpPr/>
          <p:nvPr/>
        </p:nvSpPr>
        <p:spPr>
          <a:xfrm>
            <a:off x="708660" y="2592609"/>
            <a:ext cx="2350693" cy="365760"/>
          </a:xfrm>
          <a:prstGeom prst="rect">
            <a:avLst/>
          </a:prstGeom>
          <a:solidFill>
            <a:srgbClr val="EFF6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3" name="pa1-dot-0">
            <a:extLst>
              <a:ext uri="{FF2B5EF4-FFF2-40B4-BE49-F238E27FC236}">
                <a16:creationId xmlns:a16="http://schemas.microsoft.com/office/drawing/2014/main" id="{A17A54C4-77F8-8917-77CD-751FB3EF08E8}"/>
              </a:ext>
            </a:extLst>
          </p:cNvPr>
          <p:cNvSpPr/>
          <p:nvPr/>
        </p:nvSpPr>
        <p:spPr>
          <a:xfrm>
            <a:off x="800100" y="2706909"/>
            <a:ext cx="137160" cy="137160"/>
          </a:xfrm>
          <a:prstGeom prst="ellipse">
            <a:avLst/>
          </a:prstGeom>
          <a:solidFill>
            <a:srgbClr val="B4530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3" name="pa1-label-0">
            <a:extLst>
              <a:ext uri="{FF2B5EF4-FFF2-40B4-BE49-F238E27FC236}">
                <a16:creationId xmlns:a16="http://schemas.microsoft.com/office/drawing/2014/main" id="{0E8BC5C2-34B2-7D56-17CC-659338C7BE5D}"/>
              </a:ext>
            </a:extLst>
          </p:cNvPr>
          <p:cNvSpPr/>
          <p:nvPr/>
        </p:nvSpPr>
        <p:spPr>
          <a:xfrm>
            <a:off x="937260" y="2592609"/>
            <a:ext cx="2122093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regras com pouco uso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4" name="pa1-row-1">
            <a:extLst>
              <a:ext uri="{FF2B5EF4-FFF2-40B4-BE49-F238E27FC236}">
                <a16:creationId xmlns:a16="http://schemas.microsoft.com/office/drawing/2014/main" id="{A6987532-EA48-8621-1B8B-80A3D264E4A6}"/>
              </a:ext>
            </a:extLst>
          </p:cNvPr>
          <p:cNvSpPr/>
          <p:nvPr/>
        </p:nvSpPr>
        <p:spPr>
          <a:xfrm>
            <a:off x="708660" y="3054286"/>
            <a:ext cx="2350693" cy="36576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6" name="pa1-dot-1">
            <a:extLst>
              <a:ext uri="{FF2B5EF4-FFF2-40B4-BE49-F238E27FC236}">
                <a16:creationId xmlns:a16="http://schemas.microsoft.com/office/drawing/2014/main" id="{3AD235E6-D822-64B9-B9B1-3524B1AC66C7}"/>
              </a:ext>
            </a:extLst>
          </p:cNvPr>
          <p:cNvSpPr/>
          <p:nvPr/>
        </p:nvSpPr>
        <p:spPr>
          <a:xfrm>
            <a:off x="800100" y="3168586"/>
            <a:ext cx="137160" cy="137160"/>
          </a:xfrm>
          <a:prstGeom prst="ellipse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9" name="pa1-label-1">
            <a:extLst>
              <a:ext uri="{FF2B5EF4-FFF2-40B4-BE49-F238E27FC236}">
                <a16:creationId xmlns:a16="http://schemas.microsoft.com/office/drawing/2014/main" id="{CFD864A2-BE53-E50E-3478-41B435CD53A0}"/>
              </a:ext>
            </a:extLst>
          </p:cNvPr>
          <p:cNvSpPr/>
          <p:nvPr/>
        </p:nvSpPr>
        <p:spPr>
          <a:xfrm>
            <a:off x="937260" y="3054286"/>
            <a:ext cx="2122093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recomendações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3" name="pa1-row-2">
            <a:extLst>
              <a:ext uri="{FF2B5EF4-FFF2-40B4-BE49-F238E27FC236}">
                <a16:creationId xmlns:a16="http://schemas.microsoft.com/office/drawing/2014/main" id="{89311208-CED5-9CA7-6BC4-64192DA20C0E}"/>
              </a:ext>
            </a:extLst>
          </p:cNvPr>
          <p:cNvSpPr/>
          <p:nvPr/>
        </p:nvSpPr>
        <p:spPr>
          <a:xfrm>
            <a:off x="708660" y="3515963"/>
            <a:ext cx="2350693" cy="365760"/>
          </a:xfrm>
          <a:prstGeom prst="rect">
            <a:avLst/>
          </a:prstGeom>
          <a:solidFill>
            <a:srgbClr val="EFF6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8" name="pa1-dot-2">
            <a:extLst>
              <a:ext uri="{FF2B5EF4-FFF2-40B4-BE49-F238E27FC236}">
                <a16:creationId xmlns:a16="http://schemas.microsoft.com/office/drawing/2014/main" id="{D505E204-7395-EEFC-7595-C518DC3BC1CE}"/>
              </a:ext>
            </a:extLst>
          </p:cNvPr>
          <p:cNvSpPr/>
          <p:nvPr/>
        </p:nvSpPr>
        <p:spPr>
          <a:xfrm>
            <a:off x="800100" y="3630263"/>
            <a:ext cx="137160" cy="137160"/>
          </a:xfrm>
          <a:prstGeom prst="ellipse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4" name="pa1-label-2">
            <a:extLst>
              <a:ext uri="{FF2B5EF4-FFF2-40B4-BE49-F238E27FC236}">
                <a16:creationId xmlns:a16="http://schemas.microsoft.com/office/drawing/2014/main" id="{EEA0BB9D-EC7D-7B31-0E87-2BFBAE2351CC}"/>
              </a:ext>
            </a:extLst>
          </p:cNvPr>
          <p:cNvSpPr/>
          <p:nvPr/>
        </p:nvSpPr>
        <p:spPr>
          <a:xfrm>
            <a:off x="937260" y="3515963"/>
            <a:ext cx="2122093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fluxos analisados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81" name="pa-card-2">
            <a:extLst>
              <a:ext uri="{FF2B5EF4-FFF2-40B4-BE49-F238E27FC236}">
                <a16:creationId xmlns:a16="http://schemas.microsoft.com/office/drawing/2014/main" id="{E5DC9637-F6ED-4402-22DA-C7A41036C3D8}"/>
              </a:ext>
            </a:extLst>
          </p:cNvPr>
          <p:cNvSpPr/>
          <p:nvPr/>
        </p:nvSpPr>
        <p:spPr>
          <a:xfrm>
            <a:off x="3356533" y="1600200"/>
            <a:ext cx="2670733" cy="29718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9" name="pa-badge-2">
            <a:extLst>
              <a:ext uri="{FF2B5EF4-FFF2-40B4-BE49-F238E27FC236}">
                <a16:creationId xmlns:a16="http://schemas.microsoft.com/office/drawing/2014/main" id="{8C53915F-8CA9-E808-93F5-B2822E61615E}"/>
              </a:ext>
            </a:extLst>
          </p:cNvPr>
          <p:cNvSpPr/>
          <p:nvPr/>
        </p:nvSpPr>
        <p:spPr>
          <a:xfrm>
            <a:off x="3447973" y="1691640"/>
            <a:ext cx="365760" cy="365760"/>
          </a:xfrm>
          <a:prstGeom prst="ellipse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618" name="pa-title-2">
            <a:extLst>
              <a:ext uri="{FF2B5EF4-FFF2-40B4-BE49-F238E27FC236}">
                <a16:creationId xmlns:a16="http://schemas.microsoft.com/office/drawing/2014/main" id="{B80E8A82-7567-34C1-10C1-6AB28DCADD0A}"/>
              </a:ext>
            </a:extLst>
          </p:cNvPr>
          <p:cNvSpPr/>
          <p:nvPr/>
        </p:nvSpPr>
        <p:spPr>
          <a:xfrm>
            <a:off x="3768013" y="1691640"/>
            <a:ext cx="2259253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B1B3F"/>
                </a:solidFill>
                <a:effectLst/>
                <a:latin typeface="Segoe UI" panose="020B0502040204020203" pitchFamily="34" charset="0"/>
              </a:rPr>
              <a:t>Rule analytics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638" name="pa-panel-2">
            <a:extLst>
              <a:ext uri="{FF2B5EF4-FFF2-40B4-BE49-F238E27FC236}">
                <a16:creationId xmlns:a16="http://schemas.microsoft.com/office/drawing/2014/main" id="{4DF3DC7F-686C-AC11-5503-EA02BA1E1459}"/>
              </a:ext>
            </a:extLst>
          </p:cNvPr>
          <p:cNvSpPr/>
          <p:nvPr/>
        </p:nvSpPr>
        <p:spPr>
          <a:xfrm>
            <a:off x="3447973" y="2121408"/>
            <a:ext cx="2487853" cy="1856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9" name="pa-band-2">
            <a:extLst>
              <a:ext uri="{FF2B5EF4-FFF2-40B4-BE49-F238E27FC236}">
                <a16:creationId xmlns:a16="http://schemas.microsoft.com/office/drawing/2014/main" id="{013EC686-6875-0853-FFCF-835BC9F3107D}"/>
              </a:ext>
            </a:extLst>
          </p:cNvPr>
          <p:cNvSpPr/>
          <p:nvPr/>
        </p:nvSpPr>
        <p:spPr>
          <a:xfrm>
            <a:off x="3457498" y="2130933"/>
            <a:ext cx="2468803" cy="365760"/>
          </a:xfrm>
          <a:prstGeom prst="rect">
            <a:avLst/>
          </a:prstGeom>
          <a:solidFill>
            <a:srgbClr val="DEEC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1" name="pa-bandtext-2">
            <a:extLst>
              <a:ext uri="{FF2B5EF4-FFF2-40B4-BE49-F238E27FC236}">
                <a16:creationId xmlns:a16="http://schemas.microsoft.com/office/drawing/2014/main" id="{A94BA5EB-13E4-001E-2255-9CBC8E916BEF}"/>
              </a:ext>
            </a:extLst>
          </p:cNvPr>
          <p:cNvSpPr/>
          <p:nvPr/>
        </p:nvSpPr>
        <p:spPr>
          <a:xfrm>
            <a:off x="3457498" y="2130933"/>
            <a:ext cx="1447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005A9E"/>
                </a:solidFill>
                <a:effectLst/>
                <a:latin typeface="Segoe UI" panose="020B0502040204020203" pitchFamily="34" charset="0"/>
              </a:rPr>
              <a:t>hits por regra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704" name="pa-caption-2">
            <a:extLst>
              <a:ext uri="{FF2B5EF4-FFF2-40B4-BE49-F238E27FC236}">
                <a16:creationId xmlns:a16="http://schemas.microsoft.com/office/drawing/2014/main" id="{6642D51F-85FC-A043-1026-D86414C3C326}"/>
              </a:ext>
            </a:extLst>
          </p:cNvPr>
          <p:cNvSpPr/>
          <p:nvPr/>
        </p:nvSpPr>
        <p:spPr>
          <a:xfrm>
            <a:off x="3447973" y="4023360"/>
            <a:ext cx="2487853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pouco uso: janela de 30 dias</a:t>
            </a:r>
          </a:p>
          <a:p>
            <a:pPr algn="l">
              <a:buNone/>
            </a:pPr>
            <a:r>
              <a:rPr lang="en-US" sz="12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top 10 fluxos por regra</a:t>
            </a:r>
            <a:endParaRPr lang="en-US"/>
          </a:p>
        </p:txBody>
      </p:sp>
      <p:sp>
        <p:nvSpPr>
          <p:cNvPr id="1753" name="pa2-barA">
            <a:extLst>
              <a:ext uri="{FF2B5EF4-FFF2-40B4-BE49-F238E27FC236}">
                <a16:creationId xmlns:a16="http://schemas.microsoft.com/office/drawing/2014/main" id="{6E7DC98C-A9AA-3A84-932A-50CE4FE44ED8}"/>
              </a:ext>
            </a:extLst>
          </p:cNvPr>
          <p:cNvSpPr/>
          <p:nvPr/>
        </p:nvSpPr>
        <p:spPr>
          <a:xfrm>
            <a:off x="3516553" y="2619946"/>
            <a:ext cx="2350693" cy="4572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DefendTheFlag</a:t>
            </a:r>
          </a:p>
          <a:p>
            <a:pPr algn="l">
              <a:buNone/>
            </a:pPr>
            <a:r>
              <a:rPr lang="en-US" sz="120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152.167 hits</a:t>
            </a:r>
            <a:endParaRPr lang="en-US"/>
          </a:p>
        </p:txBody>
      </p:sp>
      <p:sp>
        <p:nvSpPr>
          <p:cNvPr id="1779" name="pa2-subA">
            <a:extLst>
              <a:ext uri="{FF2B5EF4-FFF2-40B4-BE49-F238E27FC236}">
                <a16:creationId xmlns:a16="http://schemas.microsoft.com/office/drawing/2014/main" id="{C57ECF39-082A-77A7-CD1E-498D70B1C270}"/>
              </a:ext>
            </a:extLst>
          </p:cNvPr>
          <p:cNvSpPr/>
          <p:nvPr/>
        </p:nvSpPr>
        <p:spPr>
          <a:xfrm>
            <a:off x="3516553" y="3077146"/>
            <a:ext cx="2419273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1.500 fluxos únicos · 7 dias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806" name="pa2-barB">
            <a:extLst>
              <a:ext uri="{FF2B5EF4-FFF2-40B4-BE49-F238E27FC236}">
                <a16:creationId xmlns:a16="http://schemas.microsoft.com/office/drawing/2014/main" id="{A20E5738-75E5-2700-E01C-5DDB98062242}"/>
              </a:ext>
            </a:extLst>
          </p:cNvPr>
          <p:cNvSpPr/>
          <p:nvPr/>
        </p:nvSpPr>
        <p:spPr>
          <a:xfrm>
            <a:off x="3516553" y="3397186"/>
            <a:ext cx="235069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9A4507"/>
                </a:solidFill>
                <a:effectLst/>
                <a:latin typeface="Consolas" panose="020B0609020204030204" pitchFamily="49" charset="0"/>
              </a:rPr>
              <a:t>Regra B</a:t>
            </a:r>
          </a:p>
          <a:p>
            <a:pPr algn="l">
              <a:buNone/>
            </a:pPr>
            <a:r>
              <a:rPr lang="en-US" sz="1200">
                <a:solidFill>
                  <a:srgbClr val="9A4507"/>
                </a:solidFill>
                <a:effectLst/>
                <a:latin typeface="Consolas" panose="020B0609020204030204" pitchFamily="49" charset="0"/>
              </a:rPr>
              <a:t>0 hits · pouco uso</a:t>
            </a:r>
            <a:endParaRPr lang="en-US"/>
          </a:p>
        </p:txBody>
      </p:sp>
      <p:sp>
        <p:nvSpPr>
          <p:cNvPr id="1834" name="pa2-axis">
            <a:extLst>
              <a:ext uri="{FF2B5EF4-FFF2-40B4-BE49-F238E27FC236}">
                <a16:creationId xmlns:a16="http://schemas.microsoft.com/office/drawing/2014/main" id="{6CFAF044-107D-A578-D476-21C5872BC586}"/>
              </a:ext>
            </a:extLst>
          </p:cNvPr>
          <p:cNvSpPr/>
          <p:nvPr/>
        </p:nvSpPr>
        <p:spPr>
          <a:xfrm>
            <a:off x="3510203" y="2574226"/>
            <a:ext cx="12700" cy="1325880"/>
          </a:xfrm>
          <a:prstGeom prst="rect">
            <a:avLst/>
          </a:prstGeom>
          <a:solidFill>
            <a:srgbClr val="3B4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3" name="pa-card-3">
            <a:extLst>
              <a:ext uri="{FF2B5EF4-FFF2-40B4-BE49-F238E27FC236}">
                <a16:creationId xmlns:a16="http://schemas.microsoft.com/office/drawing/2014/main" id="{E7F2A9AE-8FC2-35C3-361B-83CCEC38E539}"/>
              </a:ext>
            </a:extLst>
          </p:cNvPr>
          <p:cNvSpPr/>
          <p:nvPr/>
        </p:nvSpPr>
        <p:spPr>
          <a:xfrm>
            <a:off x="6164427" y="1600200"/>
            <a:ext cx="2670733" cy="29718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3" name="pa-badge-3">
            <a:extLst>
              <a:ext uri="{FF2B5EF4-FFF2-40B4-BE49-F238E27FC236}">
                <a16:creationId xmlns:a16="http://schemas.microsoft.com/office/drawing/2014/main" id="{327508A7-1CFC-6094-F54E-167226A29A40}"/>
              </a:ext>
            </a:extLst>
          </p:cNvPr>
          <p:cNvSpPr/>
          <p:nvPr/>
        </p:nvSpPr>
        <p:spPr>
          <a:xfrm>
            <a:off x="6255867" y="1691640"/>
            <a:ext cx="365760" cy="365760"/>
          </a:xfrm>
          <a:prstGeom prst="ellipse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924" name="pa-title-3">
            <a:extLst>
              <a:ext uri="{FF2B5EF4-FFF2-40B4-BE49-F238E27FC236}">
                <a16:creationId xmlns:a16="http://schemas.microsoft.com/office/drawing/2014/main" id="{AA885EC0-9911-A571-FF83-9CFE3468D32F}"/>
              </a:ext>
            </a:extLst>
          </p:cNvPr>
          <p:cNvSpPr/>
          <p:nvPr/>
        </p:nvSpPr>
        <p:spPr>
          <a:xfrm>
            <a:off x="6575907" y="1691640"/>
            <a:ext cx="2259253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B1B3F"/>
                </a:solidFill>
                <a:effectLst/>
                <a:latin typeface="Segoe UI" panose="020B0502040204020203" pitchFamily="34" charset="0"/>
              </a:rPr>
              <a:t>Traffic flow analysis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956" name="pa-panel-3">
            <a:extLst>
              <a:ext uri="{FF2B5EF4-FFF2-40B4-BE49-F238E27FC236}">
                <a16:creationId xmlns:a16="http://schemas.microsoft.com/office/drawing/2014/main" id="{B5420B20-FFAA-2DB2-794C-4740B23BB4AE}"/>
              </a:ext>
            </a:extLst>
          </p:cNvPr>
          <p:cNvSpPr/>
          <p:nvPr/>
        </p:nvSpPr>
        <p:spPr>
          <a:xfrm>
            <a:off x="6255867" y="2121408"/>
            <a:ext cx="2487853" cy="1856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9" name="pa-band-3">
            <a:extLst>
              <a:ext uri="{FF2B5EF4-FFF2-40B4-BE49-F238E27FC236}">
                <a16:creationId xmlns:a16="http://schemas.microsoft.com/office/drawing/2014/main" id="{D120AE24-32FB-E82B-096C-5A0078701EB9}"/>
              </a:ext>
            </a:extLst>
          </p:cNvPr>
          <p:cNvSpPr/>
          <p:nvPr/>
        </p:nvSpPr>
        <p:spPr>
          <a:xfrm>
            <a:off x="6265392" y="2130933"/>
            <a:ext cx="2468803" cy="365760"/>
          </a:xfrm>
          <a:prstGeom prst="rect">
            <a:avLst/>
          </a:prstGeom>
          <a:solidFill>
            <a:srgbClr val="DEEC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3" name="pa-bandtext-3">
            <a:extLst>
              <a:ext uri="{FF2B5EF4-FFF2-40B4-BE49-F238E27FC236}">
                <a16:creationId xmlns:a16="http://schemas.microsoft.com/office/drawing/2014/main" id="{428A7C7C-F10C-C7F7-3BAF-B9B386BCB080}"/>
              </a:ext>
            </a:extLst>
          </p:cNvPr>
          <p:cNvSpPr/>
          <p:nvPr/>
        </p:nvSpPr>
        <p:spPr>
          <a:xfrm>
            <a:off x="6265392" y="2130933"/>
            <a:ext cx="2468803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005A9E"/>
                </a:solidFill>
                <a:effectLst/>
                <a:latin typeface="Segoe UI" panose="020B0502040204020203" pitchFamily="34" charset="0"/>
              </a:rPr>
              <a:t>top fluxos → regra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058" name="pa-caption-3">
            <a:extLst>
              <a:ext uri="{FF2B5EF4-FFF2-40B4-BE49-F238E27FC236}">
                <a16:creationId xmlns:a16="http://schemas.microsoft.com/office/drawing/2014/main" id="{6045B4B9-8B83-9A44-DB4D-AC2C3B0B84B4}"/>
              </a:ext>
            </a:extLst>
          </p:cNvPr>
          <p:cNvSpPr/>
          <p:nvPr/>
        </p:nvSpPr>
        <p:spPr>
          <a:xfrm>
            <a:off x="6255867" y="4023360"/>
            <a:ext cx="2487853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fluxos mais frequentes e</a:t>
            </a:r>
          </a:p>
          <a:p>
            <a:pPr algn="l">
              <a:buNone/>
            </a:pPr>
            <a:r>
              <a:rPr lang="en-US" sz="12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a regra que pegou cada um</a:t>
            </a:r>
            <a:endParaRPr lang="en-US"/>
          </a:p>
        </p:txBody>
      </p:sp>
      <p:sp>
        <p:nvSpPr>
          <p:cNvPr id="2094" name="pa3-link-0">
            <a:extLst>
              <a:ext uri="{FF2B5EF4-FFF2-40B4-BE49-F238E27FC236}">
                <a16:creationId xmlns:a16="http://schemas.microsoft.com/office/drawing/2014/main" id="{2CD7F221-5425-B2BA-1A46-236CBAD6E0D6}"/>
              </a:ext>
            </a:extLst>
          </p:cNvPr>
          <p:cNvSpPr/>
          <p:nvPr/>
        </p:nvSpPr>
        <p:spPr>
          <a:xfrm rot="2472382">
            <a:off x="7379411" y="2889956"/>
            <a:ext cx="341731" cy="1905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1" name="pa3-link-1">
            <a:extLst>
              <a:ext uri="{FF2B5EF4-FFF2-40B4-BE49-F238E27FC236}">
                <a16:creationId xmlns:a16="http://schemas.microsoft.com/office/drawing/2014/main" id="{6AC4AD5E-0A2B-4EDA-ADC0-BA15E3363C85}"/>
              </a:ext>
            </a:extLst>
          </p:cNvPr>
          <p:cNvSpPr/>
          <p:nvPr/>
        </p:nvSpPr>
        <p:spPr>
          <a:xfrm rot="19127618">
            <a:off x="7379411" y="3115079"/>
            <a:ext cx="341731" cy="1905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9" name="pa3-link-2">
            <a:extLst>
              <a:ext uri="{FF2B5EF4-FFF2-40B4-BE49-F238E27FC236}">
                <a16:creationId xmlns:a16="http://schemas.microsoft.com/office/drawing/2014/main" id="{868830F2-0E19-809B-F727-A01BFBAAC571}"/>
              </a:ext>
            </a:extLst>
          </p:cNvPr>
          <p:cNvSpPr/>
          <p:nvPr/>
        </p:nvSpPr>
        <p:spPr>
          <a:xfrm>
            <a:off x="7421727" y="3677888"/>
            <a:ext cx="257098" cy="1905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8" name="pa3-head-0">
            <a:extLst>
              <a:ext uri="{FF2B5EF4-FFF2-40B4-BE49-F238E27FC236}">
                <a16:creationId xmlns:a16="http://schemas.microsoft.com/office/drawing/2014/main" id="{3BC6C6BD-B186-65B6-DE5F-40C67645C1B9}"/>
              </a:ext>
            </a:extLst>
          </p:cNvPr>
          <p:cNvSpPr/>
          <p:nvPr/>
        </p:nvSpPr>
        <p:spPr>
          <a:xfrm rot="5400000">
            <a:off x="7669301" y="2966323"/>
            <a:ext cx="91440" cy="91440"/>
          </a:xfrm>
          <a:prstGeom prst="triangle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8" name="pa3-head-1">
            <a:extLst>
              <a:ext uri="{FF2B5EF4-FFF2-40B4-BE49-F238E27FC236}">
                <a16:creationId xmlns:a16="http://schemas.microsoft.com/office/drawing/2014/main" id="{B20D1F13-174A-66CA-824B-2125452A922E}"/>
              </a:ext>
            </a:extLst>
          </p:cNvPr>
          <p:cNvSpPr/>
          <p:nvPr/>
        </p:nvSpPr>
        <p:spPr>
          <a:xfrm rot="5400000">
            <a:off x="7669301" y="3641693"/>
            <a:ext cx="91440" cy="91440"/>
          </a:xfrm>
          <a:prstGeom prst="triangle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8" name="pa3-rule-0">
            <a:extLst>
              <a:ext uri="{FF2B5EF4-FFF2-40B4-BE49-F238E27FC236}">
                <a16:creationId xmlns:a16="http://schemas.microsoft.com/office/drawing/2014/main" id="{0F893431-5C9A-B4C6-91AA-46103B816871}"/>
              </a:ext>
            </a:extLst>
          </p:cNvPr>
          <p:cNvSpPr/>
          <p:nvPr/>
        </p:nvSpPr>
        <p:spPr>
          <a:xfrm>
            <a:off x="7760741" y="2852023"/>
            <a:ext cx="914400" cy="320040"/>
          </a:xfrm>
          <a:prstGeom prst="roundRect">
            <a:avLst/>
          </a:prstGeom>
          <a:solidFill>
            <a:srgbClr val="0B1B3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Regra 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63" name="pa3-rule-1">
            <a:extLst>
              <a:ext uri="{FF2B5EF4-FFF2-40B4-BE49-F238E27FC236}">
                <a16:creationId xmlns:a16="http://schemas.microsoft.com/office/drawing/2014/main" id="{8AB3E526-B824-AA5E-E129-638C30F99CFA}"/>
              </a:ext>
            </a:extLst>
          </p:cNvPr>
          <p:cNvSpPr/>
          <p:nvPr/>
        </p:nvSpPr>
        <p:spPr>
          <a:xfrm>
            <a:off x="7760741" y="3527393"/>
            <a:ext cx="914400" cy="320040"/>
          </a:xfrm>
          <a:prstGeom prst="roundRect">
            <a:avLst/>
          </a:prstGeom>
          <a:solidFill>
            <a:srgbClr val="0B1B3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Regra 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09" name="pa-card-4">
            <a:extLst>
              <a:ext uri="{FF2B5EF4-FFF2-40B4-BE49-F238E27FC236}">
                <a16:creationId xmlns:a16="http://schemas.microsoft.com/office/drawing/2014/main" id="{7BADE478-90B3-F058-B122-D1E220172630}"/>
              </a:ext>
            </a:extLst>
          </p:cNvPr>
          <p:cNvSpPr/>
          <p:nvPr/>
        </p:nvSpPr>
        <p:spPr>
          <a:xfrm>
            <a:off x="8972321" y="1600200"/>
            <a:ext cx="2670733" cy="29718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6" name="pa-badge-4">
            <a:extLst>
              <a:ext uri="{FF2B5EF4-FFF2-40B4-BE49-F238E27FC236}">
                <a16:creationId xmlns:a16="http://schemas.microsoft.com/office/drawing/2014/main" id="{2456BB87-AECE-1162-666C-D763636AE143}"/>
              </a:ext>
            </a:extLst>
          </p:cNvPr>
          <p:cNvSpPr/>
          <p:nvPr/>
        </p:nvSpPr>
        <p:spPr>
          <a:xfrm>
            <a:off x="9063761" y="1691640"/>
            <a:ext cx="365760" cy="365760"/>
          </a:xfrm>
          <a:prstGeom prst="ellipse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04" name="pa-title-4">
            <a:extLst>
              <a:ext uri="{FF2B5EF4-FFF2-40B4-BE49-F238E27FC236}">
                <a16:creationId xmlns:a16="http://schemas.microsoft.com/office/drawing/2014/main" id="{46DE38F5-F8C8-DFDB-69BF-A0BEE19582C7}"/>
              </a:ext>
            </a:extLst>
          </p:cNvPr>
          <p:cNvSpPr/>
          <p:nvPr/>
        </p:nvSpPr>
        <p:spPr>
          <a:xfrm>
            <a:off x="9383801" y="1691640"/>
            <a:ext cx="2259253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B1B3F"/>
                </a:solidFill>
                <a:effectLst/>
                <a:latin typeface="Segoe UI" panose="020B0502040204020203" pitchFamily="34" charset="0"/>
              </a:rPr>
              <a:t>Single rule analysis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53" name="pa-panel-4">
            <a:extLst>
              <a:ext uri="{FF2B5EF4-FFF2-40B4-BE49-F238E27FC236}">
                <a16:creationId xmlns:a16="http://schemas.microsoft.com/office/drawing/2014/main" id="{01CC2026-4C16-9C3A-B1A0-4BDF9A45F771}"/>
              </a:ext>
            </a:extLst>
          </p:cNvPr>
          <p:cNvSpPr/>
          <p:nvPr/>
        </p:nvSpPr>
        <p:spPr>
          <a:xfrm>
            <a:off x="9063761" y="2121408"/>
            <a:ext cx="2487853" cy="1856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3" name="pa-band-4">
            <a:extLst>
              <a:ext uri="{FF2B5EF4-FFF2-40B4-BE49-F238E27FC236}">
                <a16:creationId xmlns:a16="http://schemas.microsoft.com/office/drawing/2014/main" id="{E55AB9A1-4ED5-DF2C-EC23-DFEF26292347}"/>
              </a:ext>
            </a:extLst>
          </p:cNvPr>
          <p:cNvSpPr/>
          <p:nvPr/>
        </p:nvSpPr>
        <p:spPr>
          <a:xfrm>
            <a:off x="9073286" y="2130933"/>
            <a:ext cx="2468803" cy="365760"/>
          </a:xfrm>
          <a:prstGeom prst="rect">
            <a:avLst/>
          </a:prstGeom>
          <a:solidFill>
            <a:srgbClr val="DEEC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4" name="pa-bandtext-4">
            <a:extLst>
              <a:ext uri="{FF2B5EF4-FFF2-40B4-BE49-F238E27FC236}">
                <a16:creationId xmlns:a16="http://schemas.microsoft.com/office/drawing/2014/main" id="{A679B5EA-4322-642C-F24C-6DBB15E47C51}"/>
              </a:ext>
            </a:extLst>
          </p:cNvPr>
          <p:cNvSpPr/>
          <p:nvPr/>
        </p:nvSpPr>
        <p:spPr>
          <a:xfrm>
            <a:off x="9073286" y="2130933"/>
            <a:ext cx="117912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005A9E"/>
                </a:solidFill>
                <a:effectLst/>
                <a:latin typeface="Segoe UI" panose="020B0502040204020203" pitchFamily="34" charset="0"/>
              </a:rPr>
              <a:t>uma regra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806" name="pa-caption-4">
            <a:extLst>
              <a:ext uri="{FF2B5EF4-FFF2-40B4-BE49-F238E27FC236}">
                <a16:creationId xmlns:a16="http://schemas.microsoft.com/office/drawing/2014/main" id="{EB302003-91BB-8845-FFA9-BB0368D0501A}"/>
              </a:ext>
            </a:extLst>
          </p:cNvPr>
          <p:cNvSpPr/>
          <p:nvPr/>
        </p:nvSpPr>
        <p:spPr>
          <a:xfrm>
            <a:off x="9063761" y="4023360"/>
            <a:ext cx="2487853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que tráfego bate</a:t>
            </a:r>
          </a:p>
          <a:p>
            <a:pPr algn="l">
              <a:buNone/>
            </a:pPr>
            <a:r>
              <a:rPr lang="en-US" sz="1200">
                <a:solidFill>
                  <a:srgbClr val="3B4A5E"/>
                </a:solidFill>
                <a:effectLst/>
                <a:latin typeface="Segoe UI" panose="020B0502040204020203" pitchFamily="34" charset="0"/>
              </a:rPr>
              <a:t>numa regra específica</a:t>
            </a:r>
            <a:endParaRPr lang="en-US"/>
          </a:p>
        </p:txBody>
      </p:sp>
      <p:sp>
        <p:nvSpPr>
          <p:cNvPr id="2913" name="pa4-rule">
            <a:extLst>
              <a:ext uri="{FF2B5EF4-FFF2-40B4-BE49-F238E27FC236}">
                <a16:creationId xmlns:a16="http://schemas.microsoft.com/office/drawing/2014/main" id="{412A7953-9369-E968-E2F0-699C8FDB6B0B}"/>
              </a:ext>
            </a:extLst>
          </p:cNvPr>
          <p:cNvSpPr/>
          <p:nvPr/>
        </p:nvSpPr>
        <p:spPr>
          <a:xfrm>
            <a:off x="9132341" y="2551366"/>
            <a:ext cx="2350693" cy="320040"/>
          </a:xfrm>
          <a:prstGeom prst="roundRect">
            <a:avLst/>
          </a:prstGeom>
          <a:solidFill>
            <a:srgbClr val="0B1B3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Regra C · 1-65535 · *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139" name="pa-setup">
            <a:extLst>
              <a:ext uri="{FF2B5EF4-FFF2-40B4-BE49-F238E27FC236}">
                <a16:creationId xmlns:a16="http://schemas.microsoft.com/office/drawing/2014/main" id="{6ECB232F-BD24-D2E5-047B-C80C165143F1}"/>
              </a:ext>
            </a:extLst>
          </p:cNvPr>
          <p:cNvSpPr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solidFill>
            <a:srgbClr val="FDF2E4"/>
          </a:solidFill>
          <a:ln w="15875">
            <a:solidFill>
              <a:srgbClr val="B4530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8" name="pa-setup-label">
            <a:extLst>
              <a:ext uri="{FF2B5EF4-FFF2-40B4-BE49-F238E27FC236}">
                <a16:creationId xmlns:a16="http://schemas.microsoft.com/office/drawing/2014/main" id="{00E7C61E-46FA-E4FC-9CF9-5122DE791F3F}"/>
              </a:ext>
            </a:extLst>
          </p:cNvPr>
          <p:cNvSpPr/>
          <p:nvPr/>
        </p:nvSpPr>
        <p:spPr>
          <a:xfrm>
            <a:off x="548640" y="4709160"/>
            <a:ext cx="1005840" cy="640080"/>
          </a:xfrm>
          <a:prstGeom prst="rect">
            <a:avLst/>
          </a:prstGeom>
          <a:solidFill>
            <a:srgbClr val="B4530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ANTES</a:t>
            </a:r>
          </a:p>
          <a:p>
            <a:pPr algn="l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DE USAR</a:t>
            </a:r>
            <a:endParaRPr lang="en-US"/>
          </a:p>
        </p:txBody>
      </p:sp>
      <p:sp>
        <p:nvSpPr>
          <p:cNvPr id="3258" name="pa-step-1">
            <a:extLst>
              <a:ext uri="{FF2B5EF4-FFF2-40B4-BE49-F238E27FC236}">
                <a16:creationId xmlns:a16="http://schemas.microsoft.com/office/drawing/2014/main" id="{E6D06528-BD3E-C78B-1E9C-F730C1704FF9}"/>
              </a:ext>
            </a:extLst>
          </p:cNvPr>
          <p:cNvSpPr/>
          <p:nvPr/>
        </p:nvSpPr>
        <p:spPr>
          <a:xfrm>
            <a:off x="1645920" y="4754880"/>
            <a:ext cx="2394127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9A4507"/>
                </a:solidFill>
                <a:effectLst/>
                <a:latin typeface="Segoe UI" panose="020B0502040204020203" pitchFamily="34" charset="0"/>
              </a:rPr>
              <a:t>Diagnostic setting</a:t>
            </a:r>
          </a:p>
          <a:p>
            <a:pPr algn="l">
              <a:buNone/>
            </a:pPr>
            <a:r>
              <a:rPr lang="en-US" sz="12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logs resource specific</a:t>
            </a:r>
            <a:endParaRPr lang="en-US"/>
          </a:p>
        </p:txBody>
      </p:sp>
      <p:sp>
        <p:nvSpPr>
          <p:cNvPr id="3319" name="pa-step-arrow-1">
            <a:extLst>
              <a:ext uri="{FF2B5EF4-FFF2-40B4-BE49-F238E27FC236}">
                <a16:creationId xmlns:a16="http://schemas.microsoft.com/office/drawing/2014/main" id="{3995AD20-6E90-62A4-CC74-8E51FE4CAE63}"/>
              </a:ext>
            </a:extLst>
          </p:cNvPr>
          <p:cNvSpPr/>
          <p:nvPr/>
        </p:nvSpPr>
        <p:spPr>
          <a:xfrm rot="5400000">
            <a:off x="4062907" y="4983480"/>
            <a:ext cx="64008" cy="91440"/>
          </a:xfrm>
          <a:prstGeom prst="triangle">
            <a:avLst/>
          </a:prstGeom>
          <a:solidFill>
            <a:srgbClr val="B4530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1" name="pa-step-2">
            <a:extLst>
              <a:ext uri="{FF2B5EF4-FFF2-40B4-BE49-F238E27FC236}">
                <a16:creationId xmlns:a16="http://schemas.microsoft.com/office/drawing/2014/main" id="{EA14E046-3B48-0E8B-06B7-CFBFAF8803BC}"/>
              </a:ext>
            </a:extLst>
          </p:cNvPr>
          <p:cNvSpPr/>
          <p:nvPr/>
        </p:nvSpPr>
        <p:spPr>
          <a:xfrm>
            <a:off x="4149775" y="4754880"/>
            <a:ext cx="2394127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9A4507"/>
                </a:solidFill>
                <a:effectLst/>
                <a:latin typeface="Segoe UI" panose="020B0502040204020203" pitchFamily="34" charset="0"/>
              </a:rPr>
              <a:t>Configure Workspaces</a:t>
            </a:r>
          </a:p>
          <a:p>
            <a:pPr algn="l">
              <a:buNone/>
            </a:pPr>
            <a:r>
              <a:rPr lang="en-US" sz="12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Enable · mesmo workspace</a:t>
            </a:r>
            <a:endParaRPr lang="en-US"/>
          </a:p>
        </p:txBody>
      </p:sp>
      <p:sp>
        <p:nvSpPr>
          <p:cNvPr id="3444" name="pa-step-arrow-2">
            <a:extLst>
              <a:ext uri="{FF2B5EF4-FFF2-40B4-BE49-F238E27FC236}">
                <a16:creationId xmlns:a16="http://schemas.microsoft.com/office/drawing/2014/main" id="{E3DA515F-F2F4-8ED0-AA6C-D5A8864CE2AF}"/>
              </a:ext>
            </a:extLst>
          </p:cNvPr>
          <p:cNvSpPr/>
          <p:nvPr/>
        </p:nvSpPr>
        <p:spPr>
          <a:xfrm rot="5400000">
            <a:off x="6566763" y="4983480"/>
            <a:ext cx="64008" cy="91440"/>
          </a:xfrm>
          <a:prstGeom prst="triangle">
            <a:avLst/>
          </a:prstGeom>
          <a:solidFill>
            <a:srgbClr val="B4530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8" name="pa-step-3">
            <a:extLst>
              <a:ext uri="{FF2B5EF4-FFF2-40B4-BE49-F238E27FC236}">
                <a16:creationId xmlns:a16="http://schemas.microsoft.com/office/drawing/2014/main" id="{3823F794-3289-2257-B1E0-9BA937511CD8}"/>
              </a:ext>
            </a:extLst>
          </p:cNvPr>
          <p:cNvSpPr/>
          <p:nvPr/>
        </p:nvSpPr>
        <p:spPr>
          <a:xfrm>
            <a:off x="6653631" y="4754880"/>
            <a:ext cx="2394127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9A4507"/>
                </a:solidFill>
                <a:effectLst/>
                <a:latin typeface="Segoe UI" panose="020B0502040204020203" pitchFamily="34" charset="0"/>
              </a:rPr>
              <a:t>Agregação por hora</a:t>
            </a:r>
          </a:p>
          <a:p>
            <a:pPr algn="l">
              <a:buNone/>
            </a:pPr>
            <a:r>
              <a:rPr lang="en-US" sz="12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dados em ~60 min</a:t>
            </a:r>
            <a:endParaRPr lang="en-US"/>
          </a:p>
        </p:txBody>
      </p:sp>
      <p:sp>
        <p:nvSpPr>
          <p:cNvPr id="3573" name="pa-step-arrow-3">
            <a:extLst>
              <a:ext uri="{FF2B5EF4-FFF2-40B4-BE49-F238E27FC236}">
                <a16:creationId xmlns:a16="http://schemas.microsoft.com/office/drawing/2014/main" id="{534C3E20-7AA5-2AAC-AFE2-C554FADE2DA3}"/>
              </a:ext>
            </a:extLst>
          </p:cNvPr>
          <p:cNvSpPr/>
          <p:nvPr/>
        </p:nvSpPr>
        <p:spPr>
          <a:xfrm rot="5400000">
            <a:off x="9070619" y="4983480"/>
            <a:ext cx="64008" cy="91440"/>
          </a:xfrm>
          <a:prstGeom prst="triangle">
            <a:avLst/>
          </a:prstGeom>
          <a:solidFill>
            <a:srgbClr val="B4530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9" name="pa-step-4">
            <a:extLst>
              <a:ext uri="{FF2B5EF4-FFF2-40B4-BE49-F238E27FC236}">
                <a16:creationId xmlns:a16="http://schemas.microsoft.com/office/drawing/2014/main" id="{D15D8282-64CB-697C-9DC4-5EA0A4D5D64D}"/>
              </a:ext>
            </a:extLst>
          </p:cNvPr>
          <p:cNvSpPr/>
          <p:nvPr/>
        </p:nvSpPr>
        <p:spPr>
          <a:xfrm>
            <a:off x="9157487" y="4754880"/>
            <a:ext cx="2394127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9A4507"/>
                </a:solidFill>
                <a:effectLst/>
                <a:latin typeface="Segoe UI" panose="020B0502040204020203" pitchFamily="34" charset="0"/>
              </a:rPr>
              <a:t>Só após habilitar</a:t>
            </a:r>
          </a:p>
          <a:p>
            <a:pPr algn="l">
              <a:buNone/>
            </a:pPr>
            <a:r>
              <a:rPr lang="en-US" sz="12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custo no Firewall Manager</a:t>
            </a:r>
            <a:endParaRPr lang="en-US"/>
          </a:p>
        </p:txBody>
      </p:sp>
      <p:sp>
        <p:nvSpPr>
          <p:cNvPr id="3640" name="pa2-period">
            <a:extLst>
              <a:ext uri="{FF2B5EF4-FFF2-40B4-BE49-F238E27FC236}">
                <a16:creationId xmlns:a16="http://schemas.microsoft.com/office/drawing/2014/main" id="{11D96C2A-38C4-DA72-F66B-0DABE29C9748}"/>
              </a:ext>
            </a:extLst>
          </p:cNvPr>
          <p:cNvSpPr/>
          <p:nvPr/>
        </p:nvSpPr>
        <p:spPr>
          <a:xfrm>
            <a:off x="4920462" y="2162937"/>
            <a:ext cx="960120" cy="301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5A9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005A9E"/>
                </a:solidFill>
                <a:effectLst/>
                <a:latin typeface="Segoe UI" panose="020B0502040204020203" pitchFamily="34" charset="0"/>
              </a:rPr>
              <a:t>1–30 dias</a:t>
            </a:r>
            <a:endParaRPr lang="en-US"/>
          </a:p>
        </p:txBody>
      </p:sp>
      <p:sp>
        <p:nvSpPr>
          <p:cNvPr id="3642" name="pa3-flow-0">
            <a:extLst>
              <a:ext uri="{FF2B5EF4-FFF2-40B4-BE49-F238E27FC236}">
                <a16:creationId xmlns:a16="http://schemas.microsoft.com/office/drawing/2014/main" id="{5A5BCC7D-C7DB-80A5-F2A2-AFEAC04B859A}"/>
              </a:ext>
            </a:extLst>
          </p:cNvPr>
          <p:cNvSpPr/>
          <p:nvPr/>
        </p:nvSpPr>
        <p:spPr>
          <a:xfrm>
            <a:off x="6324447" y="2626899"/>
            <a:ext cx="1097280" cy="320040"/>
          </a:xfrm>
          <a:prstGeom prst="roundRect">
            <a:avLst/>
          </a:prstGeom>
          <a:solidFill>
            <a:srgbClr val="EFF6FC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1B2333"/>
                </a:solidFill>
                <a:effectLst/>
                <a:latin typeface="Consolas" panose="020B0609020204030204" pitchFamily="49" charset="0"/>
              </a:rPr>
              <a:t>vm-a :443</a:t>
            </a:r>
            <a:endParaRPr lang="en-US"/>
          </a:p>
        </p:txBody>
      </p:sp>
      <p:sp>
        <p:nvSpPr>
          <p:cNvPr id="3645" name="pa3-flow-1">
            <a:extLst>
              <a:ext uri="{FF2B5EF4-FFF2-40B4-BE49-F238E27FC236}">
                <a16:creationId xmlns:a16="http://schemas.microsoft.com/office/drawing/2014/main" id="{E56DD1A3-2B56-99C4-9929-7D4A0FF69A66}"/>
              </a:ext>
            </a:extLst>
          </p:cNvPr>
          <p:cNvSpPr/>
          <p:nvPr/>
        </p:nvSpPr>
        <p:spPr>
          <a:xfrm>
            <a:off x="6324447" y="3077146"/>
            <a:ext cx="1097280" cy="320040"/>
          </a:xfrm>
          <a:prstGeom prst="roundRect">
            <a:avLst/>
          </a:prstGeom>
          <a:solidFill>
            <a:srgbClr val="EFF6FC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1B2333"/>
                </a:solidFill>
                <a:effectLst/>
                <a:latin typeface="Consolas" panose="020B0609020204030204" pitchFamily="49" charset="0"/>
              </a:rPr>
              <a:t>vm-b :443</a:t>
            </a:r>
            <a:endParaRPr lang="en-US"/>
          </a:p>
        </p:txBody>
      </p:sp>
      <p:sp>
        <p:nvSpPr>
          <p:cNvPr id="3649" name="pa3-flow-2">
            <a:extLst>
              <a:ext uri="{FF2B5EF4-FFF2-40B4-BE49-F238E27FC236}">
                <a16:creationId xmlns:a16="http://schemas.microsoft.com/office/drawing/2014/main" id="{1660CAEE-8C45-7691-EEF0-131EBA260F11}"/>
              </a:ext>
            </a:extLst>
          </p:cNvPr>
          <p:cNvSpPr/>
          <p:nvPr/>
        </p:nvSpPr>
        <p:spPr>
          <a:xfrm>
            <a:off x="6324447" y="3527393"/>
            <a:ext cx="1097280" cy="320040"/>
          </a:xfrm>
          <a:prstGeom prst="roundRect">
            <a:avLst/>
          </a:prstGeom>
          <a:solidFill>
            <a:srgbClr val="EFF6FC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1B2333"/>
                </a:solidFill>
                <a:effectLst/>
                <a:latin typeface="Consolas" panose="020B0609020204030204" pitchFamily="49" charset="0"/>
              </a:rPr>
              <a:t>vm-c :53</a:t>
            </a:r>
            <a:endParaRPr lang="en-US"/>
          </a:p>
        </p:txBody>
      </p:sp>
      <p:sp>
        <p:nvSpPr>
          <p:cNvPr id="3654" name="pa4-run">
            <a:extLst>
              <a:ext uri="{FF2B5EF4-FFF2-40B4-BE49-F238E27FC236}">
                <a16:creationId xmlns:a16="http://schemas.microsoft.com/office/drawing/2014/main" id="{F3B71F2F-DCE1-2572-4FBE-33F16AFB5057}"/>
              </a:ext>
            </a:extLst>
          </p:cNvPr>
          <p:cNvSpPr/>
          <p:nvPr/>
        </p:nvSpPr>
        <p:spPr>
          <a:xfrm>
            <a:off x="10261930" y="2162937"/>
            <a:ext cx="1234440" cy="301752"/>
          </a:xfrm>
          <a:prstGeom prst="round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Run analysis</a:t>
            </a:r>
            <a:endParaRPr lang="en-US"/>
          </a:p>
        </p:txBody>
      </p:sp>
      <p:sp>
        <p:nvSpPr>
          <p:cNvPr id="3660" name="pa4-tag-0">
            <a:extLst>
              <a:ext uri="{FF2B5EF4-FFF2-40B4-BE49-F238E27FC236}">
                <a16:creationId xmlns:a16="http://schemas.microsoft.com/office/drawing/2014/main" id="{3111459F-4734-34EE-FF8A-D3963208EFB5}"/>
              </a:ext>
            </a:extLst>
          </p:cNvPr>
          <p:cNvSpPr/>
          <p:nvPr/>
        </p:nvSpPr>
        <p:spPr>
          <a:xfrm>
            <a:off x="9132341" y="2944558"/>
            <a:ext cx="2049660" cy="301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apagar se sem tráfego</a:t>
            </a:r>
            <a:endParaRPr lang="en-US"/>
          </a:p>
        </p:txBody>
      </p:sp>
      <p:sp>
        <p:nvSpPr>
          <p:cNvPr id="3667" name="pa4-tag-1">
            <a:extLst>
              <a:ext uri="{FF2B5EF4-FFF2-40B4-BE49-F238E27FC236}">
                <a16:creationId xmlns:a16="http://schemas.microsoft.com/office/drawing/2014/main" id="{1D219667-0E09-42C6-DB07-DC6257914DEC}"/>
              </a:ext>
            </a:extLst>
          </p:cNvPr>
          <p:cNvSpPr/>
          <p:nvPr/>
        </p:nvSpPr>
        <p:spPr>
          <a:xfrm>
            <a:off x="9132341" y="3282886"/>
            <a:ext cx="1769673" cy="301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1B2333"/>
                </a:solidFill>
                <a:effectLst/>
                <a:latin typeface="Segoe UI" panose="020B0502040204020203" pitchFamily="34" charset="0"/>
              </a:rPr>
              <a:t>baixar a prioridade</a:t>
            </a:r>
            <a:endParaRPr lang="en-US"/>
          </a:p>
        </p:txBody>
      </p:sp>
      <p:sp>
        <p:nvSpPr>
          <p:cNvPr id="3675" name="pa4-tag-2">
            <a:extLst>
              <a:ext uri="{FF2B5EF4-FFF2-40B4-BE49-F238E27FC236}">
                <a16:creationId xmlns:a16="http://schemas.microsoft.com/office/drawing/2014/main" id="{28C51AC4-A1CB-939A-0265-FEC52611505F}"/>
              </a:ext>
            </a:extLst>
          </p:cNvPr>
          <p:cNvSpPr/>
          <p:nvPr/>
        </p:nvSpPr>
        <p:spPr>
          <a:xfrm>
            <a:off x="9132341" y="3621214"/>
            <a:ext cx="2424255" cy="301752"/>
          </a:xfrm>
          <a:prstGeom prst="roundRect">
            <a:avLst/>
          </a:prstGeom>
          <a:solidFill>
            <a:srgbClr val="E9F4E9"/>
          </a:solidFill>
          <a:ln w="12700">
            <a:solidFill>
              <a:srgbClr val="107C1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0E6A0E"/>
                </a:solidFill>
                <a:effectLst/>
                <a:latin typeface="Segoe UI" panose="020B0502040204020203" pitchFamily="34" charset="0"/>
              </a:rPr>
              <a:t>restringir: 443 · 10.1.0.0/24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Demo: qual regra venceu?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Prever, testar e provar com o log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32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2554148" cy="148132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Shape"/>
          <p:cNvSpPr/>
          <p:nvPr/>
        </p:nvSpPr>
        <p:spPr>
          <a:xfrm>
            <a:off x="758952" y="1819656"/>
            <a:ext cx="530352" cy="5303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9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59719" y="1920423"/>
            <a:ext cx="328818" cy="328818"/>
          </a:xfrm>
          <a:prstGeom prst="rect">
            <a:avLst/>
          </a:prstGeom>
        </p:spPr>
      </p:pic>
      <p:sp>
        <p:nvSpPr>
          <p:cNvPr id="20" name="TextBox"/>
          <p:cNvSpPr txBox="1"/>
          <p:nvPr/>
        </p:nvSpPr>
        <p:spPr>
          <a:xfrm>
            <a:off x="1417320" y="1883664"/>
            <a:ext cx="1594028" cy="40233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1 · Testar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777240" y="2450592"/>
            <a:ext cx="2188388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 VM acessa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Consolas"/>
              </a:rPr>
              <a:t>www.microsoft.com</a:t>
            </a:r>
          </a:p>
        </p:txBody>
      </p:sp>
      <p:sp>
        <p:nvSpPr>
          <p:cNvPr id="22" name="Shape"/>
          <p:cNvSpPr/>
          <p:nvPr/>
        </p:nvSpPr>
        <p:spPr>
          <a:xfrm>
            <a:off x="3139364" y="2376526"/>
            <a:ext cx="159106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3" name="Shape"/>
          <p:cNvSpPr/>
          <p:nvPr/>
        </p:nvSpPr>
        <p:spPr>
          <a:xfrm rot="5400000">
            <a:off x="3258236" y="2336292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24" name="Shape"/>
          <p:cNvSpPr/>
          <p:nvPr/>
        </p:nvSpPr>
        <p:spPr>
          <a:xfrm>
            <a:off x="3395396" y="1645920"/>
            <a:ext cx="2554148" cy="148132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Shape"/>
          <p:cNvSpPr/>
          <p:nvPr/>
        </p:nvSpPr>
        <p:spPr>
          <a:xfrm>
            <a:off x="3605708" y="1819656"/>
            <a:ext cx="530352" cy="53035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6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3711778" y="1925726"/>
            <a:ext cx="318211" cy="318211"/>
          </a:xfrm>
          <a:prstGeom prst="rect">
            <a:avLst/>
          </a:prstGeom>
        </p:spPr>
      </p:pic>
      <p:sp>
        <p:nvSpPr>
          <p:cNvPr id="27" name="TextBox"/>
          <p:cNvSpPr txBox="1"/>
          <p:nvPr/>
        </p:nvSpPr>
        <p:spPr>
          <a:xfrm>
            <a:off x="4264076" y="1883664"/>
            <a:ext cx="1594028" cy="40233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2 · Decidir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3623996" y="2450592"/>
            <a:ext cx="2188388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o firewall aplica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 ordem das regras</a:t>
            </a:r>
          </a:p>
        </p:txBody>
      </p:sp>
      <p:sp>
        <p:nvSpPr>
          <p:cNvPr id="29" name="Shape"/>
          <p:cNvSpPr/>
          <p:nvPr/>
        </p:nvSpPr>
        <p:spPr>
          <a:xfrm>
            <a:off x="5986120" y="2376526"/>
            <a:ext cx="159106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0" name="Shape"/>
          <p:cNvSpPr/>
          <p:nvPr/>
        </p:nvSpPr>
        <p:spPr>
          <a:xfrm rot="5400000">
            <a:off x="6104992" y="2336292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1" name="Shape"/>
          <p:cNvSpPr/>
          <p:nvPr/>
        </p:nvSpPr>
        <p:spPr>
          <a:xfrm>
            <a:off x="6242152" y="1645920"/>
            <a:ext cx="2554148" cy="148132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"/>
          <p:cNvSpPr/>
          <p:nvPr/>
        </p:nvSpPr>
        <p:spPr>
          <a:xfrm>
            <a:off x="6452464" y="1819656"/>
            <a:ext cx="530352" cy="5303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3" name="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6553230" y="1920423"/>
            <a:ext cx="328818" cy="328818"/>
          </a:xfrm>
          <a:prstGeom prst="rect">
            <a:avLst/>
          </a:prstGeom>
        </p:spPr>
      </p:pic>
      <p:sp>
        <p:nvSpPr>
          <p:cNvPr id="34" name="TextBox"/>
          <p:cNvSpPr txBox="1"/>
          <p:nvPr/>
        </p:nvSpPr>
        <p:spPr>
          <a:xfrm>
            <a:off x="7110832" y="1883664"/>
            <a:ext cx="1594028" cy="40233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3 · Provar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6470752" y="2450592"/>
            <a:ext cx="2188388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o log mostra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 regra que venceu</a:t>
            </a:r>
          </a:p>
        </p:txBody>
      </p:sp>
      <p:sp>
        <p:nvSpPr>
          <p:cNvPr id="36" name="Shape"/>
          <p:cNvSpPr/>
          <p:nvPr/>
        </p:nvSpPr>
        <p:spPr>
          <a:xfrm>
            <a:off x="8832875" y="2376526"/>
            <a:ext cx="159106" cy="20117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 rot="5400000">
            <a:off x="8951747" y="2336292"/>
            <a:ext cx="100584" cy="100584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9088907" y="1645920"/>
            <a:ext cx="2554148" cy="148132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Shape"/>
          <p:cNvSpPr/>
          <p:nvPr/>
        </p:nvSpPr>
        <p:spPr>
          <a:xfrm>
            <a:off x="9299219" y="1819656"/>
            <a:ext cx="530352" cy="5303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0" name="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9399986" y="1920423"/>
            <a:ext cx="328818" cy="328818"/>
          </a:xfrm>
          <a:prstGeom prst="rect">
            <a:avLst/>
          </a:prstGeom>
        </p:spPr>
      </p:pic>
      <p:sp>
        <p:nvSpPr>
          <p:cNvPr id="41" name="TextBox"/>
          <p:cNvSpPr txBox="1"/>
          <p:nvPr/>
        </p:nvSpPr>
        <p:spPr>
          <a:xfrm>
            <a:off x="9957587" y="1883664"/>
            <a:ext cx="1594028" cy="40233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4 · Explicar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9317507" y="2450592"/>
            <a:ext cx="2188388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tipo, herança,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grupo e collection</a:t>
            </a:r>
          </a:p>
        </p:txBody>
      </p:sp>
      <p:sp>
        <p:nvSpPr>
          <p:cNvPr id="43" name="Shape"/>
          <p:cNvSpPr/>
          <p:nvPr/>
        </p:nvSpPr>
        <p:spPr>
          <a:xfrm>
            <a:off x="548640" y="3291840"/>
            <a:ext cx="11094415" cy="1481328"/>
          </a:xfrm>
          <a:prstGeom prst="rect">
            <a:avLst/>
          </a:prstGeom>
          <a:solidFill>
            <a:srgbClr val="0E1A33"/>
          </a:solidFill>
        </p:spPr>
        <p:txBody>
          <a:bodyPr/>
          <a:lstStyle/>
          <a:p>
            <a:endParaRPr/>
          </a:p>
        </p:txBody>
      </p:sp>
      <p:sp>
        <p:nvSpPr>
          <p:cNvPr id="44" name="Shape"/>
          <p:cNvSpPr/>
          <p:nvPr/>
        </p:nvSpPr>
        <p:spPr>
          <a:xfrm>
            <a:off x="11076127" y="3438144"/>
            <a:ext cx="82296" cy="82296"/>
          </a:xfrm>
          <a:prstGeom prst="ellipse">
            <a:avLst/>
          </a:prstGeom>
          <a:solidFill>
            <a:srgbClr val="3A5683"/>
          </a:solidFill>
        </p:spPr>
        <p:txBody>
          <a:bodyPr/>
          <a:lstStyle/>
          <a:p>
            <a:endParaRPr/>
          </a:p>
        </p:txBody>
      </p:sp>
      <p:sp>
        <p:nvSpPr>
          <p:cNvPr id="45" name="Shape"/>
          <p:cNvSpPr/>
          <p:nvPr/>
        </p:nvSpPr>
        <p:spPr>
          <a:xfrm>
            <a:off x="11231575" y="3438144"/>
            <a:ext cx="82296" cy="82296"/>
          </a:xfrm>
          <a:prstGeom prst="ellipse">
            <a:avLst/>
          </a:prstGeom>
          <a:solidFill>
            <a:srgbClr val="3A5683"/>
          </a:solidFill>
        </p:spPr>
        <p:txBody>
          <a:bodyPr/>
          <a:lstStyle/>
          <a:p>
            <a:endParaRPr/>
          </a:p>
        </p:txBody>
      </p:sp>
      <p:sp>
        <p:nvSpPr>
          <p:cNvPr id="46" name="Shape"/>
          <p:cNvSpPr/>
          <p:nvPr/>
        </p:nvSpPr>
        <p:spPr>
          <a:xfrm>
            <a:off x="11387023" y="3438144"/>
            <a:ext cx="82296" cy="82296"/>
          </a:xfrm>
          <a:prstGeom prst="ellipse">
            <a:avLst/>
          </a:prstGeom>
          <a:solidFill>
            <a:srgbClr val="3A5683"/>
          </a:solidFill>
        </p:spPr>
        <p:txBody>
          <a:bodyPr/>
          <a:lstStyle/>
          <a:p>
            <a:endParaRPr/>
          </a:p>
        </p:txBody>
      </p:sp>
      <p:sp>
        <p:nvSpPr>
          <p:cNvPr id="47" name="TextBox"/>
          <p:cNvSpPr txBox="1"/>
          <p:nvPr/>
        </p:nvSpPr>
        <p:spPr>
          <a:xfrm>
            <a:off x="868680" y="3383280"/>
            <a:ext cx="9997135" cy="12984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50E6FF"/>
                </a:solidFill>
                <a:latin typeface="Consolas"/>
              </a:rPr>
              <a:t>AZFWApplicationRule</a:t>
            </a:r>
          </a:p>
          <a:p>
            <a:pPr algn="l"/>
            <a:r>
              <a:rPr sz="1400" b="0">
                <a:solidFill>
                  <a:srgbClr val="E6EDF7"/>
                </a:solidFill>
                <a:latin typeface="Consolas"/>
              </a:rPr>
              <a:t>| where Fqdn == "www.microsoft.com"</a:t>
            </a:r>
          </a:p>
          <a:p>
            <a:pPr algn="l"/>
            <a:r>
              <a:rPr sz="1400" b="0">
                <a:solidFill>
                  <a:srgbClr val="E6EDF7"/>
                </a:solidFill>
                <a:latin typeface="Consolas"/>
              </a:rPr>
              <a:t>| project TimeGenerated, Action, Policy,</a:t>
            </a:r>
          </a:p>
          <a:p>
            <a:pPr algn="l"/>
            <a:r>
              <a:rPr sz="1400" b="0">
                <a:solidFill>
                  <a:srgbClr val="E6EDF7"/>
                </a:solidFill>
                <a:latin typeface="Consolas"/>
              </a:rPr>
              <a:t>  RuleCollectionGroup, RuleCollection, Rule</a:t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A9BBD3"/>
                </a:solidFill>
                <a:latin typeface="Segoe UI"/>
              </a:rPr>
              <a:t>se o match for em Network, troque por AZFWNetworkRule</a:t>
            </a:r>
          </a:p>
        </p:txBody>
      </p:sp>
      <p:sp>
        <p:nvSpPr>
          <p:cNvPr id="48" name="Shape"/>
          <p:cNvSpPr/>
          <p:nvPr/>
        </p:nvSpPr>
        <p:spPr>
          <a:xfrm>
            <a:off x="3517382" y="4901184"/>
            <a:ext cx="5156930" cy="420624"/>
          </a:xfrm>
          <a:prstGeom prst="roundRect">
            <a:avLst/>
          </a:prstGeom>
          <a:solidFill>
            <a:srgbClr val="B45309"/>
          </a:solidFill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Antes de mostrar o log: acessa ou não?</a:t>
            </a:r>
          </a:p>
        </p:txBody>
      </p:sp>
      <p:sp>
        <p:nvSpPr>
          <p:cNvPr id="49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POLICIES E REGRAS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FEE21794-9C09-0E38-F29B-E1A66B207F61}"/>
              </a:ext>
            </a:extLst>
          </p:cNvPr>
          <p:cNvSpPr/>
          <p:nvPr/>
        </p:nvSpPr>
        <p:spPr>
          <a:xfrm>
            <a:off x="914400" y="5458968"/>
            <a:ext cx="10637215" cy="6949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Prever, testar e provar com o log</a:t>
            </a:r>
          </a:p>
          <a:p>
            <a:pPr algn="l">
              <a:buNone/>
            </a:pPr>
            <a:r>
              <a:rPr lang="en-US" sz="1300">
                <a:solidFill>
                  <a:srgbClr val="C9D6EA"/>
                </a:solidFill>
                <a:effectLst/>
                <a:latin typeface="Segoe UI" panose="020B0502040204020203" pitchFamily="34" charset="0"/>
              </a:rPr>
              <a:t>Reproduz um dos casos dos slides 21 a 28 · plano B: capturas de tela do teste e do log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Threat Intelligence e IDPS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Proteção que você liga, não regra que você escreve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33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Proteção que você liga, não regra que você escreve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Threat Intelligence: reputação · IDPS: assinaturas de ataque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5432908" cy="199339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Box"/>
          <p:cNvSpPr txBox="1"/>
          <p:nvPr/>
        </p:nvSpPr>
        <p:spPr>
          <a:xfrm>
            <a:off x="822960" y="1773936"/>
            <a:ext cx="4884268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Threat Intelligence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22960" y="2212848"/>
            <a:ext cx="4884268" cy="78638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reputação: IPs, FQDNs e URLs maliciosos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avaliada antes das suas regras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allowlist para exceções</a:t>
            </a:r>
          </a:p>
        </p:txBody>
      </p:sp>
      <p:sp>
        <p:nvSpPr>
          <p:cNvPr id="20" name="Shape"/>
          <p:cNvSpPr/>
          <p:nvPr/>
        </p:nvSpPr>
        <p:spPr>
          <a:xfrm>
            <a:off x="822960" y="3127248"/>
            <a:ext cx="3925448" cy="347472"/>
          </a:xfrm>
          <a:prstGeom prst="roundRect">
            <a:avLst/>
          </a:prstGeom>
          <a:solidFill>
            <a:srgbClr val="DEECF9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005A9E"/>
                </a:solidFill>
                <a:latin typeface="Segoe UI"/>
              </a:rPr>
              <a:t>Basic (só Alert) · Standard · Premium</a:t>
            </a:r>
          </a:p>
        </p:txBody>
      </p:sp>
      <p:sp>
        <p:nvSpPr>
          <p:cNvPr id="21" name="Shape"/>
          <p:cNvSpPr/>
          <p:nvPr/>
        </p:nvSpPr>
        <p:spPr>
          <a:xfrm>
            <a:off x="6210148" y="1645920"/>
            <a:ext cx="5432908" cy="199339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extBox"/>
          <p:cNvSpPr txBox="1"/>
          <p:nvPr/>
        </p:nvSpPr>
        <p:spPr>
          <a:xfrm>
            <a:off x="6484468" y="1773936"/>
            <a:ext cx="4884268" cy="3840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IDPS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6484468" y="2212848"/>
            <a:ext cx="4884268" cy="78638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assinaturas: 67.000+ em 50+ categorias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camadas 3 a 7, em toda direção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comece em Alert, depois bloqueie</a:t>
            </a:r>
          </a:p>
        </p:txBody>
      </p:sp>
      <p:sp>
        <p:nvSpPr>
          <p:cNvPr id="24" name="Shape"/>
          <p:cNvSpPr/>
          <p:nvPr/>
        </p:nvSpPr>
        <p:spPr>
          <a:xfrm>
            <a:off x="6484468" y="3127248"/>
            <a:ext cx="1579635" cy="347472"/>
          </a:xfrm>
          <a:prstGeom prst="roundRect">
            <a:avLst/>
          </a:prstGeom>
          <a:solidFill>
            <a:srgbClr val="DEECF9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005A9E"/>
                </a:solidFill>
                <a:latin typeface="Segoe UI"/>
              </a:rPr>
              <a:t>Só Premium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48640" y="3767328"/>
            <a:ext cx="11094415" cy="2926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3B4A5E"/>
                </a:solidFill>
                <a:latin typeface="Segoe UI"/>
              </a:rPr>
              <a:t>Os dois funcionam nos mesmos dois modos</a:t>
            </a:r>
          </a:p>
        </p:txBody>
      </p:sp>
      <p:sp>
        <p:nvSpPr>
          <p:cNvPr id="26" name="Shape"/>
          <p:cNvSpPr/>
          <p:nvPr/>
        </p:nvSpPr>
        <p:spPr>
          <a:xfrm>
            <a:off x="548640" y="4169664"/>
            <a:ext cx="5432908" cy="1097280"/>
          </a:xfrm>
          <a:prstGeom prst="roundRect">
            <a:avLst/>
          </a:prstGeom>
          <a:solidFill>
            <a:srgbClr val="B45309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>
            <a:off x="804672" y="4407408"/>
            <a:ext cx="621792" cy="621792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28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922812" y="4525548"/>
            <a:ext cx="385511" cy="385511"/>
          </a:xfrm>
          <a:prstGeom prst="rect">
            <a:avLst/>
          </a:prstGeom>
        </p:spPr>
      </p:pic>
      <p:sp>
        <p:nvSpPr>
          <p:cNvPr id="29" name="TextBox"/>
          <p:cNvSpPr txBox="1"/>
          <p:nvPr/>
        </p:nvSpPr>
        <p:spPr>
          <a:xfrm>
            <a:off x="1645920" y="4224528"/>
            <a:ext cx="4152748" cy="98755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Alert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registra no log; o tráfego segue</a:t>
            </a:r>
          </a:p>
        </p:txBody>
      </p:sp>
      <p:sp>
        <p:nvSpPr>
          <p:cNvPr id="30" name="Shape"/>
          <p:cNvSpPr/>
          <p:nvPr/>
        </p:nvSpPr>
        <p:spPr>
          <a:xfrm>
            <a:off x="6210148" y="4169664"/>
            <a:ext cx="5432908" cy="1097280"/>
          </a:xfrm>
          <a:prstGeom prst="roundRect">
            <a:avLst/>
          </a:prstGeom>
          <a:solidFill>
            <a:srgbClr val="C42B1C"/>
          </a:solidFill>
        </p:spPr>
        <p:txBody>
          <a:bodyPr/>
          <a:lstStyle/>
          <a:p>
            <a:endParaRPr/>
          </a:p>
        </p:txBody>
      </p:sp>
      <p:sp>
        <p:nvSpPr>
          <p:cNvPr id="31" name="Shape"/>
          <p:cNvSpPr/>
          <p:nvPr/>
        </p:nvSpPr>
        <p:spPr>
          <a:xfrm>
            <a:off x="6466180" y="4407408"/>
            <a:ext cx="621792" cy="621792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2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6584320" y="4525548"/>
            <a:ext cx="385511" cy="385511"/>
          </a:xfrm>
          <a:prstGeom prst="rect">
            <a:avLst/>
          </a:prstGeom>
        </p:spPr>
      </p:pic>
      <p:sp>
        <p:nvSpPr>
          <p:cNvPr id="33" name="TextBox"/>
          <p:cNvSpPr txBox="1"/>
          <p:nvPr/>
        </p:nvSpPr>
        <p:spPr>
          <a:xfrm>
            <a:off x="7307428" y="4224528"/>
            <a:ext cx="4152748" cy="98755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Alert and Deny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registra no log e bloqueia</a:t>
            </a:r>
          </a:p>
        </p:txBody>
      </p:sp>
      <p:sp>
        <p:nvSpPr>
          <p:cNvPr id="3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PROTEÇÃO AVANÇADA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TLS inspection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O firewall abre o TLS, inspeciona e cifra de novo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34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O firewall abre o TLS, inspeciona e cifra de novo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Sem TLS inspection, o firewall vê o SNI, mas não a URL nem o conteúdo</a:t>
            </a:r>
          </a:p>
        </p:txBody>
      </p:sp>
      <p:sp>
        <p:nvSpPr>
          <p:cNvPr id="17" name="Shape"/>
          <p:cNvSpPr/>
          <p:nvPr/>
        </p:nvSpPr>
        <p:spPr>
          <a:xfrm>
            <a:off x="722376" y="1682496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47466" y="1807586"/>
            <a:ext cx="408188" cy="408188"/>
          </a:xfrm>
          <a:prstGeom prst="rect">
            <a:avLst/>
          </a:prstGeom>
        </p:spPr>
      </p:pic>
      <p:sp>
        <p:nvSpPr>
          <p:cNvPr id="19" name="TextBox"/>
          <p:cNvSpPr txBox="1"/>
          <p:nvPr/>
        </p:nvSpPr>
        <p:spPr>
          <a:xfrm>
            <a:off x="594360" y="2377440"/>
            <a:ext cx="914400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0">
                <a:solidFill>
                  <a:srgbClr val="3B4A5E"/>
                </a:solidFill>
                <a:latin typeface="Segoe UI"/>
              </a:rPr>
              <a:t>VM</a:t>
            </a:r>
          </a:p>
        </p:txBody>
      </p:sp>
      <p:sp>
        <p:nvSpPr>
          <p:cNvPr id="20" name="Shape"/>
          <p:cNvSpPr/>
          <p:nvPr/>
        </p:nvSpPr>
        <p:spPr>
          <a:xfrm>
            <a:off x="5525719" y="1441094"/>
            <a:ext cx="1141171" cy="1141171"/>
          </a:xfrm>
          <a:prstGeom prst="ellipse">
            <a:avLst/>
          </a:prstGeom>
          <a:solidFill>
            <a:srgbClr val="0078D4">
              <a:alpha val="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Shape"/>
          <p:cNvSpPr/>
          <p:nvPr/>
        </p:nvSpPr>
        <p:spPr>
          <a:xfrm>
            <a:off x="5628132" y="1543507"/>
            <a:ext cx="936346" cy="936346"/>
          </a:xfrm>
          <a:prstGeom prst="ellipse">
            <a:avLst/>
          </a:prstGeom>
          <a:solidFill>
            <a:srgbClr val="0078D4">
              <a:alpha val="1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Shape"/>
          <p:cNvSpPr/>
          <p:nvPr/>
        </p:nvSpPr>
        <p:spPr>
          <a:xfrm>
            <a:off x="5730545" y="1645920"/>
            <a:ext cx="731520" cy="7315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5876849" y="1792224"/>
            <a:ext cx="438912" cy="438912"/>
          </a:xfrm>
          <a:prstGeom prst="rect">
            <a:avLst/>
          </a:prstGeom>
        </p:spPr>
      </p:pic>
      <p:sp>
        <p:nvSpPr>
          <p:cNvPr id="24" name="TextBox"/>
          <p:cNvSpPr txBox="1"/>
          <p:nvPr/>
        </p:nvSpPr>
        <p:spPr>
          <a:xfrm>
            <a:off x="4816145" y="2615184"/>
            <a:ext cx="256032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0B1B3F"/>
                </a:solidFill>
                <a:latin typeface="Segoe UI"/>
              </a:rPr>
              <a:t>Azure Firewall Premium</a:t>
            </a:r>
          </a:p>
        </p:txBody>
      </p:sp>
      <p:sp>
        <p:nvSpPr>
          <p:cNvPr id="25" name="Shape"/>
          <p:cNvSpPr/>
          <p:nvPr/>
        </p:nvSpPr>
        <p:spPr>
          <a:xfrm>
            <a:off x="9128455" y="1719072"/>
            <a:ext cx="2514600" cy="585216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0B1B3F"/>
                </a:solidFill>
                <a:latin typeface="Consolas"/>
              </a:rPr>
              <a:t>www.contoso.com</a:t>
            </a:r>
          </a:p>
        </p:txBody>
      </p:sp>
      <p:sp>
        <p:nvSpPr>
          <p:cNvPr id="26" name="Shape"/>
          <p:cNvSpPr/>
          <p:nvPr/>
        </p:nvSpPr>
        <p:spPr>
          <a:xfrm>
            <a:off x="1417320" y="2000250"/>
            <a:ext cx="4004158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 rot="5400000">
            <a:off x="5373929" y="1952244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>
            <a:off x="6699809" y="2000250"/>
            <a:ext cx="2311603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9" name="Shape"/>
          <p:cNvSpPr/>
          <p:nvPr/>
        </p:nvSpPr>
        <p:spPr>
          <a:xfrm rot="5400000">
            <a:off x="8963863" y="1952244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0" name="Shape"/>
          <p:cNvSpPr/>
          <p:nvPr/>
        </p:nvSpPr>
        <p:spPr>
          <a:xfrm>
            <a:off x="1600200" y="2816352"/>
            <a:ext cx="3291840" cy="658368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Box"/>
          <p:cNvSpPr txBox="1"/>
          <p:nvPr/>
        </p:nvSpPr>
        <p:spPr>
          <a:xfrm>
            <a:off x="1691640" y="2852928"/>
            <a:ext cx="3108960" cy="58521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05A9E"/>
                </a:solidFill>
                <a:latin typeface="Segoe UI"/>
              </a:rPr>
              <a:t>Conexão TLS 1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certificado gerado na hora</a:t>
            </a:r>
          </a:p>
        </p:txBody>
      </p:sp>
      <p:sp>
        <p:nvSpPr>
          <p:cNvPr id="32" name="Shape"/>
          <p:cNvSpPr/>
          <p:nvPr/>
        </p:nvSpPr>
        <p:spPr>
          <a:xfrm>
            <a:off x="7296912" y="2816352"/>
            <a:ext cx="3291840" cy="658368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Box"/>
          <p:cNvSpPr txBox="1"/>
          <p:nvPr/>
        </p:nvSpPr>
        <p:spPr>
          <a:xfrm>
            <a:off x="7388352" y="2852928"/>
            <a:ext cx="3108960" cy="58521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005A9E"/>
                </a:solidFill>
                <a:latin typeface="Segoe UI"/>
              </a:rPr>
              <a:t>Conexão TLS 2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certificado real do site</a:t>
            </a:r>
          </a:p>
        </p:txBody>
      </p:sp>
      <p:sp>
        <p:nvSpPr>
          <p:cNvPr id="34" name="Shape"/>
          <p:cNvSpPr/>
          <p:nvPr/>
        </p:nvSpPr>
        <p:spPr>
          <a:xfrm>
            <a:off x="6086246" y="2907792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5" name="Shape"/>
          <p:cNvSpPr/>
          <p:nvPr/>
        </p:nvSpPr>
        <p:spPr>
          <a:xfrm>
            <a:off x="6086246" y="3017520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6" name="Shape"/>
          <p:cNvSpPr/>
          <p:nvPr/>
        </p:nvSpPr>
        <p:spPr>
          <a:xfrm>
            <a:off x="6086246" y="3127248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7" name="Shape"/>
          <p:cNvSpPr/>
          <p:nvPr/>
        </p:nvSpPr>
        <p:spPr>
          <a:xfrm>
            <a:off x="6086246" y="3236976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6086246" y="3346704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39" name="Shape"/>
          <p:cNvSpPr/>
          <p:nvPr/>
        </p:nvSpPr>
        <p:spPr>
          <a:xfrm>
            <a:off x="6086246" y="3456432"/>
            <a:ext cx="20117" cy="64008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0" name="Shape"/>
          <p:cNvSpPr/>
          <p:nvPr/>
        </p:nvSpPr>
        <p:spPr>
          <a:xfrm>
            <a:off x="5767121" y="354787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1" name="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5892211" y="3672962"/>
            <a:ext cx="408188" cy="408188"/>
          </a:xfrm>
          <a:prstGeom prst="rect">
            <a:avLst/>
          </a:prstGeom>
        </p:spPr>
      </p:pic>
      <p:sp>
        <p:nvSpPr>
          <p:cNvPr id="42" name="TextBox"/>
          <p:cNvSpPr txBox="1"/>
          <p:nvPr/>
        </p:nvSpPr>
        <p:spPr>
          <a:xfrm>
            <a:off x="4633265" y="4224528"/>
            <a:ext cx="2926080" cy="512064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sz="1500" b="1">
                <a:solidFill>
                  <a:srgbClr val="0B1B3F"/>
                </a:solidFill>
                <a:latin typeface="Segoe UI"/>
              </a:rPr>
              <a:t>Key Vault</a:t>
            </a:r>
          </a:p>
          <a:p>
            <a:pPr algn="ctr"/>
            <a:r>
              <a:rPr sz="1300" b="0">
                <a:solidFill>
                  <a:srgbClr val="3B4A5E"/>
                </a:solidFill>
                <a:latin typeface="Segoe UI"/>
              </a:rPr>
              <a:t>CA intermediária (secret)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6599225" y="3639312"/>
            <a:ext cx="2651760" cy="49377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managed identity com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Get/List em secrets</a:t>
            </a:r>
          </a:p>
        </p:txBody>
      </p:sp>
      <p:sp>
        <p:nvSpPr>
          <p:cNvPr id="44" name="Shape"/>
          <p:cNvSpPr/>
          <p:nvPr/>
        </p:nvSpPr>
        <p:spPr>
          <a:xfrm>
            <a:off x="548640" y="3675888"/>
            <a:ext cx="3520440" cy="73152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"/>
          <p:cNvSpPr txBox="1"/>
          <p:nvPr/>
        </p:nvSpPr>
        <p:spPr>
          <a:xfrm>
            <a:off x="777240" y="3712464"/>
            <a:ext cx="3063240" cy="65836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0B1B3F"/>
                </a:solidFill>
                <a:latin typeface="Segoe UI"/>
              </a:rPr>
              <a:t>A VM confia na CA raiz</a:t>
            </a:r>
          </a:p>
          <a:p>
            <a:pPr algn="l"/>
            <a:r>
              <a:rPr sz="1300" b="0">
                <a:solidFill>
                  <a:srgbClr val="3B4A5E"/>
                </a:solidFill>
                <a:latin typeface="Segoe UI"/>
              </a:rPr>
              <a:t>que assinou a intermediária</a:t>
            </a:r>
          </a:p>
        </p:txBody>
      </p:sp>
      <p:sp>
        <p:nvSpPr>
          <p:cNvPr id="46" name="Shape"/>
          <p:cNvSpPr/>
          <p:nvPr/>
        </p:nvSpPr>
        <p:spPr>
          <a:xfrm>
            <a:off x="548640" y="4791456"/>
            <a:ext cx="3515258" cy="530352"/>
          </a:xfrm>
          <a:prstGeom prst="rect">
            <a:avLst/>
          </a:prstGeom>
          <a:solidFill>
            <a:srgbClr val="E9F4E9"/>
          </a:solidFill>
          <a:ln w="12700">
            <a:solidFill>
              <a:srgbClr val="107C1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Box"/>
          <p:cNvSpPr txBox="1"/>
          <p:nvPr/>
        </p:nvSpPr>
        <p:spPr>
          <a:xfrm>
            <a:off x="640080" y="4828032"/>
            <a:ext cx="3332378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0E6A0E"/>
                </a:solidFill>
                <a:latin typeface="Segoe UI"/>
              </a:rPr>
              <a:t>Saída</a:t>
            </a:r>
          </a:p>
          <a:p>
            <a:pPr algn="ctr"/>
            <a:r>
              <a:rPr sz="1250" b="0">
                <a:solidFill>
                  <a:srgbClr val="1B2333"/>
                </a:solidFill>
                <a:latin typeface="Segoe UI"/>
              </a:rPr>
              <a:t>suportado</a:t>
            </a:r>
          </a:p>
        </p:txBody>
      </p:sp>
      <p:sp>
        <p:nvSpPr>
          <p:cNvPr id="48" name="Shape"/>
          <p:cNvSpPr/>
          <p:nvPr/>
        </p:nvSpPr>
        <p:spPr>
          <a:xfrm>
            <a:off x="4338218" y="4791456"/>
            <a:ext cx="3515258" cy="530352"/>
          </a:xfrm>
          <a:prstGeom prst="rect">
            <a:avLst/>
          </a:prstGeom>
          <a:solidFill>
            <a:srgbClr val="E9F4E9"/>
          </a:solidFill>
          <a:ln w="12700">
            <a:solidFill>
              <a:srgbClr val="107C1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TextBox"/>
          <p:cNvSpPr txBox="1"/>
          <p:nvPr/>
        </p:nvSpPr>
        <p:spPr>
          <a:xfrm>
            <a:off x="4429658" y="4828032"/>
            <a:ext cx="3332378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0E6A0E"/>
                </a:solidFill>
                <a:latin typeface="Segoe UI"/>
              </a:rPr>
              <a:t>Leste-oeste</a:t>
            </a:r>
          </a:p>
          <a:p>
            <a:pPr algn="ctr"/>
            <a:r>
              <a:rPr sz="1250" b="0">
                <a:solidFill>
                  <a:srgbClr val="1B2333"/>
                </a:solidFill>
                <a:latin typeface="Segoe UI"/>
              </a:rPr>
              <a:t>suportado</a:t>
            </a:r>
          </a:p>
        </p:txBody>
      </p:sp>
      <p:sp>
        <p:nvSpPr>
          <p:cNvPr id="50" name="Shape"/>
          <p:cNvSpPr/>
          <p:nvPr/>
        </p:nvSpPr>
        <p:spPr>
          <a:xfrm>
            <a:off x="8127797" y="4791456"/>
            <a:ext cx="3515258" cy="53035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TextBox"/>
          <p:cNvSpPr txBox="1"/>
          <p:nvPr/>
        </p:nvSpPr>
        <p:spPr>
          <a:xfrm>
            <a:off x="8219237" y="4828032"/>
            <a:ext cx="3332378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0B1B3F"/>
                </a:solidFill>
                <a:latin typeface="Segoe UI"/>
              </a:rPr>
              <a:t>Entrada</a:t>
            </a:r>
          </a:p>
          <a:p>
            <a:pPr algn="ctr"/>
            <a:r>
              <a:rPr sz="1250" b="0">
                <a:solidFill>
                  <a:srgbClr val="3B4A5E"/>
                </a:solidFill>
                <a:latin typeface="Segoe UI"/>
              </a:rPr>
              <a:t>Application Gateway (WAF)</a:t>
            </a:r>
          </a:p>
        </p:txBody>
      </p:sp>
      <p:sp>
        <p:nvSpPr>
          <p:cNvPr id="52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PROTEÇÃO AVANÇADA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URL filtering, web categories e explicit proxy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Do domínio à URL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35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Do domínio à URL: quanto mais fundo, mais o firewall precisa abrir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URL inteira e categorias por URL dependem do Premium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3484778" cy="144475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Box"/>
          <p:cNvSpPr txBox="1"/>
          <p:nvPr/>
        </p:nvSpPr>
        <p:spPr>
          <a:xfrm>
            <a:off x="804672" y="1737360"/>
            <a:ext cx="3073298" cy="12618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FQDN filtering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B2333"/>
                </a:solidFill>
                <a:latin typeface="Consolas"/>
              </a:rPr>
              <a:t>www.contoso.com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3B4A5E"/>
                </a:solidFill>
                <a:latin typeface="Segoe UI"/>
              </a:rPr>
              <a:t>Standard e Premium</a:t>
            </a:r>
          </a:p>
          <a:p>
            <a:pPr algn="l"/>
            <a:r>
              <a:rPr sz="1350" b="0">
                <a:solidFill>
                  <a:srgbClr val="3B4A5E"/>
                </a:solidFill>
                <a:latin typeface="Segoe UI"/>
              </a:rPr>
              <a:t>SNI/Host, sem abrir o TLS</a:t>
            </a:r>
          </a:p>
        </p:txBody>
      </p:sp>
      <p:sp>
        <p:nvSpPr>
          <p:cNvPr id="19" name="Shape"/>
          <p:cNvSpPr/>
          <p:nvPr/>
        </p:nvSpPr>
        <p:spPr>
          <a:xfrm>
            <a:off x="4079138" y="2358238"/>
            <a:ext cx="162763" cy="20117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0" name="Shape"/>
          <p:cNvSpPr/>
          <p:nvPr/>
        </p:nvSpPr>
        <p:spPr>
          <a:xfrm rot="5400000">
            <a:off x="4198010" y="2313432"/>
            <a:ext cx="109728" cy="109728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1" name="Shape"/>
          <p:cNvSpPr/>
          <p:nvPr/>
        </p:nvSpPr>
        <p:spPr>
          <a:xfrm>
            <a:off x="4353458" y="1645920"/>
            <a:ext cx="3484778" cy="1444752"/>
          </a:xfrm>
          <a:prstGeom prst="rect">
            <a:avLst/>
          </a:prstGeom>
          <a:solidFill>
            <a:srgbClr val="EFF6FC"/>
          </a:solidFill>
          <a:ln w="9525">
            <a:solidFill>
              <a:srgbClr val="BFD5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extBox"/>
          <p:cNvSpPr txBox="1"/>
          <p:nvPr/>
        </p:nvSpPr>
        <p:spPr>
          <a:xfrm>
            <a:off x="4609490" y="1737360"/>
            <a:ext cx="3073298" cy="12618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URL filtering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B2333"/>
                </a:solidFill>
                <a:latin typeface="Consolas"/>
              </a:rPr>
              <a:t>www.contoso.com/a/c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3B4A5E"/>
                </a:solidFill>
                <a:latin typeface="Segoe UI"/>
              </a:rPr>
              <a:t>Premium</a:t>
            </a:r>
          </a:p>
          <a:p>
            <a:pPr algn="l"/>
            <a:r>
              <a:rPr sz="1350" b="0">
                <a:solidFill>
                  <a:srgbClr val="3B4A5E"/>
                </a:solidFill>
                <a:latin typeface="Segoe UI"/>
              </a:rPr>
              <a:t>HTTPS exige TLS inspection</a:t>
            </a:r>
          </a:p>
        </p:txBody>
      </p:sp>
      <p:sp>
        <p:nvSpPr>
          <p:cNvPr id="23" name="Shape"/>
          <p:cNvSpPr/>
          <p:nvPr/>
        </p:nvSpPr>
        <p:spPr>
          <a:xfrm>
            <a:off x="7883957" y="2358238"/>
            <a:ext cx="162763" cy="20117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4" name="Shape"/>
          <p:cNvSpPr/>
          <p:nvPr/>
        </p:nvSpPr>
        <p:spPr>
          <a:xfrm rot="5400000">
            <a:off x="8002829" y="2313432"/>
            <a:ext cx="109728" cy="109728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5" name="Shape"/>
          <p:cNvSpPr/>
          <p:nvPr/>
        </p:nvSpPr>
        <p:spPr>
          <a:xfrm>
            <a:off x="8158277" y="1645920"/>
            <a:ext cx="3484778" cy="1444752"/>
          </a:xfrm>
          <a:prstGeom prst="rect">
            <a:avLst/>
          </a:prstGeom>
          <a:solidFill>
            <a:srgbClr val="DEECF9"/>
          </a:solidFill>
          <a:ln w="9525">
            <a:solidFill>
              <a:srgbClr val="BFD5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Box"/>
          <p:cNvSpPr txBox="1"/>
          <p:nvPr/>
        </p:nvSpPr>
        <p:spPr>
          <a:xfrm>
            <a:off x="8414309" y="1737360"/>
            <a:ext cx="3073298" cy="126187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Web categories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B2333"/>
                </a:solidFill>
                <a:latin typeface="Segoe UI"/>
              </a:rPr>
              <a:t>jogos, redes sociais…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3B4A5E"/>
                </a:solidFill>
                <a:latin typeface="Segoe UI"/>
              </a:rPr>
              <a:t>Standard: pelo FQDN</a:t>
            </a:r>
          </a:p>
          <a:p>
            <a:pPr algn="l"/>
            <a:r>
              <a:rPr sz="1350" b="0">
                <a:solidFill>
                  <a:srgbClr val="3B4A5E"/>
                </a:solidFill>
                <a:latin typeface="Segoe UI"/>
              </a:rPr>
              <a:t>Premium: pela URL inteira</a:t>
            </a:r>
          </a:p>
        </p:txBody>
      </p:sp>
      <p:sp>
        <p:nvSpPr>
          <p:cNvPr id="27" name="Shape"/>
          <p:cNvSpPr/>
          <p:nvPr/>
        </p:nvSpPr>
        <p:spPr>
          <a:xfrm>
            <a:off x="548640" y="3255264"/>
            <a:ext cx="11094415" cy="786384"/>
          </a:xfrm>
          <a:prstGeom prst="rect">
            <a:avLst/>
          </a:prstGeom>
          <a:solidFill>
            <a:srgbClr val="FDF2E4"/>
          </a:solidFill>
          <a:ln w="15875">
            <a:solidFill>
              <a:srgbClr val="B4530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TextBox"/>
          <p:cNvSpPr txBox="1"/>
          <p:nvPr/>
        </p:nvSpPr>
        <p:spPr>
          <a:xfrm>
            <a:off x="822960" y="3291840"/>
            <a:ext cx="10545775" cy="7132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9A4507"/>
                </a:solidFill>
                <a:latin typeface="Segoe UI"/>
              </a:rPr>
              <a:t>Exceção por prioridade</a:t>
            </a:r>
          </a:p>
          <a:p>
            <a:pPr algn="l"/>
            <a:r>
              <a:rPr sz="1400" b="0">
                <a:solidFill>
                  <a:srgbClr val="1B2333"/>
                </a:solidFill>
                <a:latin typeface="Segoe UI"/>
              </a:rPr>
              <a:t>Allow www.linkedin.com (100) antes de Deny Social networking (200)</a:t>
            </a:r>
          </a:p>
        </p:txBody>
      </p:sp>
      <p:sp>
        <p:nvSpPr>
          <p:cNvPr id="29" name="Shape"/>
          <p:cNvSpPr/>
          <p:nvPr/>
        </p:nvSpPr>
        <p:spPr>
          <a:xfrm>
            <a:off x="548640" y="4206240"/>
            <a:ext cx="5432908" cy="10972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Box"/>
          <p:cNvSpPr txBox="1"/>
          <p:nvPr/>
        </p:nvSpPr>
        <p:spPr>
          <a:xfrm>
            <a:off x="822960" y="4261104"/>
            <a:ext cx="4975708" cy="98755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Transparente · padrão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 UDR leva o tráfego ao firewall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 aplicação não sabe do proxy</a:t>
            </a:r>
          </a:p>
        </p:txBody>
      </p:sp>
      <p:sp>
        <p:nvSpPr>
          <p:cNvPr id="31" name="Shape"/>
          <p:cNvSpPr/>
          <p:nvPr/>
        </p:nvSpPr>
        <p:spPr>
          <a:xfrm>
            <a:off x="6210148" y="4206240"/>
            <a:ext cx="5432908" cy="10972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Box"/>
          <p:cNvSpPr txBox="1"/>
          <p:nvPr/>
        </p:nvSpPr>
        <p:spPr>
          <a:xfrm>
            <a:off x="6484468" y="4261104"/>
            <a:ext cx="4975708" cy="98755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Explicit proxy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 aplicação aponta para o IP privado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HTTP/HTTPS · arquivo PAC · na policy</a:t>
            </a:r>
          </a:p>
        </p:txBody>
      </p:sp>
      <p:sp>
        <p:nvSpPr>
          <p:cNvPr id="33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PROTEÇÃO AVANÇADA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Logs: tabelas resource specific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Do firewall ao Log Analytics, uma tabela por categoria</a:t>
            </a:r>
            <a:endParaRPr lang="en-US" sz="1600"/>
          </a:p>
        </p:txBody>
      </p:sp>
      <p:sp>
        <p:nvSpPr>
          <p:cNvPr id="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OPERAÇÃO</a:t>
            </a:r>
          </a:p>
        </p:txBody>
      </p:sp>
      <p:sp>
        <p:nvSpPr>
          <p:cNvPr id="6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36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5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6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7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Cada match de regra vira uma linha de log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Sem diagnostic setting, não há evidência para investigar</a:t>
            </a:r>
          </a:p>
        </p:txBody>
      </p:sp>
      <p:sp>
        <p:nvSpPr>
          <p:cNvPr id="18" name="Shape"/>
          <p:cNvSpPr/>
          <p:nvPr/>
        </p:nvSpPr>
        <p:spPr>
          <a:xfrm>
            <a:off x="516453" y="1796613"/>
            <a:ext cx="1198230" cy="1198230"/>
          </a:xfrm>
          <a:prstGeom prst="ellipse">
            <a:avLst/>
          </a:prstGeom>
          <a:solidFill>
            <a:srgbClr val="0078D4">
              <a:alpha val="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Shape"/>
          <p:cNvSpPr/>
          <p:nvPr/>
        </p:nvSpPr>
        <p:spPr>
          <a:xfrm>
            <a:off x="623987" y="1904147"/>
            <a:ext cx="983163" cy="983163"/>
          </a:xfrm>
          <a:prstGeom prst="ellipse">
            <a:avLst/>
          </a:prstGeom>
          <a:solidFill>
            <a:srgbClr val="0078D4">
              <a:alpha val="1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Shape"/>
          <p:cNvSpPr/>
          <p:nvPr/>
        </p:nvSpPr>
        <p:spPr>
          <a:xfrm>
            <a:off x="731520" y="2011680"/>
            <a:ext cx="768096" cy="7680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85139" y="2165299"/>
            <a:ext cx="460858" cy="460858"/>
          </a:xfrm>
          <a:prstGeom prst="rect">
            <a:avLst/>
          </a:prstGeom>
        </p:spPr>
      </p:pic>
      <p:sp>
        <p:nvSpPr>
          <p:cNvPr id="22" name="TextBox"/>
          <p:cNvSpPr txBox="1"/>
          <p:nvPr/>
        </p:nvSpPr>
        <p:spPr>
          <a:xfrm>
            <a:off x="384048" y="2962656"/>
            <a:ext cx="1481328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50" b="1">
                <a:solidFill>
                  <a:srgbClr val="0B1B3F"/>
                </a:solidFill>
                <a:latin typeface="Segoe UI"/>
              </a:rPr>
              <a:t>Azure Firewall</a:t>
            </a:r>
          </a:p>
        </p:txBody>
      </p:sp>
      <p:sp>
        <p:nvSpPr>
          <p:cNvPr id="23" name="Shape"/>
          <p:cNvSpPr/>
          <p:nvPr/>
        </p:nvSpPr>
        <p:spPr>
          <a:xfrm>
            <a:off x="1691640" y="2384298"/>
            <a:ext cx="413309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4" name="Shape"/>
          <p:cNvSpPr/>
          <p:nvPr/>
        </p:nvSpPr>
        <p:spPr>
          <a:xfrm rot="5400000">
            <a:off x="2057400" y="2336292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5" name="Shape"/>
          <p:cNvSpPr/>
          <p:nvPr/>
        </p:nvSpPr>
        <p:spPr>
          <a:xfrm>
            <a:off x="2212848" y="1993392"/>
            <a:ext cx="2651760" cy="804672"/>
          </a:xfrm>
          <a:prstGeom prst="roundRect">
            <a:avLst/>
          </a:prstGeom>
          <a:solidFill>
            <a:srgbClr val="005A9E"/>
          </a:solidFill>
        </p:spPr>
        <p:txBody>
          <a:bodyPr/>
          <a:lstStyle/>
          <a:p>
            <a:endParaRPr/>
          </a:p>
        </p:txBody>
      </p:sp>
      <p:sp>
        <p:nvSpPr>
          <p:cNvPr id="26" name="TextBox"/>
          <p:cNvSpPr txBox="1"/>
          <p:nvPr/>
        </p:nvSpPr>
        <p:spPr>
          <a:xfrm>
            <a:off x="2304288" y="2029968"/>
            <a:ext cx="2468880" cy="731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Diagnostic setting</a:t>
            </a:r>
          </a:p>
          <a:p>
            <a:pPr algn="ctr"/>
            <a:r>
              <a:rPr sz="1350" b="0">
                <a:solidFill>
                  <a:srgbClr val="FFFFFF"/>
                </a:solidFill>
                <a:latin typeface="Segoe UI"/>
              </a:rPr>
              <a:t>modo resource specific</a:t>
            </a:r>
          </a:p>
        </p:txBody>
      </p:sp>
      <p:sp>
        <p:nvSpPr>
          <p:cNvPr id="27" name="Shape"/>
          <p:cNvSpPr/>
          <p:nvPr/>
        </p:nvSpPr>
        <p:spPr>
          <a:xfrm>
            <a:off x="4901184" y="2384298"/>
            <a:ext cx="422453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 rot="5400000">
            <a:off x="5276088" y="2336292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29" name="Shape"/>
          <p:cNvSpPr/>
          <p:nvPr/>
        </p:nvSpPr>
        <p:spPr>
          <a:xfrm>
            <a:off x="5422392" y="2011680"/>
            <a:ext cx="768096" cy="7680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0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5568330" y="2157618"/>
            <a:ext cx="476220" cy="476220"/>
          </a:xfrm>
          <a:prstGeom prst="rect">
            <a:avLst/>
          </a:prstGeom>
        </p:spPr>
      </p:pic>
      <p:sp>
        <p:nvSpPr>
          <p:cNvPr id="31" name="TextBox"/>
          <p:cNvSpPr txBox="1"/>
          <p:nvPr/>
        </p:nvSpPr>
        <p:spPr>
          <a:xfrm>
            <a:off x="4983480" y="2962656"/>
            <a:ext cx="1645920" cy="274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1350" b="1">
                <a:solidFill>
                  <a:srgbClr val="0B1B3F"/>
                </a:solidFill>
                <a:latin typeface="Segoe UI"/>
              </a:rPr>
              <a:t>Log Analytics</a:t>
            </a:r>
          </a:p>
        </p:txBody>
      </p:sp>
      <p:sp>
        <p:nvSpPr>
          <p:cNvPr id="32" name="Shape"/>
          <p:cNvSpPr/>
          <p:nvPr/>
        </p:nvSpPr>
        <p:spPr>
          <a:xfrm>
            <a:off x="6236208" y="2384298"/>
            <a:ext cx="504749" cy="22860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 rot="5400000">
            <a:off x="6693408" y="2336292"/>
            <a:ext cx="118872" cy="118872"/>
          </a:xfrm>
          <a:prstGeom prst="triangle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6858000" y="1645920"/>
            <a:ext cx="4785055" cy="217627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Box"/>
          <p:cNvSpPr txBox="1"/>
          <p:nvPr/>
        </p:nvSpPr>
        <p:spPr>
          <a:xfrm>
            <a:off x="7132320" y="1737360"/>
            <a:ext cx="4327855" cy="31089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3B4A5E"/>
                </a:solidFill>
                <a:latin typeface="Segoe UI"/>
              </a:rPr>
              <a:t>uma tabela por categoria</a:t>
            </a:r>
          </a:p>
        </p:txBody>
      </p:sp>
      <p:sp>
        <p:nvSpPr>
          <p:cNvPr id="36" name="Shape"/>
          <p:cNvSpPr/>
          <p:nvPr/>
        </p:nvSpPr>
        <p:spPr>
          <a:xfrm>
            <a:off x="7132320" y="2157984"/>
            <a:ext cx="2026768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8"/>
            </a:solidFill>
          </a:ln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1B2333"/>
                </a:solidFill>
                <a:latin typeface="Consolas"/>
              </a:rPr>
              <a:t>AZFWNetworkRule</a:t>
            </a:r>
          </a:p>
        </p:txBody>
      </p:sp>
      <p:sp>
        <p:nvSpPr>
          <p:cNvPr id="37" name="Shape"/>
          <p:cNvSpPr/>
          <p:nvPr/>
        </p:nvSpPr>
        <p:spPr>
          <a:xfrm>
            <a:off x="9341968" y="2157984"/>
            <a:ext cx="2026768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8"/>
            </a:solidFill>
          </a:ln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1B2333"/>
                </a:solidFill>
                <a:latin typeface="Consolas"/>
              </a:rPr>
              <a:t>AZFWApplicationRule</a:t>
            </a:r>
          </a:p>
        </p:txBody>
      </p:sp>
      <p:sp>
        <p:nvSpPr>
          <p:cNvPr id="38" name="Shape"/>
          <p:cNvSpPr/>
          <p:nvPr/>
        </p:nvSpPr>
        <p:spPr>
          <a:xfrm>
            <a:off x="7132320" y="2688336"/>
            <a:ext cx="2026768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8"/>
            </a:solidFill>
          </a:ln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1B2333"/>
                </a:solidFill>
                <a:latin typeface="Consolas"/>
              </a:rPr>
              <a:t>AZFWNatRule</a:t>
            </a:r>
          </a:p>
        </p:txBody>
      </p:sp>
      <p:sp>
        <p:nvSpPr>
          <p:cNvPr id="39" name="Shape"/>
          <p:cNvSpPr/>
          <p:nvPr/>
        </p:nvSpPr>
        <p:spPr>
          <a:xfrm>
            <a:off x="9341968" y="2688336"/>
            <a:ext cx="2026768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8"/>
            </a:solidFill>
          </a:ln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1B2333"/>
                </a:solidFill>
                <a:latin typeface="Consolas"/>
              </a:rPr>
              <a:t>AZFWThreatIntel</a:t>
            </a:r>
          </a:p>
        </p:txBody>
      </p:sp>
      <p:sp>
        <p:nvSpPr>
          <p:cNvPr id="40" name="Shape"/>
          <p:cNvSpPr/>
          <p:nvPr/>
        </p:nvSpPr>
        <p:spPr>
          <a:xfrm>
            <a:off x="7132320" y="3218688"/>
            <a:ext cx="2026768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8"/>
            </a:solidFill>
          </a:ln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1B2333"/>
                </a:solidFill>
                <a:latin typeface="Consolas"/>
              </a:rPr>
              <a:t>AZFWIdpsSignature</a:t>
            </a:r>
          </a:p>
        </p:txBody>
      </p:sp>
      <p:sp>
        <p:nvSpPr>
          <p:cNvPr id="41" name="Shape"/>
          <p:cNvSpPr/>
          <p:nvPr/>
        </p:nvSpPr>
        <p:spPr>
          <a:xfrm>
            <a:off x="9341968" y="3218688"/>
            <a:ext cx="2026768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8"/>
            </a:solidFill>
          </a:ln>
        </p:spPr>
        <p:txBody>
          <a:bodyPr lIns="0" tIns="0" rIns="0" bIns="0" anchor="ctr"/>
          <a:lstStyle/>
          <a:p>
            <a:pPr algn="ctr"/>
            <a:r>
              <a:rPr sz="1300" b="0">
                <a:solidFill>
                  <a:srgbClr val="1B2333"/>
                </a:solidFill>
                <a:latin typeface="Consolas"/>
              </a:rPr>
              <a:t>AZFWDnsQuery</a:t>
            </a:r>
          </a:p>
        </p:txBody>
      </p:sp>
      <p:sp>
        <p:nvSpPr>
          <p:cNvPr id="42" name="Shape"/>
          <p:cNvSpPr/>
          <p:nvPr/>
        </p:nvSpPr>
        <p:spPr>
          <a:xfrm>
            <a:off x="548640" y="4023360"/>
            <a:ext cx="5432908" cy="1261872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Box"/>
          <p:cNvSpPr txBox="1"/>
          <p:nvPr/>
        </p:nvSpPr>
        <p:spPr>
          <a:xfrm>
            <a:off x="822960" y="4078224"/>
            <a:ext cx="4975708" cy="11521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AzureDiagnostics · legado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uma tabela para tudo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consultas mais pesadas</a:t>
            </a:r>
          </a:p>
        </p:txBody>
      </p:sp>
      <p:sp>
        <p:nvSpPr>
          <p:cNvPr id="44" name="Shape"/>
          <p:cNvSpPr/>
          <p:nvPr/>
        </p:nvSpPr>
        <p:spPr>
          <a:xfrm>
            <a:off x="6210148" y="4023360"/>
            <a:ext cx="5432908" cy="1261872"/>
          </a:xfrm>
          <a:prstGeom prst="rect">
            <a:avLst/>
          </a:prstGeom>
          <a:solidFill>
            <a:srgbClr val="EFF6FC"/>
          </a:solidFill>
          <a:ln w="1905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"/>
          <p:cNvSpPr txBox="1"/>
          <p:nvPr/>
        </p:nvSpPr>
        <p:spPr>
          <a:xfrm>
            <a:off x="6484468" y="4078224"/>
            <a:ext cx="4975708" cy="11521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05A9E"/>
                </a:solidFill>
                <a:latin typeface="Segoe UI"/>
              </a:rPr>
              <a:t>Resource specific · recomendado</a:t>
            </a:r>
          </a:p>
          <a:p>
            <a:pPr algn="l"/>
            <a:r>
              <a:rPr sz="1400" b="0">
                <a:solidFill>
                  <a:srgbClr val="1B2333"/>
                </a:solidFill>
                <a:latin typeface="Segoe UI"/>
              </a:rPr>
              <a:t>até 80% menos custo de log</a:t>
            </a:r>
          </a:p>
          <a:p>
            <a:pPr algn="l"/>
            <a:r>
              <a:rPr sz="1400" b="0">
                <a:solidFill>
                  <a:srgbClr val="1B2333"/>
                </a:solidFill>
                <a:latin typeface="Segoe UI"/>
              </a:rPr>
              <a:t>consultas mais simples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Workbook e KQL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O workbook mostra o padrão; a KQL explica o caso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37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Workbook mostra o padrão; KQL explica o caso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Os dois leem as mesmas tabelas resource specific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5432908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Shape"/>
          <p:cNvSpPr/>
          <p:nvPr/>
        </p:nvSpPr>
        <p:spPr>
          <a:xfrm>
            <a:off x="768096" y="1819656"/>
            <a:ext cx="749808" cy="7498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9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910560" y="1962120"/>
            <a:ext cx="464881" cy="464881"/>
          </a:xfrm>
          <a:prstGeom prst="rect">
            <a:avLst/>
          </a:prstGeom>
        </p:spPr>
      </p:pic>
      <p:sp>
        <p:nvSpPr>
          <p:cNvPr id="20" name="TextBox"/>
          <p:cNvSpPr txBox="1"/>
          <p:nvPr/>
        </p:nvSpPr>
        <p:spPr>
          <a:xfrm>
            <a:off x="1691640" y="1847088"/>
            <a:ext cx="4152748" cy="6949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Azure Firewall Workbook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visão pronta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868680" y="2907792"/>
            <a:ext cx="4792828" cy="1280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0">
                <a:solidFill>
                  <a:srgbClr val="1B2333"/>
                </a:solidFill>
                <a:latin typeface="Segoe UI"/>
              </a:rPr>
              <a:t>vários firewalls num só painel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B2333"/>
                </a:solidFill>
                <a:latin typeface="Segoe UI"/>
              </a:rPr>
              <a:t>regras, IDPS, Threat Intel e DNS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B2333"/>
                </a:solidFill>
                <a:latin typeface="Segoe UI"/>
              </a:rPr>
              <a:t>filtros por tempo, firewall e regra</a:t>
            </a:r>
          </a:p>
        </p:txBody>
      </p:sp>
      <p:sp>
        <p:nvSpPr>
          <p:cNvPr id="22" name="Shape"/>
          <p:cNvSpPr/>
          <p:nvPr/>
        </p:nvSpPr>
        <p:spPr>
          <a:xfrm>
            <a:off x="822960" y="4498848"/>
            <a:ext cx="4884268" cy="56692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encontra o padrão</a:t>
            </a:r>
          </a:p>
        </p:txBody>
      </p:sp>
      <p:sp>
        <p:nvSpPr>
          <p:cNvPr id="23" name="Shape"/>
          <p:cNvSpPr/>
          <p:nvPr/>
        </p:nvSpPr>
        <p:spPr>
          <a:xfrm>
            <a:off x="6210148" y="1645920"/>
            <a:ext cx="5432908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Shape"/>
          <p:cNvSpPr/>
          <p:nvPr/>
        </p:nvSpPr>
        <p:spPr>
          <a:xfrm>
            <a:off x="6429604" y="1819656"/>
            <a:ext cx="749808" cy="7498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5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6572067" y="1962120"/>
            <a:ext cx="464881" cy="464881"/>
          </a:xfrm>
          <a:prstGeom prst="rect">
            <a:avLst/>
          </a:prstGeom>
        </p:spPr>
      </p:pic>
      <p:sp>
        <p:nvSpPr>
          <p:cNvPr id="26" name="TextBox"/>
          <p:cNvSpPr txBox="1"/>
          <p:nvPr/>
        </p:nvSpPr>
        <p:spPr>
          <a:xfrm>
            <a:off x="7353148" y="1847088"/>
            <a:ext cx="4152748" cy="69494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KQL no Log Analytics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pergunta específica</a:t>
            </a:r>
          </a:p>
        </p:txBody>
      </p:sp>
      <p:sp>
        <p:nvSpPr>
          <p:cNvPr id="27" name="Shape"/>
          <p:cNvSpPr/>
          <p:nvPr/>
        </p:nvSpPr>
        <p:spPr>
          <a:xfrm>
            <a:off x="6484468" y="2834640"/>
            <a:ext cx="4884268" cy="1426464"/>
          </a:xfrm>
          <a:prstGeom prst="rect">
            <a:avLst/>
          </a:prstGeom>
          <a:solidFill>
            <a:srgbClr val="0E1A33"/>
          </a:solidFill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>
            <a:off x="10801807" y="2980944"/>
            <a:ext cx="82296" cy="82296"/>
          </a:xfrm>
          <a:prstGeom prst="ellipse">
            <a:avLst/>
          </a:prstGeom>
          <a:solidFill>
            <a:srgbClr val="3A5683"/>
          </a:solidFill>
        </p:spPr>
        <p:txBody>
          <a:bodyPr/>
          <a:lstStyle/>
          <a:p>
            <a:endParaRPr/>
          </a:p>
        </p:txBody>
      </p:sp>
      <p:sp>
        <p:nvSpPr>
          <p:cNvPr id="29" name="Shape"/>
          <p:cNvSpPr/>
          <p:nvPr/>
        </p:nvSpPr>
        <p:spPr>
          <a:xfrm>
            <a:off x="10957255" y="2980944"/>
            <a:ext cx="82296" cy="82296"/>
          </a:xfrm>
          <a:prstGeom prst="ellipse">
            <a:avLst/>
          </a:prstGeom>
          <a:solidFill>
            <a:srgbClr val="3A5683"/>
          </a:solidFill>
        </p:spPr>
        <p:txBody>
          <a:bodyPr/>
          <a:lstStyle/>
          <a:p>
            <a:endParaRPr/>
          </a:p>
        </p:txBody>
      </p:sp>
      <p:sp>
        <p:nvSpPr>
          <p:cNvPr id="30" name="Shape"/>
          <p:cNvSpPr/>
          <p:nvPr/>
        </p:nvSpPr>
        <p:spPr>
          <a:xfrm>
            <a:off x="11112703" y="2980944"/>
            <a:ext cx="82296" cy="82296"/>
          </a:xfrm>
          <a:prstGeom prst="ellipse">
            <a:avLst/>
          </a:prstGeom>
          <a:solidFill>
            <a:srgbClr val="3A5683"/>
          </a:solidFill>
        </p:spPr>
        <p:txBody>
          <a:bodyPr/>
          <a:lstStyle/>
          <a:p>
            <a:endParaRPr/>
          </a:p>
        </p:txBody>
      </p:sp>
      <p:sp>
        <p:nvSpPr>
          <p:cNvPr id="31" name="TextBox"/>
          <p:cNvSpPr txBox="1"/>
          <p:nvPr/>
        </p:nvSpPr>
        <p:spPr>
          <a:xfrm>
            <a:off x="6758788" y="2944368"/>
            <a:ext cx="4061308" cy="12070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00" b="1">
                <a:solidFill>
                  <a:srgbClr val="50E6FF"/>
                </a:solidFill>
                <a:latin typeface="Consolas"/>
              </a:rPr>
              <a:t>AZFWApplicationRule</a:t>
            </a:r>
          </a:p>
          <a:p>
            <a:pPr algn="l"/>
            <a:r>
              <a:rPr sz="1500" b="0">
                <a:solidFill>
                  <a:srgbClr val="E6EDF7"/>
                </a:solidFill>
                <a:latin typeface="Consolas"/>
              </a:rPr>
              <a:t>| where Action == "Deny"</a:t>
            </a:r>
          </a:p>
          <a:p>
            <a:pPr algn="l"/>
            <a:r>
              <a:rPr sz="1500" b="0">
                <a:solidFill>
                  <a:srgbClr val="E6EDF7"/>
                </a:solidFill>
                <a:latin typeface="Consolas"/>
              </a:rPr>
              <a:t>| summarize count() by Fqdn</a:t>
            </a:r>
          </a:p>
        </p:txBody>
      </p:sp>
      <p:sp>
        <p:nvSpPr>
          <p:cNvPr id="32" name="Shape"/>
          <p:cNvSpPr/>
          <p:nvPr/>
        </p:nvSpPr>
        <p:spPr>
          <a:xfrm>
            <a:off x="6484468" y="4498848"/>
            <a:ext cx="4884268" cy="56692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explica o caso</a:t>
            </a:r>
          </a:p>
        </p:txBody>
      </p:sp>
      <p:sp>
        <p:nvSpPr>
          <p:cNvPr id="33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OPERAÇÃO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Métricas e alertas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Escolha a métrica pela pergunta</a:t>
            </a:r>
            <a:endParaRPr lang="en-US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38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Escolha a métrica pela pergunta que você quer responder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SNAT acima de 95%: o health state cai para Degraded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1645920"/>
            <a:ext cx="2567864" cy="193852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Shape"/>
          <p:cNvSpPr/>
          <p:nvPr/>
        </p:nvSpPr>
        <p:spPr>
          <a:xfrm>
            <a:off x="740664" y="183794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9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848380" y="1945660"/>
            <a:ext cx="351495" cy="351495"/>
          </a:xfrm>
          <a:prstGeom prst="rect">
            <a:avLst/>
          </a:prstGeom>
        </p:spPr>
      </p:pic>
      <p:sp>
        <p:nvSpPr>
          <p:cNvPr id="20" name="TextBox"/>
          <p:cNvSpPr txBox="1"/>
          <p:nvPr/>
        </p:nvSpPr>
        <p:spPr>
          <a:xfrm>
            <a:off x="777240" y="2542032"/>
            <a:ext cx="2202104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Health state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777240" y="2926080"/>
            <a:ext cx="2202104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saúde em %</a:t>
            </a:r>
          </a:p>
          <a:p>
            <a:pPr algn="l"/>
            <a:r>
              <a:rPr sz="1400" b="1">
                <a:solidFill>
                  <a:srgbClr val="1B2333"/>
                </a:solidFill>
                <a:latin typeface="Segoe UI"/>
              </a:rPr>
              <a:t>Healthy · Degraded</a:t>
            </a:r>
          </a:p>
        </p:txBody>
      </p:sp>
      <p:sp>
        <p:nvSpPr>
          <p:cNvPr id="22" name="Shape"/>
          <p:cNvSpPr/>
          <p:nvPr/>
        </p:nvSpPr>
        <p:spPr>
          <a:xfrm>
            <a:off x="3390824" y="1645920"/>
            <a:ext cx="2567864" cy="193852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Shape"/>
          <p:cNvSpPr/>
          <p:nvPr/>
        </p:nvSpPr>
        <p:spPr>
          <a:xfrm>
            <a:off x="3582848" y="183794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3690564" y="1945660"/>
            <a:ext cx="351495" cy="351495"/>
          </a:xfrm>
          <a:prstGeom prst="rect">
            <a:avLst/>
          </a:prstGeom>
        </p:spPr>
      </p:pic>
      <p:sp>
        <p:nvSpPr>
          <p:cNvPr id="25" name="TextBox"/>
          <p:cNvSpPr txBox="1"/>
          <p:nvPr/>
        </p:nvSpPr>
        <p:spPr>
          <a:xfrm>
            <a:off x="3619424" y="2542032"/>
            <a:ext cx="2202104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SNAT ports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3619424" y="2926080"/>
            <a:ext cx="2202104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uso das portas em %</a:t>
            </a:r>
          </a:p>
          <a:p>
            <a:pPr algn="l"/>
            <a:r>
              <a:rPr sz="1400" b="1">
                <a:solidFill>
                  <a:srgbClr val="1B2333"/>
                </a:solidFill>
                <a:latin typeface="Segoe UI"/>
              </a:rPr>
              <a:t>&gt; 95%: Degraded</a:t>
            </a:r>
          </a:p>
        </p:txBody>
      </p:sp>
      <p:sp>
        <p:nvSpPr>
          <p:cNvPr id="27" name="Shape"/>
          <p:cNvSpPr/>
          <p:nvPr/>
        </p:nvSpPr>
        <p:spPr>
          <a:xfrm>
            <a:off x="6233008" y="1645920"/>
            <a:ext cx="2567864" cy="193852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Shape"/>
          <p:cNvSpPr/>
          <p:nvPr/>
        </p:nvSpPr>
        <p:spPr>
          <a:xfrm>
            <a:off x="6425032" y="183794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9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6532748" y="1945660"/>
            <a:ext cx="351495" cy="351495"/>
          </a:xfrm>
          <a:prstGeom prst="rect">
            <a:avLst/>
          </a:prstGeom>
        </p:spPr>
      </p:pic>
      <p:sp>
        <p:nvSpPr>
          <p:cNvPr id="30" name="TextBox"/>
          <p:cNvSpPr txBox="1"/>
          <p:nvPr/>
        </p:nvSpPr>
        <p:spPr>
          <a:xfrm>
            <a:off x="6461608" y="2542032"/>
            <a:ext cx="2202104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Throughput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6461608" y="2926080"/>
            <a:ext cx="2202104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bits por segundo</a:t>
            </a:r>
          </a:p>
          <a:p>
            <a:pPr algn="l"/>
            <a:r>
              <a:rPr sz="1400" b="1">
                <a:solidFill>
                  <a:srgbClr val="1B2333"/>
                </a:solidFill>
                <a:latin typeface="Segoe UI"/>
              </a:rPr>
              <a:t>compare com o SKU</a:t>
            </a:r>
          </a:p>
        </p:txBody>
      </p:sp>
      <p:sp>
        <p:nvSpPr>
          <p:cNvPr id="32" name="Shape"/>
          <p:cNvSpPr/>
          <p:nvPr/>
        </p:nvSpPr>
        <p:spPr>
          <a:xfrm>
            <a:off x="9075191" y="1645920"/>
            <a:ext cx="2567864" cy="193852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9267215" y="183794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4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9374932" y="1945660"/>
            <a:ext cx="351495" cy="351495"/>
          </a:xfrm>
          <a:prstGeom prst="rect">
            <a:avLst/>
          </a:prstGeom>
        </p:spPr>
      </p:pic>
      <p:sp>
        <p:nvSpPr>
          <p:cNvPr id="35" name="TextBox"/>
          <p:cNvSpPr txBox="1"/>
          <p:nvPr/>
        </p:nvSpPr>
        <p:spPr>
          <a:xfrm>
            <a:off x="9303791" y="2542032"/>
            <a:ext cx="2202104" cy="365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Latency probe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9303791" y="2926080"/>
            <a:ext cx="2202104" cy="56692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latência em ms</a:t>
            </a:r>
          </a:p>
          <a:p>
            <a:pPr algn="l"/>
            <a:r>
              <a:rPr sz="1400" b="1">
                <a:solidFill>
                  <a:srgbClr val="1B2333"/>
                </a:solidFill>
                <a:latin typeface="Segoe UI"/>
              </a:rPr>
              <a:t>picos ICMP: normais</a:t>
            </a:r>
          </a:p>
        </p:txBody>
      </p:sp>
      <p:sp>
        <p:nvSpPr>
          <p:cNvPr id="37" name="Shape"/>
          <p:cNvSpPr/>
          <p:nvPr/>
        </p:nvSpPr>
        <p:spPr>
          <a:xfrm>
            <a:off x="548640" y="3822192"/>
            <a:ext cx="3429000" cy="1371600"/>
          </a:xfrm>
          <a:prstGeom prst="rect">
            <a:avLst/>
          </a:prstGeom>
          <a:solidFill>
            <a:srgbClr val="005A9E"/>
          </a:solidFill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>
            <a:off x="795528" y="4187952"/>
            <a:ext cx="640080" cy="64008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9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917143" y="4309567"/>
            <a:ext cx="396850" cy="396850"/>
          </a:xfrm>
          <a:prstGeom prst="rect">
            <a:avLst/>
          </a:prstGeom>
        </p:spPr>
      </p:pic>
      <p:sp>
        <p:nvSpPr>
          <p:cNvPr id="40" name="TextBox"/>
          <p:cNvSpPr txBox="1"/>
          <p:nvPr/>
        </p:nvSpPr>
        <p:spPr>
          <a:xfrm>
            <a:off x="1618488" y="3913632"/>
            <a:ext cx="2240280" cy="11887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Alerta de métrica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Azure Monitor</a:t>
            </a:r>
          </a:p>
        </p:txBody>
      </p:sp>
      <p:sp>
        <p:nvSpPr>
          <p:cNvPr id="41" name="Shape"/>
          <p:cNvSpPr/>
          <p:nvPr/>
        </p:nvSpPr>
        <p:spPr>
          <a:xfrm>
            <a:off x="4050792" y="4496562"/>
            <a:ext cx="398678" cy="22860"/>
          </a:xfrm>
          <a:prstGeom prst="rect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2" name="Shape"/>
          <p:cNvSpPr/>
          <p:nvPr/>
        </p:nvSpPr>
        <p:spPr>
          <a:xfrm rot="5400000">
            <a:off x="4398264" y="4443984"/>
            <a:ext cx="128016" cy="128016"/>
          </a:xfrm>
          <a:prstGeom prst="triangle">
            <a:avLst/>
          </a:prstGeom>
          <a:solidFill>
            <a:srgbClr val="8A97A8"/>
          </a:solidFill>
        </p:spPr>
        <p:txBody>
          <a:bodyPr/>
          <a:lstStyle/>
          <a:p>
            <a:endParaRPr/>
          </a:p>
        </p:txBody>
      </p:sp>
      <p:sp>
        <p:nvSpPr>
          <p:cNvPr id="43" name="Shape"/>
          <p:cNvSpPr/>
          <p:nvPr/>
        </p:nvSpPr>
        <p:spPr>
          <a:xfrm>
            <a:off x="4581144" y="3822192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Box"/>
          <p:cNvSpPr txBox="1"/>
          <p:nvPr/>
        </p:nvSpPr>
        <p:spPr>
          <a:xfrm>
            <a:off x="4809744" y="3858768"/>
            <a:ext cx="2926080" cy="12984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Action group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e-mail, SMS, webhook</a:t>
            </a:r>
          </a:p>
        </p:txBody>
      </p:sp>
      <p:sp>
        <p:nvSpPr>
          <p:cNvPr id="45" name="Shape"/>
          <p:cNvSpPr/>
          <p:nvPr/>
        </p:nvSpPr>
        <p:spPr>
          <a:xfrm>
            <a:off x="8259775" y="3822192"/>
            <a:ext cx="3383280" cy="1371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Box"/>
          <p:cNvSpPr txBox="1"/>
          <p:nvPr/>
        </p:nvSpPr>
        <p:spPr>
          <a:xfrm>
            <a:off x="8488375" y="3858768"/>
            <a:ext cx="2926080" cy="129844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700" b="1">
                <a:solidFill>
                  <a:srgbClr val="0B1B3F"/>
                </a:solidFill>
                <a:latin typeface="Segoe UI"/>
              </a:rPr>
              <a:t>Resource Health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saúde e histórico</a:t>
            </a:r>
          </a:p>
        </p:txBody>
      </p:sp>
      <p:sp>
        <p:nvSpPr>
          <p:cNvPr id="47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OPERAÇÃO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B3F"/>
                </a:solidFill>
                <a:latin typeface="Segoe UI"/>
              </a:rPr>
              <a:t>Troubleshooting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3B4A5E"/>
                </a:solidFill>
                <a:latin typeface="Segoe UI"/>
              </a:rPr>
              <a:t>Ferramentas para provar o que aconteceu, não supor</a:t>
            </a:r>
            <a:endParaRPr lang="en-US" sz="1600"/>
          </a:p>
        </p:txBody>
      </p:sp>
      <p:sp>
        <p:nvSpPr>
          <p:cNvPr id="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OPERAÇÃO</a:t>
            </a:r>
          </a:p>
        </p:txBody>
      </p:sp>
      <p:sp>
        <p:nvSpPr>
          <p:cNvPr id="6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DCE3EC"/>
          </a:solidFill>
        </p:spPr>
        <p:txBody>
          <a:bodyPr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3B4A5E"/>
                </a:solidFill>
                <a:latin typeface="Segoe UI"/>
              </a:rPr>
              <a:t>39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5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6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7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Ferramentas para provar o que aconteceu, não supor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Change tracking e a integração com o Security Copilot estão em preview</a:t>
            </a:r>
          </a:p>
        </p:txBody>
      </p:sp>
      <p:sp>
        <p:nvSpPr>
          <p:cNvPr id="18" name="Shape"/>
          <p:cNvSpPr/>
          <p:nvPr/>
        </p:nvSpPr>
        <p:spPr>
          <a:xfrm>
            <a:off x="548640" y="1645920"/>
            <a:ext cx="5432908" cy="17556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Shape"/>
          <p:cNvSpPr/>
          <p:nvPr/>
        </p:nvSpPr>
        <p:spPr>
          <a:xfrm>
            <a:off x="822960" y="1773936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920252" y="1871228"/>
            <a:ext cx="317480" cy="317480"/>
          </a:xfrm>
          <a:prstGeom prst="rect">
            <a:avLst/>
          </a:prstGeom>
        </p:spPr>
      </p:pic>
      <p:sp>
        <p:nvSpPr>
          <p:cNvPr id="21" name="TextBox"/>
          <p:cNvSpPr txBox="1"/>
          <p:nvPr/>
        </p:nvSpPr>
        <p:spPr>
          <a:xfrm>
            <a:off x="1481328" y="1810512"/>
            <a:ext cx="3128620" cy="43891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Packet capture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822960" y="2395728"/>
            <a:ext cx="4884268" cy="896112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captura pacotes com filtros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salva num storage (SAS URL)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exige a Management NIC</a:t>
            </a:r>
          </a:p>
        </p:txBody>
      </p:sp>
      <p:sp>
        <p:nvSpPr>
          <p:cNvPr id="23" name="Shape"/>
          <p:cNvSpPr/>
          <p:nvPr/>
        </p:nvSpPr>
        <p:spPr>
          <a:xfrm>
            <a:off x="6210148" y="1645920"/>
            <a:ext cx="5432908" cy="17556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Shape"/>
          <p:cNvSpPr/>
          <p:nvPr/>
        </p:nvSpPr>
        <p:spPr>
          <a:xfrm>
            <a:off x="6484468" y="1773936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5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6581760" y="1871228"/>
            <a:ext cx="317480" cy="317480"/>
          </a:xfrm>
          <a:prstGeom prst="rect">
            <a:avLst/>
          </a:prstGeom>
        </p:spPr>
      </p:pic>
      <p:sp>
        <p:nvSpPr>
          <p:cNvPr id="26" name="TextBox"/>
          <p:cNvSpPr txBox="1"/>
          <p:nvPr/>
        </p:nvSpPr>
        <p:spPr>
          <a:xfrm>
            <a:off x="7142836" y="1810512"/>
            <a:ext cx="3128620" cy="43891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Change tracking</a:t>
            </a:r>
          </a:p>
        </p:txBody>
      </p:sp>
      <p:sp>
        <p:nvSpPr>
          <p:cNvPr id="27" name="Shape"/>
          <p:cNvSpPr/>
          <p:nvPr/>
        </p:nvSpPr>
        <p:spPr>
          <a:xfrm>
            <a:off x="10408615" y="1865376"/>
            <a:ext cx="960120" cy="329184"/>
          </a:xfrm>
          <a:prstGeom prst="roundRect">
            <a:avLst/>
          </a:prstGeom>
          <a:solidFill>
            <a:srgbClr val="B45309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preview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6484468" y="2395728"/>
            <a:ext cx="4884268" cy="896112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histórico de mudanças nas RCGs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consulta no Resource Graph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quem mudou o quê, e quando</a:t>
            </a:r>
          </a:p>
        </p:txBody>
      </p:sp>
      <p:sp>
        <p:nvSpPr>
          <p:cNvPr id="29" name="Shape"/>
          <p:cNvSpPr/>
          <p:nvPr/>
        </p:nvSpPr>
        <p:spPr>
          <a:xfrm>
            <a:off x="548640" y="3547872"/>
            <a:ext cx="5432908" cy="17556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Box"/>
          <p:cNvSpPr txBox="1"/>
          <p:nvPr/>
        </p:nvSpPr>
        <p:spPr>
          <a:xfrm>
            <a:off x="822960" y="3712464"/>
            <a:ext cx="3786988" cy="43891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Manutenção controlada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822960" y="4297680"/>
            <a:ext cx="4884268" cy="896112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janela definida por você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upgrades fora do horário crítico</a:t>
            </a:r>
          </a:p>
        </p:txBody>
      </p:sp>
      <p:sp>
        <p:nvSpPr>
          <p:cNvPr id="32" name="Shape"/>
          <p:cNvSpPr/>
          <p:nvPr/>
        </p:nvSpPr>
        <p:spPr>
          <a:xfrm>
            <a:off x="6210148" y="3547872"/>
            <a:ext cx="5432908" cy="1755648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Box"/>
          <p:cNvSpPr txBox="1"/>
          <p:nvPr/>
        </p:nvSpPr>
        <p:spPr>
          <a:xfrm>
            <a:off x="6484468" y="3712464"/>
            <a:ext cx="3786988" cy="43891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800" b="1">
                <a:solidFill>
                  <a:srgbClr val="0B1B3F"/>
                </a:solidFill>
                <a:latin typeface="Segoe UI"/>
              </a:rPr>
              <a:t>Security Copilot</a:t>
            </a:r>
          </a:p>
        </p:txBody>
      </p:sp>
      <p:sp>
        <p:nvSpPr>
          <p:cNvPr id="34" name="Shape"/>
          <p:cNvSpPr/>
          <p:nvPr/>
        </p:nvSpPr>
        <p:spPr>
          <a:xfrm>
            <a:off x="10408615" y="3767328"/>
            <a:ext cx="960120" cy="329184"/>
          </a:xfrm>
          <a:prstGeom prst="roundRect">
            <a:avLst/>
          </a:prstGeom>
          <a:solidFill>
            <a:srgbClr val="B45309"/>
          </a:solidFill>
        </p:spPr>
        <p:txBody>
          <a:bodyPr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preview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6484468" y="4297680"/>
            <a:ext cx="4884268" cy="896112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perguntas sobre IDPS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em linguagem natural</a:t>
            </a:r>
          </a:p>
          <a:p>
            <a:pPr algn="l"/>
            <a:r>
              <a:rPr sz="1400" b="0">
                <a:solidFill>
                  <a:srgbClr val="3B4A5E"/>
                </a:solidFill>
                <a:latin typeface="Segoe UI"/>
              </a:rPr>
              <a:t>assinaturas mais vistas, busca na frota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pt-BR" sz="3000" b="1">
                <a:solidFill>
                  <a:srgbClr val="0B1B3F"/>
                </a:solidFill>
                <a:latin typeface="Segoe UI"/>
              </a:rPr>
              <a:t>Limites: policies, regras e IP Groups</a:t>
            </a:r>
            <a:endParaRPr lang="pt-BR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pt-BR" sz="1600" b="0">
                <a:solidFill>
                  <a:srgbClr val="3B4A5E"/>
                </a:solidFill>
                <a:latin typeface="Segoe UI"/>
              </a:rPr>
              <a:t>Quantidades máximas por Firewall Policy, grupo, collection e IP Group</a:t>
            </a:r>
            <a:endParaRPr lang="pt-BR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pt-BR" sz="1200" b="1">
                <a:solidFill>
                  <a:srgbClr val="3B4A5E"/>
                </a:solidFill>
                <a:latin typeface="Segoe UI"/>
              </a:rPr>
              <a:t>40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760049" y="5650992"/>
            <a:ext cx="10852299" cy="685800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1" y="5953836"/>
            <a:ext cx="9868014" cy="1543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50" b="1" dirty="0" err="1">
                <a:solidFill>
                  <a:srgbClr val="FFFFFF"/>
                </a:solidFill>
                <a:latin typeface="Segoe UI"/>
              </a:rPr>
              <a:t>Até 90 RCGs (2 MB/grupo), 600 IP Groups (5.000 IPs) e 20.000 combinações</a:t>
            </a:r>
          </a:p>
          <a:p>
            <a:pPr algn="l">
              <a:spcBef>
                <a:spcPts val="200"/>
              </a:spcBef>
            </a:pPr>
            <a:r>
              <a:rPr sz="1300" b="0" dirty="0" err="1">
                <a:solidFill>
                  <a:srgbClr val="C9D6EA"/>
                </a:solidFill>
                <a:latin typeface="Segoe UI"/>
              </a:rPr>
              <a:t>Use IP Groups para consolidar regras e monitore em Policy Analytics → Insights</a:t>
            </a:r>
            <a:endParaRPr sz="1300" b="0" dirty="0">
              <a:solidFill>
                <a:srgbClr val="C9D6EA"/>
              </a:solidFill>
              <a:latin typeface="Segoe UI"/>
            </a:endParaRPr>
          </a:p>
        </p:txBody>
      </p:sp>
      <p:sp>
        <p:nvSpPr>
          <p:cNvPr id="17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LIMITES E QUOTAS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1572768"/>
            <a:ext cx="2569464" cy="20665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Ellipse 21"/>
          <p:cNvSpPr/>
          <p:nvPr/>
        </p:nvSpPr>
        <p:spPr>
          <a:xfrm>
            <a:off x="676656" y="1682496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" name="Picture 22"/>
          <p:cNvPicPr/>
          <p:nvPr/>
        </p:nvPicPr>
        <p:blipFill>
          <a:blip r:embed="rId3"/>
          <a:stretch>
            <a:fillRect/>
          </a:stretch>
        </p:blipFill>
        <p:spPr>
          <a:xfrm>
            <a:off x="760049" y="1765889"/>
            <a:ext cx="272125" cy="272125"/>
          </a:xfrm>
          <a:prstGeom prst="rect">
            <a:avLst/>
          </a:prstGeom>
        </p:spPr>
      </p:pic>
      <p:sp>
        <p:nvSpPr>
          <p:cNvPr id="23" name="Pill 23"/>
          <p:cNvSpPr/>
          <p:nvPr/>
        </p:nvSpPr>
        <p:spPr>
          <a:xfrm>
            <a:off x="1188720" y="1673352"/>
            <a:ext cx="786384" cy="20116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hard limit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8720" y="1892808"/>
            <a:ext cx="1810512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Policy e RCGs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4944" y="2231136"/>
            <a:ext cx="2304288" cy="133502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350" b="1">
                <a:solidFill>
                  <a:srgbClr val="005A9E"/>
                </a:solidFill>
                <a:latin typeface="Segoe UI"/>
              </a:rPr>
              <a:t>90 RCGs </a:t>
            </a:r>
            <a:r>
              <a:rPr sz="1150" b="0">
                <a:solidFill>
                  <a:srgbClr val="3B4A5E"/>
                </a:solidFill>
                <a:latin typeface="Segoe UI"/>
              </a:rPr>
              <a:t>por Firewall Policy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1B2333"/>
                </a:solidFill>
                <a:latin typeface="Segoe UI"/>
              </a:rPr>
              <a:t>2 MB </a:t>
            </a:r>
            <a:r>
              <a:rPr sz="1150" b="0">
                <a:solidFill>
                  <a:srgbClr val="3B4A5E"/>
                </a:solidFill>
                <a:latin typeface="Segoe UI"/>
              </a:rPr>
              <a:t>máx. de regras por RCG</a:t>
            </a:r>
          </a:p>
          <a:p>
            <a:pPr algn="l">
              <a:spcBef>
                <a:spcPts val="400"/>
              </a:spcBef>
            </a:pPr>
            <a:r>
              <a:rPr sz="1350" b="1">
                <a:solidFill>
                  <a:srgbClr val="005A9E"/>
                </a:solidFill>
                <a:latin typeface="Segoe UI"/>
              </a:rPr>
              <a:t>100–65.000 </a:t>
            </a:r>
            <a:r>
              <a:rPr sz="1150" b="0">
                <a:solidFill>
                  <a:srgbClr val="3B4A5E"/>
                </a:solidFill>
                <a:latin typeface="Segoe UI"/>
              </a:rPr>
              <a:t>prioridades</a:t>
            </a: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3392424" y="1572768"/>
            <a:ext cx="2569464" cy="20665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Ellipse 27"/>
          <p:cNvSpPr/>
          <p:nvPr/>
        </p:nvSpPr>
        <p:spPr>
          <a:xfrm>
            <a:off x="3520440" y="1682496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8" name="Picture 28"/>
          <p:cNvPicPr/>
          <p:nvPr/>
        </p:nvPicPr>
        <p:blipFill>
          <a:blip r:embed="rId4"/>
          <a:stretch>
            <a:fillRect/>
          </a:stretch>
        </p:blipFill>
        <p:spPr>
          <a:xfrm>
            <a:off x="3603833" y="1765889"/>
            <a:ext cx="272125" cy="272125"/>
          </a:xfrm>
          <a:prstGeom prst="rect">
            <a:avLst/>
          </a:prstGeom>
        </p:spPr>
      </p:pic>
      <p:sp>
        <p:nvSpPr>
          <p:cNvPr id="29" name="Pill 29"/>
          <p:cNvSpPr/>
          <p:nvPr/>
        </p:nvSpPr>
        <p:spPr>
          <a:xfrm>
            <a:off x="4032504" y="1609344"/>
            <a:ext cx="786384" cy="201168"/>
          </a:xfrm>
          <a:prstGeom prst="roundRect">
            <a:avLst/>
          </a:prstGeom>
          <a:solidFill>
            <a:srgbClr val="005A9E"/>
          </a:solidFill>
        </p:spPr>
        <p:txBody>
          <a:bodyPr lIns="0" tIns="0" rIns="0" bIns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Segoe UI"/>
              </a:rPr>
              <a:t>arquitetura</a:t>
            </a:r>
            <a:endParaRPr sz="95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032504" y="1892808"/>
            <a:ext cx="1810512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Associações e herança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38728" y="2231136"/>
            <a:ext cx="2304288" cy="133502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350" b="1">
                <a:solidFill>
                  <a:srgbClr val="005A9E"/>
                </a:solidFill>
                <a:latin typeface="Segoe UI"/>
              </a:rPr>
              <a:t>50 firewalls </a:t>
            </a:r>
            <a:r>
              <a:rPr sz="1150" b="0">
                <a:solidFill>
                  <a:srgbClr val="3B4A5E"/>
                </a:solidFill>
                <a:latin typeface="Segoe UI"/>
              </a:rPr>
              <a:t>por policy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1B2333"/>
                </a:solidFill>
                <a:latin typeface="Segoe UI"/>
              </a:rPr>
              <a:t>1 nível </a:t>
            </a:r>
            <a:r>
              <a:rPr sz="1150" b="0">
                <a:solidFill>
                  <a:srgbClr val="3B4A5E"/>
                </a:solidFill>
                <a:latin typeface="Segoe UI"/>
              </a:rPr>
              <a:t>Pai → Filha</a:t>
            </a:r>
          </a:p>
          <a:p>
            <a:pPr algn="l">
              <a:spcBef>
                <a:spcPts val="400"/>
              </a:spcBef>
            </a:pPr>
            <a:r>
              <a:rPr sz="1350" b="1">
                <a:solidFill>
                  <a:srgbClr val="005A9E"/>
                </a:solidFill>
                <a:latin typeface="Segoe UI"/>
              </a:rPr>
              <a:t>Regras NAT </a:t>
            </a:r>
            <a:r>
              <a:rPr sz="1150" b="0">
                <a:solidFill>
                  <a:srgbClr val="3B4A5E"/>
                </a:solidFill>
                <a:latin typeface="Segoe UI"/>
              </a:rPr>
              <a:t>não herdam</a:t>
            </a: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6236208" y="1572768"/>
            <a:ext cx="2569464" cy="20665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Ellipse 33"/>
          <p:cNvSpPr/>
          <p:nvPr/>
        </p:nvSpPr>
        <p:spPr>
          <a:xfrm>
            <a:off x="6364224" y="1682496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4" name="Picture 34"/>
          <p:cNvPicPr/>
          <p:nvPr/>
        </p:nvPicPr>
        <p:blipFill>
          <a:blip r:embed="rId5"/>
          <a:stretch>
            <a:fillRect/>
          </a:stretch>
        </p:blipFill>
        <p:spPr>
          <a:xfrm>
            <a:off x="6447617" y="1765889"/>
            <a:ext cx="272125" cy="272125"/>
          </a:xfrm>
          <a:prstGeom prst="rect">
            <a:avLst/>
          </a:prstGeom>
        </p:spPr>
      </p:pic>
      <p:sp>
        <p:nvSpPr>
          <p:cNvPr id="35" name="Pill 35"/>
          <p:cNvSpPr/>
          <p:nvPr/>
        </p:nvSpPr>
        <p:spPr>
          <a:xfrm>
            <a:off x="6876288" y="1673352"/>
            <a:ext cx="786384" cy="201168"/>
          </a:xfrm>
          <a:prstGeom prst="roundRect">
            <a:avLst/>
          </a:prstGeom>
          <a:solidFill>
            <a:srgbClr val="B45309"/>
          </a:solidFill>
        </p:spPr>
        <p:txBody>
          <a:bodyPr lIns="0" tIns="0" rIns="0" bIns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dataplane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76288" y="1892808"/>
            <a:ext cx="1810512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Network e DNAT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82512" y="2231136"/>
            <a:ext cx="2304288" cy="133502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350" b="1">
                <a:solidFill>
                  <a:srgbClr val="B45309"/>
                </a:solidFill>
                <a:latin typeface="Segoe UI"/>
              </a:rPr>
              <a:t>20.000 </a:t>
            </a:r>
            <a:r>
              <a:rPr sz="1150" b="0">
                <a:solidFill>
                  <a:srgbClr val="3B4A5E"/>
                </a:solidFill>
                <a:latin typeface="Segoe UI"/>
              </a:rPr>
              <a:t>combinações (soft)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5A9E"/>
                </a:solidFill>
                <a:latin typeface="Segoe UI"/>
              </a:rPr>
              <a:t>1.000 FQDNs </a:t>
            </a:r>
            <a:r>
              <a:rPr sz="1150" b="0">
                <a:solidFill>
                  <a:srgbClr val="3B4A5E"/>
                </a:solidFill>
                <a:latin typeface="Segoe UI"/>
              </a:rPr>
              <a:t>em Network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5A9E"/>
                </a:solidFill>
                <a:latin typeface="Segoe UI"/>
              </a:rPr>
              <a:t>250 destinos </a:t>
            </a:r>
            <a:r>
              <a:rPr sz="1150" b="0">
                <a:solidFill>
                  <a:srgbClr val="3B4A5E"/>
                </a:solidFill>
                <a:latin typeface="Segoe UI"/>
              </a:rPr>
              <a:t>em DNAT</a:t>
            </a: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9070848" y="1572768"/>
            <a:ext cx="2569464" cy="20665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llipse 39"/>
          <p:cNvSpPr/>
          <p:nvPr/>
        </p:nvSpPr>
        <p:spPr>
          <a:xfrm>
            <a:off x="9198864" y="1682496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0" name="Picture 40"/>
          <p:cNvPicPr/>
          <p:nvPr/>
        </p:nvPicPr>
        <p:blipFill>
          <a:blip r:embed="rId6"/>
          <a:stretch>
            <a:fillRect/>
          </a:stretch>
        </p:blipFill>
        <p:spPr>
          <a:xfrm>
            <a:off x="9282257" y="1765889"/>
            <a:ext cx="272125" cy="272125"/>
          </a:xfrm>
          <a:prstGeom prst="rect">
            <a:avLst/>
          </a:prstGeom>
        </p:spPr>
      </p:pic>
      <p:sp>
        <p:nvSpPr>
          <p:cNvPr id="41" name="Pill 41"/>
          <p:cNvSpPr/>
          <p:nvPr/>
        </p:nvSpPr>
        <p:spPr>
          <a:xfrm>
            <a:off x="9710928" y="1673352"/>
            <a:ext cx="786384" cy="201168"/>
          </a:xfrm>
          <a:prstGeom prst="roundRect">
            <a:avLst/>
          </a:prstGeom>
          <a:solidFill>
            <a:srgbClr val="0F7B64"/>
          </a:solidFill>
        </p:spPr>
        <p:txBody>
          <a:bodyPr lIns="0" tIns="0" rIns="0" bIns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escala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710928" y="1892808"/>
            <a:ext cx="1810512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IP Groups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217152" y="2231136"/>
            <a:ext cx="2304288" cy="133502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350" b="1">
                <a:solidFill>
                  <a:srgbClr val="005A9E"/>
                </a:solidFill>
                <a:latin typeface="Segoe UI"/>
              </a:rPr>
              <a:t>600 grupos </a:t>
            </a:r>
            <a:r>
              <a:rPr sz="1150" b="0">
                <a:solidFill>
                  <a:srgbClr val="3B4A5E"/>
                </a:solidFill>
                <a:latin typeface="Segoe UI"/>
              </a:rPr>
              <a:t>por policy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1B2333"/>
                </a:solidFill>
                <a:latin typeface="Segoe UI"/>
              </a:rPr>
              <a:t>5.000 IPs/CIDRs </a:t>
            </a:r>
            <a:r>
              <a:rPr sz="1150" b="0">
                <a:solidFill>
                  <a:srgbClr val="3B4A5E"/>
                </a:solidFill>
                <a:latin typeface="Segoe UI"/>
              </a:rPr>
              <a:t>por grupo</a:t>
            </a:r>
          </a:p>
          <a:p>
            <a:pPr algn="l">
              <a:spcBef>
                <a:spcPts val="400"/>
              </a:spcBef>
            </a:pPr>
            <a:r>
              <a:rPr sz="1350" b="1">
                <a:solidFill>
                  <a:srgbClr val="005A9E"/>
                </a:solidFill>
                <a:latin typeface="Segoe UI"/>
              </a:rPr>
              <a:t>50 firewalls </a:t>
            </a:r>
            <a:r>
              <a:rPr sz="1150" b="0">
                <a:solidFill>
                  <a:srgbClr val="3B4A5E"/>
                </a:solidFill>
                <a:latin typeface="Segoe UI"/>
              </a:rPr>
              <a:t>por grupo (soft)</a:t>
            </a: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46" name="Shape 46"/>
          <p:cNvSpPr/>
          <p:nvPr/>
        </p:nvSpPr>
        <p:spPr>
          <a:xfrm>
            <a:off x="2435862" y="3739896"/>
            <a:ext cx="7275066" cy="150876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3970428" y="4041648"/>
            <a:ext cx="6296352" cy="1353312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50" b="1" dirty="0">
                <a:solidFill>
                  <a:srgbClr val="0B1B3F"/>
                </a:solidFill>
                <a:latin typeface="Segoe UI"/>
              </a:rPr>
              <a:t>Como escalar sem bater nos limites</a:t>
            </a:r>
          </a:p>
          <a:p>
            <a:pPr algn="l">
              <a:spcBef>
                <a:spcPts val="600"/>
              </a:spcBef>
            </a:pPr>
            <a:r>
              <a:rPr sz="1200" b="1" dirty="0">
                <a:solidFill>
                  <a:srgbClr val="1B2333"/>
                </a:solidFill>
                <a:latin typeface="Segoe UI"/>
              </a:rPr>
              <a:t>• Use IP Groups e CIDRs </a:t>
            </a:r>
            <a:r>
              <a:rPr sz="1200" b="0" dirty="0">
                <a:solidFill>
                  <a:srgbClr val="3B4A5E"/>
                </a:solidFill>
                <a:latin typeface="Segoe UI"/>
              </a:rPr>
              <a:t>para consolidar origens e destinos</a:t>
            </a:r>
          </a:p>
          <a:p>
            <a:pPr algn="l">
              <a:spcBef>
                <a:spcPts val="500"/>
              </a:spcBef>
            </a:pPr>
            <a:r>
              <a:rPr sz="1200" b="1" dirty="0">
                <a:solidFill>
                  <a:srgbClr val="1B2333"/>
                </a:solidFill>
                <a:latin typeface="Segoe UI"/>
              </a:rPr>
              <a:t>• Prioridades de 100 em 100 </a:t>
            </a:r>
            <a:r>
              <a:rPr sz="1200" b="0" dirty="0">
                <a:solidFill>
                  <a:srgbClr val="3B4A5E"/>
                </a:solidFill>
                <a:latin typeface="Segoe UI"/>
              </a:rPr>
              <a:t>· até 20 IP Groups em paralelo</a:t>
            </a:r>
          </a:p>
          <a:p>
            <a:pPr algn="l">
              <a:spcBef>
                <a:spcPts val="500"/>
              </a:spcBef>
            </a:pPr>
            <a:endParaRPr sz="1200" b="0" dirty="0">
              <a:solidFill>
                <a:srgbClr val="3B4A5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pt-BR" sz="3000" b="1">
                <a:solidFill>
                  <a:srgbClr val="0B1B3F"/>
                </a:solidFill>
                <a:latin typeface="Segoe UI"/>
              </a:rPr>
              <a:t>Limites: rede, SNAT e performance</a:t>
            </a:r>
            <a:endParaRPr lang="pt-BR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pt-BR" sz="1600" b="0">
                <a:solidFill>
                  <a:srgbClr val="3B4A5E"/>
                </a:solidFill>
                <a:latin typeface="Segoe UI"/>
              </a:rPr>
              <a:t>Capacidade por SKU, portas SNAT, escala e inspeção Premium</a:t>
            </a:r>
            <a:endParaRPr lang="pt-BR" sz="1600"/>
          </a:p>
        </p:txBody>
      </p:sp>
      <p:sp>
        <p:nvSpPr>
          <p:cNvPr id="5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pt-BR" sz="1200" b="1">
                <a:solidFill>
                  <a:srgbClr val="3B4A5E"/>
                </a:solidFill>
                <a:latin typeface="Segoe UI"/>
              </a:rPr>
              <a:t>41</a:t>
            </a:r>
            <a:endParaRPr sz="1200" b="1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14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sp>
        <p:nvSpPr>
          <p:cNvPr id="15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Segoe UI"/>
              </a:rPr>
              <a:t>Dimensione SNAT (2.496 portas/PIP/instância ou NAT Gateway) e considere o IDPS Deny (até 22 Gbps)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9D6EA"/>
                </a:solidFill>
                <a:latin typeface="Segoe UI"/>
              </a:rPr>
              <a:t>Use Prescaling (até 50 instâncias) para picos previsíveis de tráfego</a:t>
            </a:r>
          </a:p>
        </p:txBody>
      </p:sp>
      <p:sp>
        <p:nvSpPr>
          <p:cNvPr id="17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005A9E"/>
                </a:solidFill>
                <a:latin typeface="Segoe UI"/>
              </a:rPr>
              <a:t>LIMITES E QUOTAS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1572768"/>
            <a:ext cx="2569464" cy="20665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Ellipse 21"/>
          <p:cNvSpPr/>
          <p:nvPr/>
        </p:nvSpPr>
        <p:spPr>
          <a:xfrm>
            <a:off x="676656" y="1682496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" name="Picture 22"/>
          <p:cNvPicPr/>
          <p:nvPr/>
        </p:nvPicPr>
        <p:blipFill>
          <a:blip r:embed="rId3"/>
          <a:stretch>
            <a:fillRect/>
          </a:stretch>
        </p:blipFill>
        <p:spPr>
          <a:xfrm>
            <a:off x="760049" y="1765889"/>
            <a:ext cx="272125" cy="272125"/>
          </a:xfrm>
          <a:prstGeom prst="rect">
            <a:avLst/>
          </a:prstGeom>
        </p:spPr>
      </p:pic>
      <p:sp>
        <p:nvSpPr>
          <p:cNvPr id="23" name="Pill 23"/>
          <p:cNvSpPr/>
          <p:nvPr/>
        </p:nvSpPr>
        <p:spPr>
          <a:xfrm>
            <a:off x="1188720" y="1673352"/>
            <a:ext cx="841248" cy="20116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conectividade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8720" y="1892808"/>
            <a:ext cx="1810512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Rede, PIPs e SNAT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4944" y="2231136"/>
            <a:ext cx="2304288" cy="133502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350" b="1" dirty="0">
                <a:solidFill>
                  <a:srgbClr val="005A9E"/>
                </a:solidFill>
                <a:latin typeface="Segoe UI"/>
              </a:rPr>
              <a:t>/26 mínimo </a:t>
            </a:r>
            <a:r>
              <a:rPr sz="1150" b="0" dirty="0">
                <a:solidFill>
                  <a:srgbClr val="3B4A5E"/>
                </a:solidFill>
                <a:latin typeface="Segoe UI"/>
              </a:rPr>
              <a:t>nas sub-redes</a:t>
            </a:r>
          </a:p>
          <a:p>
            <a:pPr algn="l">
              <a:spcBef>
                <a:spcPts val="400"/>
              </a:spcBef>
            </a:pPr>
            <a:r>
              <a:rPr sz="1300" b="1" dirty="0">
                <a:solidFill>
                  <a:srgbClr val="005A9E"/>
                </a:solidFill>
                <a:latin typeface="Segoe UI"/>
              </a:rPr>
              <a:t>250 PIPs </a:t>
            </a:r>
            <a:r>
              <a:rPr sz="1150" b="0" dirty="0">
                <a:solidFill>
                  <a:srgbClr val="3B4A5E"/>
                </a:solidFill>
                <a:latin typeface="Segoe UI"/>
              </a:rPr>
              <a:t>VNet · </a:t>
            </a:r>
            <a:r>
              <a:rPr sz="1300" b="1" dirty="0">
                <a:solidFill>
                  <a:srgbClr val="005A9E"/>
                </a:solidFill>
                <a:latin typeface="Segoe UI"/>
              </a:rPr>
              <a:t>80 </a:t>
            </a:r>
            <a:r>
              <a:rPr sz="1150" b="0" dirty="0">
                <a:solidFill>
                  <a:srgbClr val="3B4A5E"/>
                </a:solidFill>
                <a:latin typeface="Segoe UI"/>
              </a:rPr>
              <a:t>vWAN</a:t>
            </a:r>
          </a:p>
          <a:p>
            <a:pPr algn="l">
              <a:spcBef>
                <a:spcPts val="400"/>
              </a:spcBef>
            </a:pPr>
            <a:r>
              <a:rPr sz="1300" b="1" dirty="0">
                <a:solidFill>
                  <a:srgbClr val="1B2333"/>
                </a:solidFill>
                <a:latin typeface="Segoe UI"/>
              </a:rPr>
              <a:t>2.496 portas </a:t>
            </a:r>
            <a:r>
              <a:rPr sz="1150" b="0" dirty="0">
                <a:solidFill>
                  <a:srgbClr val="3B4A5E"/>
                </a:solidFill>
                <a:latin typeface="Segoe UI"/>
              </a:rPr>
              <a:t>SNAT / PIP / inst.</a:t>
            </a:r>
          </a:p>
          <a:p>
            <a:pPr algn="l">
              <a:spcBef>
                <a:spcPts val="400"/>
              </a:spcBef>
            </a:pPr>
            <a:endParaRPr sz="1150" b="0" dirty="0">
              <a:solidFill>
                <a:srgbClr val="3B4A5E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endParaRPr sz="1150" b="0" dirty="0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3392424" y="1572768"/>
            <a:ext cx="2569464" cy="20665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Ellipse 27"/>
          <p:cNvSpPr/>
          <p:nvPr/>
        </p:nvSpPr>
        <p:spPr>
          <a:xfrm>
            <a:off x="3520440" y="1682496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8" name="Picture 28"/>
          <p:cNvPicPr/>
          <p:nvPr/>
        </p:nvPicPr>
        <p:blipFill>
          <a:blip r:embed="rId4"/>
          <a:stretch>
            <a:fillRect/>
          </a:stretch>
        </p:blipFill>
        <p:spPr>
          <a:xfrm>
            <a:off x="3603833" y="1765889"/>
            <a:ext cx="272125" cy="272125"/>
          </a:xfrm>
          <a:prstGeom prst="rect">
            <a:avLst/>
          </a:prstGeom>
        </p:spPr>
      </p:pic>
      <p:sp>
        <p:nvSpPr>
          <p:cNvPr id="29" name="Pill 29"/>
          <p:cNvSpPr/>
          <p:nvPr/>
        </p:nvSpPr>
        <p:spPr>
          <a:xfrm>
            <a:off x="4035978" y="1618488"/>
            <a:ext cx="841248" cy="201168"/>
          </a:xfrm>
          <a:prstGeom prst="roundRect">
            <a:avLst/>
          </a:prstGeom>
          <a:solidFill>
            <a:srgbClr val="005A9E"/>
          </a:solidFill>
        </p:spPr>
        <p:txBody>
          <a:bodyPr lIns="0" tIns="0" rIns="0" bIns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Segoe UI"/>
              </a:rPr>
              <a:t>por</a:t>
            </a:r>
            <a:r>
              <a:rPr sz="950" b="1" dirty="0">
                <a:solidFill>
                  <a:srgbClr val="FFFFFF"/>
                </a:solidFill>
                <a:latin typeface="Segoe UI"/>
              </a:rPr>
              <a:t> SKU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32504" y="1892808"/>
            <a:ext cx="1810512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Throughput agregado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38728" y="2231136"/>
            <a:ext cx="2304288" cy="133502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250" b="1">
                <a:solidFill>
                  <a:srgbClr val="1B2333"/>
                </a:solidFill>
                <a:latin typeface="Segoe UI"/>
              </a:rPr>
              <a:t>Basic: </a:t>
            </a:r>
            <a:r>
              <a:rPr sz="1350" b="1">
                <a:solidFill>
                  <a:srgbClr val="005A9E"/>
                </a:solidFill>
                <a:latin typeface="Segoe UI"/>
              </a:rPr>
              <a:t>250 Mbps </a:t>
            </a:r>
            <a:r>
              <a:rPr sz="1150" b="0">
                <a:solidFill>
                  <a:srgbClr val="3B4A5E"/>
                </a:solidFill>
                <a:latin typeface="Segoe UI"/>
              </a:rPr>
              <a:t>fixo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1B2333"/>
                </a:solidFill>
                <a:latin typeface="Segoe UI"/>
              </a:rPr>
              <a:t>Standard: </a:t>
            </a:r>
            <a:r>
              <a:rPr sz="1350" b="1">
                <a:solidFill>
                  <a:srgbClr val="005A9E"/>
                </a:solidFill>
                <a:latin typeface="Segoe UI"/>
              </a:rPr>
              <a:t>30 Gbps </a:t>
            </a:r>
            <a:r>
              <a:rPr sz="1150" b="0">
                <a:solidFill>
                  <a:srgbClr val="3B4A5E"/>
                </a:solidFill>
                <a:latin typeface="Segoe UI"/>
              </a:rPr>
              <a:t>(3G ini.)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1B2333"/>
                </a:solidFill>
                <a:latin typeface="Segoe UI"/>
              </a:rPr>
              <a:t>Premium: </a:t>
            </a:r>
            <a:r>
              <a:rPr sz="1350" b="1">
                <a:solidFill>
                  <a:srgbClr val="005A9E"/>
                </a:solidFill>
                <a:latin typeface="Segoe UI"/>
              </a:rPr>
              <a:t>100 Gbps </a:t>
            </a:r>
            <a:r>
              <a:rPr sz="1150" b="0">
                <a:solidFill>
                  <a:srgbClr val="3B4A5E"/>
                </a:solidFill>
                <a:latin typeface="Segoe UI"/>
              </a:rPr>
              <a:t>(18G ini.)</a:t>
            </a: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6236208" y="1572768"/>
            <a:ext cx="2569464" cy="20665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Ellipse 33"/>
          <p:cNvSpPr/>
          <p:nvPr/>
        </p:nvSpPr>
        <p:spPr>
          <a:xfrm>
            <a:off x="6364224" y="1682496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4" name="Picture 34"/>
          <p:cNvPicPr/>
          <p:nvPr/>
        </p:nvPicPr>
        <p:blipFill>
          <a:blip r:embed="rId5"/>
          <a:stretch>
            <a:fillRect/>
          </a:stretch>
        </p:blipFill>
        <p:spPr>
          <a:xfrm>
            <a:off x="6447617" y="1765889"/>
            <a:ext cx="272125" cy="272125"/>
          </a:xfrm>
          <a:prstGeom prst="rect">
            <a:avLst/>
          </a:prstGeom>
        </p:spPr>
      </p:pic>
      <p:sp>
        <p:nvSpPr>
          <p:cNvPr id="35" name="Pill 35"/>
          <p:cNvSpPr/>
          <p:nvPr/>
        </p:nvSpPr>
        <p:spPr>
          <a:xfrm>
            <a:off x="6876288" y="1673352"/>
            <a:ext cx="841248" cy="201168"/>
          </a:xfrm>
          <a:prstGeom prst="roundRect">
            <a:avLst/>
          </a:prstGeom>
          <a:solidFill>
            <a:srgbClr val="0F7B64"/>
          </a:solidFill>
        </p:spPr>
        <p:txBody>
          <a:bodyPr lIns="0" tIns="0" rIns="0" bIns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escala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76288" y="1892808"/>
            <a:ext cx="1810512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Fluxo único e escala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82512" y="2231136"/>
            <a:ext cx="2304288" cy="133502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200" b="1">
                <a:solidFill>
                  <a:srgbClr val="1B2333"/>
                </a:solidFill>
                <a:latin typeface="Segoe UI"/>
              </a:rPr>
              <a:t>Fat flow: </a:t>
            </a:r>
            <a:r>
              <a:rPr sz="1200" b="1">
                <a:solidFill>
                  <a:srgbClr val="005A9E"/>
                </a:solidFill>
                <a:latin typeface="Segoe UI"/>
              </a:rPr>
              <a:t>1,5G Std · 10G Prem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B2333"/>
                </a:solidFill>
                <a:latin typeface="Segoe UI"/>
              </a:rPr>
              <a:t>Instâncias: </a:t>
            </a:r>
            <a:r>
              <a:rPr sz="1150" b="0">
                <a:solidFill>
                  <a:srgbClr val="3B4A5E"/>
                </a:solidFill>
                <a:latin typeface="Segoe UI"/>
              </a:rPr>
              <a:t>2–20 (50 Prescaling)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B45309"/>
                </a:solidFill>
                <a:latin typeface="Segoe UI"/>
              </a:rPr>
              <a:t>IDPS Deny: até 22G (600M/fluxo)</a:t>
            </a:r>
          </a:p>
          <a:p>
            <a:pPr algn="l">
              <a:spcBef>
                <a:spcPts val="400"/>
              </a:spcBef>
            </a:pPr>
            <a:endParaRPr sz="1200" b="1">
              <a:solidFill>
                <a:srgbClr val="B45309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endParaRPr sz="1200" b="1">
              <a:solidFill>
                <a:srgbClr val="B45309"/>
              </a:solidFill>
              <a:latin typeface="Segoe UI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9070848" y="1572768"/>
            <a:ext cx="2569464" cy="2066544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llipse 39"/>
          <p:cNvSpPr/>
          <p:nvPr/>
        </p:nvSpPr>
        <p:spPr>
          <a:xfrm>
            <a:off x="9198864" y="1682496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40" name="Picture 40"/>
          <p:cNvPicPr/>
          <p:nvPr/>
        </p:nvPicPr>
        <p:blipFill>
          <a:blip r:embed="rId6"/>
          <a:stretch>
            <a:fillRect/>
          </a:stretch>
        </p:blipFill>
        <p:spPr>
          <a:xfrm>
            <a:off x="9282257" y="1765889"/>
            <a:ext cx="272125" cy="272125"/>
          </a:xfrm>
          <a:prstGeom prst="rect">
            <a:avLst/>
          </a:prstGeom>
        </p:spPr>
      </p:pic>
      <p:sp>
        <p:nvSpPr>
          <p:cNvPr id="41" name="Pill 41"/>
          <p:cNvSpPr/>
          <p:nvPr/>
        </p:nvSpPr>
        <p:spPr>
          <a:xfrm>
            <a:off x="9710928" y="1673352"/>
            <a:ext cx="841248" cy="201168"/>
          </a:xfrm>
          <a:prstGeom prst="roundRect">
            <a:avLst/>
          </a:prstGeom>
          <a:solidFill>
            <a:srgbClr val="5B57C2"/>
          </a:solidFill>
        </p:spPr>
        <p:txBody>
          <a:bodyPr lIns="0" tIns="0" rIns="0" bIns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operação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710928" y="1892808"/>
            <a:ext cx="1810512" cy="256032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1">
                <a:solidFill>
                  <a:srgbClr val="0B1B3F"/>
                </a:solidFill>
                <a:latin typeface="Segoe UI"/>
              </a:rPr>
              <a:t>Premium e operação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217152" y="2231136"/>
            <a:ext cx="2304288" cy="1335024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250" b="1">
                <a:solidFill>
                  <a:srgbClr val="1B2333"/>
                </a:solidFill>
                <a:latin typeface="Segoe UI"/>
              </a:rPr>
              <a:t>IDPS: </a:t>
            </a:r>
            <a:r>
              <a:rPr sz="1150" b="0">
                <a:solidFill>
                  <a:srgbClr val="3B4A5E"/>
                </a:solidFill>
                <a:latin typeface="Segoe UI"/>
              </a:rPr>
              <a:t>&gt;67k regras (10k custom)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1B2333"/>
                </a:solidFill>
                <a:latin typeface="Segoe UI"/>
              </a:rPr>
              <a:t>TCP Idle: </a:t>
            </a:r>
            <a:r>
              <a:rPr sz="1150" b="0">
                <a:solidFill>
                  <a:srgbClr val="3B4A5E"/>
                </a:solidFill>
                <a:latin typeface="Segoe UI"/>
              </a:rPr>
              <a:t>4 min · TLS: 120 s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1B2333"/>
                </a:solidFill>
                <a:latin typeface="Segoe UI"/>
              </a:rPr>
              <a:t>Top flows: </a:t>
            </a:r>
            <a:r>
              <a:rPr sz="1150" b="0">
                <a:solidFill>
                  <a:srgbClr val="3B4A5E"/>
                </a:solidFill>
                <a:latin typeface="Segoe UI"/>
              </a:rPr>
              <a:t>≥ 1 Mbps (ciclo 3m)</a:t>
            </a: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44" name="Shape 44"/>
          <p:cNvSpPr/>
          <p:nvPr/>
        </p:nvSpPr>
        <p:spPr>
          <a:xfrm>
            <a:off x="548640" y="3785616"/>
            <a:ext cx="3511296" cy="1499616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13232" y="3858768"/>
            <a:ext cx="3218688" cy="1353312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1">
                <a:solidFill>
                  <a:srgbClr val="3B4A5E"/>
                </a:solidFill>
                <a:latin typeface="Segoe UI"/>
              </a:rPr>
              <a:t>Basic SKU · SMB</a:t>
            </a:r>
          </a:p>
          <a:p>
            <a:pPr algn="l">
              <a:spcBef>
                <a:spcPts val="600"/>
              </a:spcBef>
            </a:pPr>
            <a:r>
              <a:rPr sz="1150" b="1">
                <a:solidFill>
                  <a:srgbClr val="1B2333"/>
                </a:solidFill>
                <a:latin typeface="Segoe UI"/>
              </a:rPr>
              <a:t>• Throughput: </a:t>
            </a:r>
            <a:r>
              <a:rPr sz="1150" b="0">
                <a:solidFill>
                  <a:srgbClr val="3B4A5E"/>
                </a:solidFill>
                <a:latin typeface="Segoe UI"/>
              </a:rPr>
              <a:t>250 Mbps fixo (2 inst.)</a:t>
            </a:r>
          </a:p>
          <a:p>
            <a:pPr algn="l">
              <a:spcBef>
                <a:spcPts val="500"/>
              </a:spcBef>
            </a:pPr>
            <a:r>
              <a:rPr sz="1150" b="1">
                <a:solidFill>
                  <a:srgbClr val="1B2333"/>
                </a:solidFill>
                <a:latin typeface="Segoe UI"/>
              </a:rPr>
              <a:t>• Recursos: </a:t>
            </a:r>
            <a:r>
              <a:rPr sz="1150" b="0">
                <a:solidFill>
                  <a:srgbClr val="3B4A5E"/>
                </a:solidFill>
                <a:latin typeface="Segoe UI"/>
              </a:rPr>
              <a:t>sem DNS Proxy; TI só Alert</a:t>
            </a:r>
          </a:p>
          <a:p>
            <a:pPr algn="l">
              <a:spcBef>
                <a:spcPts val="5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46" name="Shape 46"/>
          <p:cNvSpPr/>
          <p:nvPr/>
        </p:nvSpPr>
        <p:spPr>
          <a:xfrm>
            <a:off x="4242816" y="3785616"/>
            <a:ext cx="3511296" cy="1499616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4407408" y="3858768"/>
            <a:ext cx="3218688" cy="1353312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1">
                <a:solidFill>
                  <a:srgbClr val="005A9E"/>
                </a:solidFill>
                <a:latin typeface="Segoe UI"/>
              </a:rPr>
              <a:t>Standard SKU · Enterprise L3–L7</a:t>
            </a:r>
          </a:p>
          <a:p>
            <a:pPr algn="l">
              <a:spcBef>
                <a:spcPts val="600"/>
              </a:spcBef>
            </a:pPr>
            <a:r>
              <a:rPr sz="1150" b="1">
                <a:solidFill>
                  <a:srgbClr val="1B2333"/>
                </a:solidFill>
                <a:latin typeface="Segoe UI"/>
              </a:rPr>
              <a:t>• Throughput: </a:t>
            </a:r>
            <a:r>
              <a:rPr sz="1150" b="0">
                <a:solidFill>
                  <a:srgbClr val="3B4A5E"/>
                </a:solidFill>
                <a:latin typeface="Segoe UI"/>
              </a:rPr>
              <a:t>3G inicial → até 30 Gbps</a:t>
            </a:r>
          </a:p>
          <a:p>
            <a:pPr algn="l">
              <a:spcBef>
                <a:spcPts val="500"/>
              </a:spcBef>
            </a:pPr>
            <a:r>
              <a:rPr sz="1150" b="1">
                <a:solidFill>
                  <a:srgbClr val="1B2333"/>
                </a:solidFill>
                <a:latin typeface="Segoe UI"/>
              </a:rPr>
              <a:t>• Recursos: </a:t>
            </a:r>
            <a:r>
              <a:rPr sz="1150" b="0">
                <a:solidFill>
                  <a:srgbClr val="3B4A5E"/>
                </a:solidFill>
                <a:latin typeface="Segoe UI"/>
              </a:rPr>
              <a:t>DNS Proxy e FQDN Network</a:t>
            </a:r>
          </a:p>
          <a:p>
            <a:pPr algn="l">
              <a:spcBef>
                <a:spcPts val="5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</p:txBody>
      </p:sp>
      <p:sp>
        <p:nvSpPr>
          <p:cNvPr id="48" name="Shape 48"/>
          <p:cNvSpPr/>
          <p:nvPr/>
        </p:nvSpPr>
        <p:spPr>
          <a:xfrm>
            <a:off x="7936992" y="3785616"/>
            <a:ext cx="3703320" cy="1499616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TextBox 49"/>
          <p:cNvSpPr txBox="1"/>
          <p:nvPr/>
        </p:nvSpPr>
        <p:spPr>
          <a:xfrm>
            <a:off x="8101584" y="3858768"/>
            <a:ext cx="3410712" cy="1353312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sz="1400" b="1">
                <a:solidFill>
                  <a:srgbClr val="0078D4"/>
                </a:solidFill>
                <a:latin typeface="Segoe UI"/>
              </a:rPr>
              <a:t>Premium SKU · TLS + IDPS</a:t>
            </a:r>
          </a:p>
          <a:p>
            <a:pPr algn="l">
              <a:spcBef>
                <a:spcPts val="600"/>
              </a:spcBef>
            </a:pPr>
            <a:r>
              <a:rPr sz="1150" b="1">
                <a:solidFill>
                  <a:srgbClr val="1B2333"/>
                </a:solidFill>
                <a:latin typeface="Segoe UI"/>
              </a:rPr>
              <a:t>• Throughput: </a:t>
            </a:r>
            <a:r>
              <a:rPr sz="1150" b="0">
                <a:solidFill>
                  <a:srgbClr val="3B4A5E"/>
                </a:solidFill>
                <a:latin typeface="Segoe UI"/>
              </a:rPr>
              <a:t>18G inicial → até 100 Gbps</a:t>
            </a:r>
          </a:p>
          <a:p>
            <a:pPr algn="l">
              <a:spcBef>
                <a:spcPts val="500"/>
              </a:spcBef>
            </a:pPr>
            <a:r>
              <a:rPr sz="1150" b="1">
                <a:solidFill>
                  <a:srgbClr val="1B2333"/>
                </a:solidFill>
                <a:latin typeface="Segoe UI"/>
              </a:rPr>
              <a:t>• Recursos: </a:t>
            </a:r>
            <a:r>
              <a:rPr sz="1150" b="0">
                <a:solidFill>
                  <a:srgbClr val="3B4A5E"/>
                </a:solidFill>
                <a:latin typeface="Segoe UI"/>
              </a:rPr>
              <a:t>TLS, URL Filtering e IDPS</a:t>
            </a:r>
          </a:p>
          <a:p>
            <a:pPr algn="l">
              <a:spcBef>
                <a:spcPts val="500"/>
              </a:spcBef>
            </a:pPr>
            <a:endParaRPr sz="1150" b="0">
              <a:solidFill>
                <a:srgbClr val="3B4A5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pt-BR" sz="3000" b="1">
                <a:solidFill>
                  <a:srgbClr val="0B1B3F"/>
                </a:solidFill>
                <a:latin typeface="Segoe UI"/>
              </a:rPr>
              <a:t>Laboratório prático</a:t>
            </a: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pt-BR" sz="1600" b="0">
                <a:solidFill>
                  <a:srgbClr val="3B4A5E"/>
                </a:solidFill>
                <a:latin typeface="Segoe UI"/>
              </a:rPr>
              <a:t>Depois da teoria, você executa o que viu no seu próprio ambiente</a:t>
            </a:r>
          </a:p>
        </p:txBody>
      </p:sp>
      <p:sp>
        <p:nvSpPr>
          <p:cNvPr id="4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pt-BR" sz="1200" b="1">
                <a:solidFill>
                  <a:srgbClr val="005A9E"/>
                </a:solidFill>
                <a:latin typeface="Segoe UI"/>
              </a:rPr>
              <a:t>LABORATÓRIO</a:t>
            </a:r>
          </a:p>
        </p:txBody>
      </p:sp>
      <p:sp>
        <p:nvSpPr>
          <p:cNvPr id="6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A9C7E8"/>
          </a:solidFill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pt-BR" sz="1200" b="0">
                <a:solidFill>
                  <a:srgbClr val="3B4A5E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pt-BR" sz="1200" b="1">
                <a:solidFill>
                  <a:srgbClr val="3B4A5E"/>
                </a:solidFill>
                <a:latin typeface="Segoe UI"/>
              </a:rPr>
              <a:t>42</a:t>
            </a:r>
          </a:p>
        </p:txBody>
      </p:sp>
      <p:sp>
        <p:nvSpPr>
          <p:cNvPr id="15" name="Shape"/>
          <p:cNvSpPr/>
          <p:nvPr/>
        </p:nvSpPr>
        <p:spPr>
          <a:xfrm>
            <a:off x="548640" y="1600200"/>
            <a:ext cx="5432908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822960" y="1737360"/>
            <a:ext cx="4884268" cy="41148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pt-BR" sz="1800" b="1">
                <a:solidFill>
                  <a:srgbClr val="0B1B3F"/>
                </a:solidFill>
                <a:latin typeface="Segoe UI"/>
              </a:rPr>
              <a:t>O que você vai executar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822960" y="2240280"/>
            <a:ext cx="4884268" cy="292608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pt-BR" sz="1600" b="1">
                <a:solidFill>
                  <a:srgbClr val="0078D4"/>
                </a:solidFill>
                <a:latin typeface="Segoe UI"/>
              </a:rPr>
              <a:t>Ex0 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Preflight e deploy da base</a:t>
            </a:r>
          </a:p>
          <a:p>
            <a:pPr algn="l">
              <a:spcBef>
                <a:spcPts val="1100"/>
              </a:spcBef>
            </a:pPr>
            <a:r>
              <a:rPr lang="pt-BR" sz="1600" b="1">
                <a:solidFill>
                  <a:srgbClr val="0078D4"/>
                </a:solidFill>
                <a:latin typeface="Segoe UI"/>
              </a:rPr>
              <a:t>Ex1 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Diagnostics, IP Groups e primeiras regras</a:t>
            </a:r>
          </a:p>
          <a:p>
            <a:pPr algn="l">
              <a:spcBef>
                <a:spcPts val="1100"/>
              </a:spcBef>
            </a:pPr>
            <a:r>
              <a:rPr lang="pt-BR" sz="1600" b="1">
                <a:solidFill>
                  <a:srgbClr val="0078D4"/>
                </a:solidFill>
                <a:latin typeface="Segoe UI"/>
              </a:rPr>
              <a:t>Ex2 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Precedência: tipo → grupo → collection</a:t>
            </a:r>
          </a:p>
          <a:p>
            <a:pPr algn="l">
              <a:spcBef>
                <a:spcPts val="1100"/>
              </a:spcBef>
            </a:pPr>
            <a:r>
              <a:rPr lang="pt-BR" sz="1600" b="1">
                <a:solidFill>
                  <a:srgbClr val="0078D4"/>
                </a:solidFill>
                <a:latin typeface="Segoe UI"/>
              </a:rPr>
              <a:t>Ex3 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Policy pai e filhas, com herança</a:t>
            </a:r>
          </a:p>
          <a:p>
            <a:pPr algn="l">
              <a:spcBef>
                <a:spcPts val="1100"/>
              </a:spcBef>
            </a:pPr>
            <a:r>
              <a:rPr lang="pt-BR" sz="1600" b="1">
                <a:solidFill>
                  <a:srgbClr val="0078D4"/>
                </a:solidFill>
                <a:latin typeface="Segoe UI"/>
              </a:rPr>
              <a:t>Ex4 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Policy Analytics</a:t>
            </a:r>
          </a:p>
          <a:p>
            <a:pPr algn="l">
              <a:spcBef>
                <a:spcPts val="1100"/>
              </a:spcBef>
            </a:pPr>
            <a:r>
              <a:rPr lang="pt-BR" sz="1600" b="1">
                <a:solidFill>
                  <a:srgbClr val="0078D4"/>
                </a:solidFill>
                <a:latin typeface="Segoe UI"/>
              </a:rPr>
              <a:t>Ex5 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Alertas de métrica com Action Group</a:t>
            </a:r>
          </a:p>
          <a:p>
            <a:pPr algn="l">
              <a:spcBef>
                <a:spcPts val="1100"/>
              </a:spcBef>
            </a:pPr>
            <a:r>
              <a:rPr lang="pt-BR" sz="1600" b="1">
                <a:solidFill>
                  <a:srgbClr val="0078D4"/>
                </a:solidFill>
                <a:latin typeface="Segoe UI"/>
              </a:rPr>
              <a:t>Ex6 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TLS, URL e IDPS (opcional)</a:t>
            </a:r>
          </a:p>
        </p:txBody>
      </p:sp>
      <p:sp>
        <p:nvSpPr>
          <p:cNvPr id="18" name="Shape"/>
          <p:cNvSpPr/>
          <p:nvPr/>
        </p:nvSpPr>
        <p:spPr>
          <a:xfrm>
            <a:off x="6210148" y="1600200"/>
            <a:ext cx="5432908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DCE4EE"/>
            </a:solidFill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9" name="TextBox"/>
          <p:cNvSpPr txBox="1"/>
          <p:nvPr/>
        </p:nvSpPr>
        <p:spPr>
          <a:xfrm>
            <a:off x="6484468" y="1737360"/>
            <a:ext cx="4884268" cy="41148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pt-BR" sz="1800" b="1">
                <a:solidFill>
                  <a:srgbClr val="0B1B3F"/>
                </a:solidFill>
                <a:latin typeface="Segoe UI"/>
              </a:rPr>
              <a:t>Antes de começar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6484468" y="2240280"/>
            <a:ext cx="4884268" cy="292608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pt-BR" sz="1600" b="1">
                <a:solidFill>
                  <a:srgbClr val="0B1B3F"/>
                </a:solidFill>
                <a:latin typeface="Segoe UI"/>
              </a:rPr>
              <a:t>Assinatura: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Azure própria (ex.: conta Trial) com permissão Owner</a:t>
            </a:r>
          </a:p>
          <a:p>
            <a:pPr algn="l">
              <a:spcBef>
                <a:spcPts val="1500"/>
              </a:spcBef>
            </a:pPr>
            <a:r>
              <a:rPr lang="pt-BR" sz="1600" b="1">
                <a:solidFill>
                  <a:srgbClr val="0B1B3F"/>
                </a:solidFill>
                <a:latin typeface="Segoe UI"/>
              </a:rPr>
              <a:t>Ambiente: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Azure Cloud Shell (Bash) e navegador; nada a instalar</a:t>
            </a:r>
          </a:p>
          <a:p>
            <a:pPr algn="l">
              <a:spcBef>
                <a:spcPts val="1500"/>
              </a:spcBef>
            </a:pPr>
            <a:r>
              <a:rPr lang="pt-BR" sz="1600" b="1">
                <a:solidFill>
                  <a:srgbClr val="0B1B3F"/>
                </a:solidFill>
                <a:latin typeface="Segoe UI"/>
              </a:rPr>
              <a:t>Custo: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≈ US$ 4,4 por hora, por ambiente</a:t>
            </a:r>
          </a:p>
          <a:p>
            <a:pPr algn="l">
              <a:spcBef>
                <a:spcPts val="1500"/>
              </a:spcBef>
            </a:pPr>
            <a:r>
              <a:rPr lang="pt-BR" sz="1600" b="1">
                <a:solidFill>
                  <a:srgbClr val="0B1B3F"/>
                </a:solidFill>
                <a:latin typeface="Segoe UI"/>
              </a:rPr>
              <a:t>Encerramento: </a:t>
            </a:r>
            <a:r>
              <a:rPr lang="pt-BR" sz="1600" b="0">
                <a:solidFill>
                  <a:srgbClr val="3B4A5E"/>
                </a:solidFill>
                <a:latin typeface="Segoe UI"/>
              </a:rPr>
              <a:t>cleanup verificado ao final é obrigatório</a:t>
            </a:r>
          </a:p>
        </p:txBody>
      </p:sp>
      <p:sp>
        <p:nvSpPr>
          <p:cNvPr id="21" name="Shape"/>
          <p:cNvSpPr/>
          <p:nvPr/>
        </p:nvSpPr>
        <p:spPr>
          <a:xfrm>
            <a:off x="548640" y="5468112"/>
            <a:ext cx="11094415" cy="676656"/>
          </a:xfrm>
          <a:prstGeom prst="roundRect">
            <a:avLst/>
          </a:prstGeom>
          <a:solidFill>
            <a:srgbClr val="0B1B3F"/>
          </a:solidFill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2" name="Shape"/>
          <p:cNvSpPr/>
          <p:nvPr/>
        </p:nvSpPr>
        <p:spPr>
          <a:xfrm rot="5400000">
            <a:off x="749808" y="5724144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3" name="TextBox">
            <a:hlinkClick r:id="rId3"/>
          </p:cNvPr>
          <p:cNvSpPr txBox="1"/>
          <p:nvPr/>
        </p:nvSpPr>
        <p:spPr>
          <a:xfrm>
            <a:off x="1005840" y="5504688"/>
            <a:ext cx="10454335" cy="60350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pt-BR" sz="2000" b="1" u="sng">
                <a:solidFill>
                  <a:srgbClr val="50E6FF"/>
                </a:solidFill>
                <a:latin typeface="Segoe UI"/>
              </a:rPr>
              <a:t>https://lebarbos.github.io/azure-firewall-ops-lab/</a:t>
            </a:r>
          </a:p>
          <a:p>
            <a:pPr algn="l">
              <a:spcBef>
                <a:spcPts val="200"/>
              </a:spcBef>
            </a:pPr>
            <a:r>
              <a:rPr lang="pt-BR" sz="1300" b="0">
                <a:solidFill>
                  <a:srgbClr val="C9D6EA"/>
                </a:solidFill>
                <a:latin typeface="Segoe UI"/>
              </a:rPr>
              <a:t>Guia do aluno, em português · código e materiais em github.com/lebarbos/azure-firewall-ops-lab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F"/>
          </a:solidFill>
        </p:spPr>
        <p:txBody>
          <a:bodyPr/>
          <a:lstStyle/>
          <a:p>
            <a:endParaRPr/>
          </a:p>
        </p:txBody>
      </p:sp>
      <p:pic>
        <p:nvPicPr>
          <p:cNvPr id="5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530352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Segoe UI"/>
              </a:rPr>
              <a:t>Boas práticas e fechamento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4415" cy="329184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marL="0" indent="0" algn="l">
              <a:buNone/>
            </a:pPr>
            <a:r>
              <a:rPr lang="en-US" sz="1600" b="0">
                <a:solidFill>
                  <a:srgbClr val="C9D6EA"/>
                </a:solidFill>
                <a:latin typeface="Segoe UI"/>
              </a:rPr>
              <a:t>Os pilares do Well-Architected aplicados ao Azure Firewall</a:t>
            </a:r>
            <a:endParaRPr lang="en-US" sz="1600"/>
          </a:p>
        </p:txBody>
      </p:sp>
      <p:sp>
        <p:nvSpPr>
          <p:cNvPr id="7" name="Shape"/>
          <p:cNvSpPr/>
          <p:nvPr/>
        </p:nvSpPr>
        <p:spPr>
          <a:xfrm>
            <a:off x="9137599" y="420624"/>
            <a:ext cx="310896" cy="54864"/>
          </a:xfrm>
          <a:prstGeom prst="rect">
            <a:avLst/>
          </a:prstGeom>
          <a:solidFill>
            <a:srgbClr val="4D6A99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9503359" y="420624"/>
            <a:ext cx="310896" cy="54864"/>
          </a:xfrm>
          <a:prstGeom prst="rect">
            <a:avLst/>
          </a:prstGeom>
          <a:solidFill>
            <a:srgbClr val="4D6A99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9869119" y="420624"/>
            <a:ext cx="310896" cy="54864"/>
          </a:xfrm>
          <a:prstGeom prst="rect">
            <a:avLst/>
          </a:prstGeom>
          <a:solidFill>
            <a:srgbClr val="4D6A99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10234879" y="420624"/>
            <a:ext cx="310896" cy="54864"/>
          </a:xfrm>
          <a:prstGeom prst="rect">
            <a:avLst/>
          </a:prstGeom>
          <a:solidFill>
            <a:srgbClr val="4D6A99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10600639" y="420624"/>
            <a:ext cx="310896" cy="54864"/>
          </a:xfrm>
          <a:prstGeom prst="rect">
            <a:avLst/>
          </a:prstGeom>
          <a:solidFill>
            <a:srgbClr val="4D6A99"/>
          </a:solidFill>
        </p:spPr>
        <p:txBody>
          <a:bodyPr/>
          <a:lstStyle/>
          <a:p>
            <a:endParaRPr/>
          </a:p>
        </p:txBody>
      </p:sp>
      <p:sp>
        <p:nvSpPr>
          <p:cNvPr id="12" name="Shape"/>
          <p:cNvSpPr/>
          <p:nvPr/>
        </p:nvSpPr>
        <p:spPr>
          <a:xfrm>
            <a:off x="10966399" y="420624"/>
            <a:ext cx="310896" cy="54864"/>
          </a:xfrm>
          <a:prstGeom prst="rect">
            <a:avLst/>
          </a:prstGeom>
          <a:solidFill>
            <a:srgbClr val="4D6A99"/>
          </a:solidFill>
        </p:spPr>
        <p:txBody>
          <a:bodyPr/>
          <a:lstStyle/>
          <a:p>
            <a:endParaRPr/>
          </a:p>
        </p:txBody>
      </p:sp>
      <p:sp>
        <p:nvSpPr>
          <p:cNvPr id="13" name="Shape"/>
          <p:cNvSpPr/>
          <p:nvPr/>
        </p:nvSpPr>
        <p:spPr>
          <a:xfrm>
            <a:off x="11332159" y="420624"/>
            <a:ext cx="310896" cy="54864"/>
          </a:xfrm>
          <a:prstGeom prst="rect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14" name="TextBox"/>
          <p:cNvSpPr txBox="1"/>
          <p:nvPr/>
        </p:nvSpPr>
        <p:spPr>
          <a:xfrm>
            <a:off x="548640" y="6382512"/>
            <a:ext cx="73152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0">
                <a:solidFill>
                  <a:srgbClr val="AFC0DA"/>
                </a:solidFill>
                <a:latin typeface="Segoe UI"/>
              </a:rPr>
              <a:t>Azure Firewall · arquitetura, ordem de processamento e operação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0728655" y="6382512"/>
            <a:ext cx="914400" cy="219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en-US" sz="1200" b="1">
                <a:solidFill>
                  <a:srgbClr val="AFC0DA"/>
                </a:solidFill>
                <a:latin typeface="Segoe UI"/>
              </a:rPr>
              <a:t>43</a:t>
            </a:r>
            <a:endParaRPr sz="1200" b="1">
              <a:solidFill>
                <a:srgbClr val="AFC0DA"/>
              </a:solidFill>
              <a:latin typeface="Segoe UI"/>
            </a:endParaRPr>
          </a:p>
        </p:txBody>
      </p:sp>
      <p:sp>
        <p:nvSpPr>
          <p:cNvPr id="16" name="Shape"/>
          <p:cNvSpPr/>
          <p:nvPr/>
        </p:nvSpPr>
        <p:spPr>
          <a:xfrm>
            <a:off x="548640" y="1645920"/>
            <a:ext cx="8275320" cy="566928"/>
          </a:xfrm>
          <a:prstGeom prst="rect">
            <a:avLst/>
          </a:prstGeom>
          <a:solidFill>
            <a:srgbClr val="132B58">
              <a:alpha val="78000"/>
            </a:srgbClr>
          </a:solidFill>
          <a:ln w="9525">
            <a:solidFill>
              <a:srgbClr val="2F4C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hape"/>
          <p:cNvSpPr/>
          <p:nvPr/>
        </p:nvSpPr>
        <p:spPr>
          <a:xfrm>
            <a:off x="676656" y="1755648"/>
            <a:ext cx="1783080" cy="347472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Confiabilidade</a:t>
            </a:r>
          </a:p>
        </p:txBody>
      </p:sp>
      <p:sp>
        <p:nvSpPr>
          <p:cNvPr id="19" name="Shape"/>
          <p:cNvSpPr/>
          <p:nvPr/>
        </p:nvSpPr>
        <p:spPr>
          <a:xfrm>
            <a:off x="548640" y="2286000"/>
            <a:ext cx="8275320" cy="566928"/>
          </a:xfrm>
          <a:prstGeom prst="rect">
            <a:avLst/>
          </a:prstGeom>
          <a:solidFill>
            <a:srgbClr val="132B58">
              <a:alpha val="78000"/>
            </a:srgbClr>
          </a:solidFill>
          <a:ln w="9525">
            <a:solidFill>
              <a:srgbClr val="2F4C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Shape"/>
          <p:cNvSpPr/>
          <p:nvPr/>
        </p:nvSpPr>
        <p:spPr>
          <a:xfrm>
            <a:off x="676656" y="2395728"/>
            <a:ext cx="1783080" cy="347472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Segurança</a:t>
            </a:r>
          </a:p>
        </p:txBody>
      </p:sp>
      <p:sp>
        <p:nvSpPr>
          <p:cNvPr id="22" name="Shape"/>
          <p:cNvSpPr/>
          <p:nvPr/>
        </p:nvSpPr>
        <p:spPr>
          <a:xfrm>
            <a:off x="548640" y="2926080"/>
            <a:ext cx="8275320" cy="566928"/>
          </a:xfrm>
          <a:prstGeom prst="rect">
            <a:avLst/>
          </a:prstGeom>
          <a:solidFill>
            <a:srgbClr val="132B58">
              <a:alpha val="78000"/>
            </a:srgbClr>
          </a:solidFill>
          <a:ln w="9525">
            <a:solidFill>
              <a:srgbClr val="2F4C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Shape"/>
          <p:cNvSpPr/>
          <p:nvPr/>
        </p:nvSpPr>
        <p:spPr>
          <a:xfrm>
            <a:off x="676656" y="3035808"/>
            <a:ext cx="1783080" cy="347472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Custo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2633472" y="2953512"/>
            <a:ext cx="6035040" cy="51206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SKU certo · parar o que não precisa rodar · revisar IPs públicos</a:t>
            </a:r>
          </a:p>
          <a:p>
            <a:pPr algn="l"/>
            <a:r>
              <a:rPr sz="1200" b="1">
                <a:solidFill>
                  <a:srgbClr val="50E6FF"/>
                </a:solidFill>
                <a:latin typeface="Segoe UI"/>
              </a:rPr>
              <a:t>slide 4</a:t>
            </a:r>
          </a:p>
        </p:txBody>
      </p:sp>
      <p:sp>
        <p:nvSpPr>
          <p:cNvPr id="25" name="Shape"/>
          <p:cNvSpPr/>
          <p:nvPr/>
        </p:nvSpPr>
        <p:spPr>
          <a:xfrm>
            <a:off x="548640" y="3566160"/>
            <a:ext cx="8275320" cy="566928"/>
          </a:xfrm>
          <a:prstGeom prst="rect">
            <a:avLst/>
          </a:prstGeom>
          <a:solidFill>
            <a:srgbClr val="132B58">
              <a:alpha val="78000"/>
            </a:srgbClr>
          </a:solidFill>
          <a:ln w="9525">
            <a:solidFill>
              <a:srgbClr val="2F4C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hape"/>
          <p:cNvSpPr/>
          <p:nvPr/>
        </p:nvSpPr>
        <p:spPr>
          <a:xfrm>
            <a:off x="676656" y="3675888"/>
            <a:ext cx="1783080" cy="347472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Operação</a:t>
            </a:r>
          </a:p>
        </p:txBody>
      </p:sp>
      <p:sp>
        <p:nvSpPr>
          <p:cNvPr id="28" name="Shape"/>
          <p:cNvSpPr/>
          <p:nvPr/>
        </p:nvSpPr>
        <p:spPr>
          <a:xfrm>
            <a:off x="548640" y="4206240"/>
            <a:ext cx="8275320" cy="566928"/>
          </a:xfrm>
          <a:prstGeom prst="rect">
            <a:avLst/>
          </a:prstGeom>
          <a:solidFill>
            <a:srgbClr val="132B58">
              <a:alpha val="78000"/>
            </a:srgbClr>
          </a:solidFill>
          <a:ln w="9525">
            <a:solidFill>
              <a:srgbClr val="2F4C8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Shape"/>
          <p:cNvSpPr/>
          <p:nvPr/>
        </p:nvSpPr>
        <p:spPr>
          <a:xfrm>
            <a:off x="676656" y="4315968"/>
            <a:ext cx="1783080" cy="347472"/>
          </a:xfrm>
          <a:prstGeom prst="roundRect">
            <a:avLst/>
          </a:prstGeom>
          <a:solidFill>
            <a:srgbClr val="0078D4"/>
          </a:solidFill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Desempenho</a:t>
            </a:r>
          </a:p>
        </p:txBody>
      </p:sp>
      <p:sp>
        <p:nvSpPr>
          <p:cNvPr id="31" name="Shape"/>
          <p:cNvSpPr/>
          <p:nvPr/>
        </p:nvSpPr>
        <p:spPr>
          <a:xfrm>
            <a:off x="9098280" y="1600200"/>
            <a:ext cx="2377440" cy="2377440"/>
          </a:xfrm>
          <a:prstGeom prst="ellipse">
            <a:avLst/>
          </a:prstGeom>
          <a:solidFill>
            <a:srgbClr val="0078D4">
              <a:alpha val="9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" name="Shape"/>
          <p:cNvSpPr/>
          <p:nvPr/>
        </p:nvSpPr>
        <p:spPr>
          <a:xfrm>
            <a:off x="9326880" y="1828800"/>
            <a:ext cx="1920240" cy="1920240"/>
          </a:xfrm>
          <a:prstGeom prst="ellipse">
            <a:avLst/>
          </a:prstGeom>
          <a:solidFill>
            <a:srgbClr val="0078D4">
              <a:alpha val="1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9555480" y="2057400"/>
            <a:ext cx="1463040" cy="1463040"/>
          </a:xfrm>
          <a:prstGeom prst="ellipse">
            <a:avLst/>
          </a:prstGeom>
          <a:ln w="12700">
            <a:solidFill>
              <a:srgbClr val="58B7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9683496" y="2185416"/>
            <a:ext cx="1207008" cy="12070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8D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5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9902952" y="2404872"/>
            <a:ext cx="768096" cy="768096"/>
          </a:xfrm>
          <a:prstGeom prst="rect">
            <a:avLst/>
          </a:prstGeom>
        </p:spPr>
      </p:pic>
      <p:sp>
        <p:nvSpPr>
          <p:cNvPr id="36" name="TextBox"/>
          <p:cNvSpPr txBox="1"/>
          <p:nvPr/>
        </p:nvSpPr>
        <p:spPr>
          <a:xfrm>
            <a:off x="8869680" y="3840480"/>
            <a:ext cx="2834640" cy="56692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Perguntas?</a:t>
            </a:r>
          </a:p>
        </p:txBody>
      </p:sp>
      <p:sp>
        <p:nvSpPr>
          <p:cNvPr id="37" name="Shape"/>
          <p:cNvSpPr/>
          <p:nvPr/>
        </p:nvSpPr>
        <p:spPr>
          <a:xfrm>
            <a:off x="548640" y="5029200"/>
            <a:ext cx="11094415" cy="896112"/>
          </a:xfrm>
          <a:prstGeom prst="roundRect">
            <a:avLst/>
          </a:prstGeom>
          <a:solidFill>
            <a:srgbClr val="132B58">
              <a:alpha val="85000"/>
            </a:srgbClr>
          </a:solidFill>
          <a:ln w="12700">
            <a:solidFill>
              <a:srgbClr val="3D5E9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Shape"/>
          <p:cNvSpPr/>
          <p:nvPr/>
        </p:nvSpPr>
        <p:spPr>
          <a:xfrm rot="5400000">
            <a:off x="749808" y="5394960"/>
            <a:ext cx="164592" cy="164592"/>
          </a:xfrm>
          <a:prstGeom prst="triangle">
            <a:avLst/>
          </a:prstGeom>
          <a:solidFill>
            <a:srgbClr val="50E6FF"/>
          </a:solidFill>
        </p:spPr>
        <p:txBody>
          <a:bodyPr/>
          <a:lstStyle/>
          <a:p>
            <a:endParaRPr/>
          </a:p>
        </p:txBody>
      </p:sp>
      <p:sp>
        <p:nvSpPr>
          <p:cNvPr id="40" name="Shape"/>
          <p:cNvSpPr/>
          <p:nvPr/>
        </p:nvSpPr>
        <p:spPr>
          <a:xfrm>
            <a:off x="548640" y="324612"/>
            <a:ext cx="402336" cy="246888"/>
          </a:xfrm>
          <a:prstGeom prst="roundRect">
            <a:avLst/>
          </a:prstGeom>
          <a:solidFill>
            <a:srgbClr val="50E6FF"/>
          </a:solidFill>
        </p:spPr>
        <p:txBody>
          <a:bodyPr lIns="0" tIns="0" rIns="0" bIns="0" anchor="ctr"/>
          <a:lstStyle/>
          <a:p>
            <a:pPr algn="ctr"/>
            <a:r>
              <a:rPr sz="1200" b="1">
                <a:solidFill>
                  <a:srgbClr val="0B1B3F"/>
                </a:solidFill>
                <a:latin typeface="Segoe UI"/>
              </a:rPr>
              <a:t>07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1042416" y="324612"/>
            <a:ext cx="5486400" cy="2468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sz="1200" b="1">
                <a:solidFill>
                  <a:srgbClr val="50E6FF"/>
                </a:solidFill>
                <a:latin typeface="Segoe UI"/>
              </a:rPr>
              <a:t>FECHAMENTO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A9245D98-D972-2E63-165D-95D395C6D568}"/>
              </a:ext>
            </a:extLst>
          </p:cNvPr>
          <p:cNvSpPr/>
          <p:nvPr/>
        </p:nvSpPr>
        <p:spPr>
          <a:xfrm>
            <a:off x="2542032" y="1627632"/>
            <a:ext cx="6217920" cy="6035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zonas de disponibilidade · alertas de health e Resource Health</a:t>
            </a:r>
          </a:p>
          <a:p>
            <a:pPr algn="l">
              <a:buNone/>
            </a:pPr>
            <a:r>
              <a:rPr lang="en-US" sz="1200" b="1">
                <a:solidFill>
                  <a:srgbClr val="50E6FF"/>
                </a:solidFill>
                <a:effectLst/>
                <a:latin typeface="Segoe UI" panose="020B0502040204020203" pitchFamily="34" charset="0"/>
              </a:rPr>
              <a:t>slides 11 e 38</a:t>
            </a:r>
            <a:endParaRPr lang="en-US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532560F-7C2F-606F-7CF8-0210117F4326}"/>
              </a:ext>
            </a:extLst>
          </p:cNvPr>
          <p:cNvSpPr/>
          <p:nvPr/>
        </p:nvSpPr>
        <p:spPr>
          <a:xfrm>
            <a:off x="2542032" y="2267712"/>
            <a:ext cx="6217920" cy="6035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Threat Intel em Alert and Deny · menor privilégio, em hierarquia</a:t>
            </a:r>
          </a:p>
          <a:p>
            <a:pPr algn="l">
              <a:buNone/>
            </a:pPr>
            <a:r>
              <a:rPr lang="en-US" sz="1200" b="1">
                <a:solidFill>
                  <a:srgbClr val="50E6FF"/>
                </a:solidFill>
                <a:effectLst/>
                <a:latin typeface="Segoe UI" panose="020B0502040204020203" pitchFamily="34" charset="0"/>
              </a:rPr>
              <a:t>slides 24 e 33</a:t>
            </a:r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7D4393B1-50BA-7417-0C7E-BFD2E64DAA0C}"/>
              </a:ext>
            </a:extLst>
          </p:cNvPr>
          <p:cNvSpPr/>
          <p:nvPr/>
        </p:nvSpPr>
        <p:spPr>
          <a:xfrm>
            <a:off x="2542032" y="3547872"/>
            <a:ext cx="6217920" cy="6035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logs estruturados e workbook · manutenção controlada</a:t>
            </a:r>
          </a:p>
          <a:p>
            <a:pPr algn="l">
              <a:buNone/>
            </a:pPr>
            <a:r>
              <a:rPr lang="en-US" sz="1200" b="1">
                <a:solidFill>
                  <a:srgbClr val="50E6FF"/>
                </a:solidFill>
                <a:effectLst/>
                <a:latin typeface="Segoe UI" panose="020B0502040204020203" pitchFamily="34" charset="0"/>
              </a:rPr>
              <a:t>slides 36 a 39</a:t>
            </a:r>
            <a:endParaRPr lang="en-US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8C443666-CB99-6F7D-D776-5C77D6A7FD74}"/>
              </a:ext>
            </a:extLst>
          </p:cNvPr>
          <p:cNvSpPr/>
          <p:nvPr/>
        </p:nvSpPr>
        <p:spPr>
          <a:xfrm>
            <a:off x="2542032" y="4187952"/>
            <a:ext cx="6217920" cy="6035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IP Groups, Policy Analytics e prescaling · evitar esgotar SNAT</a:t>
            </a:r>
          </a:p>
          <a:p>
            <a:pPr algn="l">
              <a:buNone/>
            </a:pPr>
            <a:r>
              <a:rPr lang="en-US" sz="1200" b="1">
                <a:solidFill>
                  <a:srgbClr val="50E6FF"/>
                </a:solidFill>
                <a:effectLst/>
                <a:latin typeface="Segoe UI" panose="020B0502040204020203" pitchFamily="34" charset="0"/>
              </a:rPr>
              <a:t>slides 5, 30 e 31</a:t>
            </a:r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ED4C4C36-4C5C-E73F-F7C9-F06344D2E3F9}"/>
              </a:ext>
            </a:extLst>
          </p:cNvPr>
          <p:cNvSpPr/>
          <p:nvPr/>
        </p:nvSpPr>
        <p:spPr>
          <a:xfrm>
            <a:off x="914400" y="5038344"/>
            <a:ext cx="10637215" cy="8778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O que levar: onde o firewall entra, qual regra vence e como provar</a:t>
            </a:r>
          </a:p>
          <a:p>
            <a:pPr algn="l">
              <a:buNone/>
            </a:pPr>
            <a:r>
              <a:rPr lang="en-US" sz="1400">
                <a:solidFill>
                  <a:srgbClr val="C9D6EA"/>
                </a:solidFill>
                <a:effectLst/>
                <a:latin typeface="Segoe UI" panose="020B0502040204020203" pitchFamily="34" charset="0"/>
              </a:rPr>
              <a:t>Arquitetura (7–12) · Policies e regras (13–32) · Operação (36–39)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Firewall v5 · visual C">
  <a:themeElements>
    <a:clrScheme name="Azure Firewall v5 · visual C">
      <a:dk1>
        <a:srgbClr val="242424"/>
      </a:dk1>
      <a:lt1>
        <a:srgbClr val="FFFFFF"/>
      </a:lt1>
      <a:dk2>
        <a:srgbClr val="605E5C"/>
      </a:dk2>
      <a:lt2>
        <a:srgbClr val="F3F2F1"/>
      </a:lt2>
      <a:accent1>
        <a:srgbClr val="0078D4"/>
      </a:accent1>
      <a:accent2>
        <a:srgbClr val="5B57C2"/>
      </a:accent2>
      <a:accent3>
        <a:srgbClr val="0F7B64"/>
      </a:accent3>
      <a:accent4>
        <a:srgbClr val="B4471F"/>
      </a:accent4>
      <a:accent5>
        <a:srgbClr val="3B6D11"/>
      </a:accent5>
      <a:accent6>
        <a:srgbClr val="A32D2D"/>
      </a:accent6>
      <a:hlink>
        <a:srgbClr val="0078D4"/>
      </a:hlink>
      <a:folHlink>
        <a:srgbClr val="3C3489"/>
      </a:folHlink>
    </a:clrScheme>
    <a:fontScheme name="Azure Firewall v5 · visual C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7224</Words>
  <Application>Microsoft Macintosh PowerPoint</Application>
  <PresentationFormat>Widescreen</PresentationFormat>
  <Paragraphs>1297</Paragraphs>
  <Slides>44</Slides>
  <Notes>44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Consolas</vt:lpstr>
      <vt:lpstr>Segoe UI</vt:lpstr>
      <vt:lpstr>Azure Firewall v5 · visual C</vt:lpstr>
      <vt:lpstr>Azure Firewall</vt:lpstr>
      <vt:lpstr>Objetivos e agenda</vt:lpstr>
      <vt:lpstr>Segurança de rede no Azure</vt:lpstr>
      <vt:lpstr>Visão geral do Azure Firewall</vt:lpstr>
      <vt:lpstr>Basic, Standard e Premium</vt:lpstr>
      <vt:lpstr>Escala: throughput, fat flow e prescaling</vt:lpstr>
      <vt:lpstr>Mudança de SKU</vt:lpstr>
      <vt:lpstr>Hub-spoke em VNet</vt:lpstr>
      <vt:lpstr>Secured Virtual Hub (Virtual WAN)</vt:lpstr>
      <vt:lpstr>Roteamento até o firewall</vt:lpstr>
      <vt:lpstr>Disponibilidade</vt:lpstr>
      <vt:lpstr>DNS Proxy e FQDN em network rules</vt:lpstr>
      <vt:lpstr>Firewall Policy</vt:lpstr>
      <vt:lpstr>Firewall Manager</vt:lpstr>
      <vt:lpstr>Rule collection group e rule collection</vt:lpstr>
      <vt:lpstr>As regras de processamento</vt:lpstr>
      <vt:lpstr>Tipos diferentes: o tipo decide</vt:lpstr>
      <vt:lpstr>Mesmo tipo, grupos diferentes</vt:lpstr>
      <vt:lpstr>Mesmo grupo: a collection decide</vt:lpstr>
      <vt:lpstr>Exemplo: uma policy, dois RCGs</vt:lpstr>
      <vt:lpstr>Cenário: a VM acessa www.microsoft.com</vt:lpstr>
      <vt:lpstr>Caso A: duas Application rules</vt:lpstr>
      <vt:lpstr>Caso B: Network Allow e Application Deny</vt:lpstr>
      <vt:lpstr>Caso C: Network Deny e Application Allow</vt:lpstr>
      <vt:lpstr>Herança: policy pai e policy filha</vt:lpstr>
      <vt:lpstr>Ordem de processamento com pai e filha</vt:lpstr>
      <vt:lpstr>Exemplo simples de pai e filha</vt:lpstr>
      <vt:lpstr>Pai Allow e filha Deny</vt:lpstr>
      <vt:lpstr>Pai Deny e filha Allow</vt:lpstr>
      <vt:lpstr>Juntando tudo</vt:lpstr>
      <vt:lpstr>IP Groups, service tags e FQDN tags</vt:lpstr>
      <vt:lpstr>Policy Analytics</vt:lpstr>
      <vt:lpstr>Demo: qual regra venceu?</vt:lpstr>
      <vt:lpstr>Threat Intelligence e IDPS</vt:lpstr>
      <vt:lpstr>TLS inspection</vt:lpstr>
      <vt:lpstr>URL filtering, web categories e explicit proxy</vt:lpstr>
      <vt:lpstr>Logs: tabelas resource specific</vt:lpstr>
      <vt:lpstr>Workbook e KQL</vt:lpstr>
      <vt:lpstr>Métricas e alertas</vt:lpstr>
      <vt:lpstr>Troubleshooting</vt:lpstr>
      <vt:lpstr>Limites: policies, regras e IP Groups</vt:lpstr>
      <vt:lpstr>Limites: rede, SNAT e performance</vt:lpstr>
      <vt:lpstr>Laboratório prático</vt:lpstr>
      <vt:lpstr>Boas práticas e fechamento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Firewall · arquitetura, ordem de processamento e operação</dc:title>
  <dc:subject/>
  <dc:creator>Workshop Azure Firewall</dc:creator>
  <cp:lastModifiedBy>Leandro Barbosa</cp:lastModifiedBy>
  <cp:revision>1</cp:revision>
  <dcterms:created xsi:type="dcterms:W3CDTF">2026-10-17T20:33:22Z</dcterms:created>
  <dcterms:modified xsi:type="dcterms:W3CDTF">2026-10-22T16:47:58Z</dcterms:modified>
</cp:coreProperties>
</file>